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an executive briefing, not a technical one. Over the next twenty minutes I'm going to walk you through six capabilities our current architecture cannot deliver — at any price, at any timeline — and a pattern that gives us all six, incrementally, without a rewrite. This deck is drawn from the book 'Event Sourcing and CQRS.' The proposal at the end asks for a single quarter of discovery work and one bounded context in production. Nothing more.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make any architectural argument, I want to ground this in reality. Every one of these questions is a real request we've received from the business in the last twelve months. Compliance wanted a chronological trail for an account. Product wanted retroactive churn under a new definition. Data science wanted behavior, not snapshots. Customer Success wanted the journey, not the current state. We couldn't answer any of them quickly — and for most, we couldn't answer them at all. That isn't a reporting problem or a tooling problem. It's an architectural one. Our systems record current state. The business increasingly needs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idea everything else follows from. Today, our database is the system of record. Every write overwrites the last. We keep the latest row and throw away the sequence of facts that produced it. In an event-sourced architecture, the sequence of facts is the system of record — an append-only, immutable log. Current state becomes a view derived from history, not the history itself. From that one inversion, six capabilities fall out. Let's walk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one: one-hundred-percent audit. Every change traceable to who did it, when, and why — without any extra effort. Because the log is append-only, there's no audit log to maintain separately — the audit trail is the system. Three things this unlocks: regulatory responses in minutes instead of days, customer support answered with the actual sequence of events, and bug investigation that becomes a query rather than a guess. The concrete example is true: when the auditor asked why account X was charged twice on March 14, we answered in five minutes. Not three days of log spelunking.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two: time-travel. Reconstruct the exact state of any account, order, or system at any past moment — deterministically, not approximately. This is different from reporting. This is replaying the event stream to a timestamp and producing the exact state the system held then. Historical reporting becomes tractable. Post-incident reconstruction stops being a fight. And you can compute today's new metric back across years of history you already have. The concrete example: marketing wanted to know how a new pricing tier would have performed a year earlier. We replayed the events with the new logic and had the answer the next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three: AI-ready data, by construction. Machine learning models need behavior over time, not snapshots. An event-sourced system records every customer interaction in sequence — exactly the shape of data forecasting, anomaly, and sequence models consume. Three things this enables: training on real behavior instead of flattened snapshots; retraining any time against the full log; and deterministic backtesting — testing a new model against the exact historical data, with zero drift between training and reality. The concrete example is one most of you will recognize: the data science team built a churn model using two years of event history we already had. With our previous architecture, they would have started from scratch. Collecting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four: many views, one truth. One event log feeds many purpose-built read models. Marketing gets analytical dashboards. Customer success gets operational tooling. Data science gets training data. All from the same source — by construction. No data silos, because every view is derived from the same stream. New views in days, not months, because new dashboards are projections, not migrations. And the leverage compounds — each new use of the data adds value without touching the source. The concrete example is painful and true: finance and product had different revenue numbers for two years. With one event log feeding both dashboards, the discrepancy disappeared. There is only one number now,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five: rewrite avoidance. Continuous evolution, not periodic 'version 2.0' rewrites. This one matters to anyone who's lived through an eighteen-month rewrite. New requirements normally force schema migrations, data backfills, or full rewrites. Event-sourced systems handle change by adding new event types or new projections alongside what already runs. New fields don't require migrations. New integrations don't require risk — they just subscribe to events. And there is no big-bang. Evolution happens in weekly increments. The concrete example: we added a new revenue category mid-year. In the old system, that's a database migration affecting twelve reports. With events, it was a new projection. Shipped in a sprint. No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six: compliance hedge. This one doesn't look sexy but it may be the most valuable. Future regulations will ask for data we did not plan to keep. Future audits will ask questions we did not anticipate. Event sourcing is insurance: the data is already captured, even if we didn't know why we'd need it. Future audits get answered. New regulations don't cause a panic. And in disputes with customers, vendors, or regulators — the full history is on our side. The concrete example is real: a new compliance requirement asked for retroactive reporting on customer consent changes. Three years of consent events were already in the log. Competitors spent months retrofitting. We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slide before the proposal. If I sold you six capabilities with zero caveats, you'd rightly be suspicious. So: here is what this is not. It is not a rewrite. We do not propose throwing away existing systems. Event sourcing is added one bounded context at a time, alongside what already runs. It is not a two-year project — first production deployment is in six months, broader adoption over twelve to eighteen. Each step delivers value on its own; nothing waits for a final step. And it is not for every system. CRUD-by-nature systems should stay CRUD. Prototypes should stay simple. The bottom box names specifically which systems we will not touch. If it isn't on this list, we aren't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We've done the arithmetic. Team ramp-up: twenty-five to thirty engineer-weeks in Q1 only. An external event-sourcing specialist for Q1 through Q2, sixty to eighty thousand dollars. Storage is negligible — three to five hundred dollars a year at our volume. On-call expansion is modest. Total first-year cost is well under one engineer-year of fully-loaded cost. For comparison, the next 'version 2.0' rewrite — the one we all know is coming in eighteen months — would cost five to ten times this. And it would deliver nothing until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in four phases. Months one through three: discovery. Event-storm one bounded context — we suggest billing or audit — and train the engineers. Months four through six: first production. Build the chosen context, ship it, run it alongside existing systems. Months seven through twelve: evaluate and expand. Measure value against cost honestly. Decide to expand or stop. Add a second context if it's working. Month thirteen and beyond: steady adoption, one context per quarter. Old systems shrink naturally. There is no switchover day. And note this — after month six, we evaluate. If the first bounded context didn't deliver value, we stop with one new system and the lessons learned. No commitment to the full migration is being asked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approvals would unblock the discovery quarter. One: approve the discovery quarter — twenty-five to thirty engineer-weeks of focused time on event-storming and design. Two: approve the contractor budget — sixty to eighty thousand dollars for an external event-sourcing specialist embedded through Q1 and Q2. Three: approve the first bounded context — my recommendation is billing or audit. Both deliver compliance value in month six even if we stop there. We need a decision by the date shown. Next step is a thirty-minute follow-up to assign the discovery team. Thank you. I'll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p:bgPr>
    </p:bg>
    <p:spTree>
      <p:nvGrpSpPr>
        <p:cNvPr id="1" name=""/>
        <p:cNvGrpSpPr/>
        <p:nvPr/>
      </p:nvGrpSpPr>
      <p:grpSpPr>
        <a:xfrm>
          <a:off x="0" y="0"/>
          <a:ext cx="0" cy="0"/>
          <a:chOff x="0" y="0"/>
          <a:chExt cx="0" cy="0"/>
        </a:xfrm>
      </p:grpSpPr>
      <p:sp>
        <p:nvSpPr>
          <p:cNvPr id="2" name="Shape 0"/>
          <p:cNvSpPr/>
          <p:nvPr/>
        </p:nvSpPr>
        <p:spPr>
          <a:xfrm>
            <a:off x="0" y="0"/>
            <a:ext cx="4000500" cy="10287000"/>
          </a:xfrm>
          <a:prstGeom prst="rect">
            <a:avLst/>
          </a:prstGeom>
          <a:solidFill>
            <a:srgbClr val="262626"/>
          </a:solidFill>
          <a:ln/>
        </p:spPr>
      </p:sp>
      <p:sp>
        <p:nvSpPr>
          <p:cNvPr id="3" name="Shape 1"/>
          <p:cNvSpPr/>
          <p:nvPr/>
        </p:nvSpPr>
        <p:spPr>
          <a:xfrm>
            <a:off x="3989615" y="0"/>
            <a:ext cx="10886" cy="10287000"/>
          </a:xfrm>
          <a:prstGeom prst="rect">
            <a:avLst/>
          </a:prstGeom>
          <a:solidFill>
            <a:srgbClr val="2A2A2A"/>
          </a:solidFill>
          <a:ln/>
        </p:spPr>
      </p:sp>
      <p:sp>
        <p:nvSpPr>
          <p:cNvPr id="4" name="Text 2"/>
          <p:cNvSpPr/>
          <p:nvPr/>
        </p:nvSpPr>
        <p:spPr>
          <a:xfrm>
            <a:off x="609600" y="914400"/>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8D8D8D"/>
                </a:solidFill>
                <a:latin typeface="Arial" pitchFamily="34" charset="0"/>
                <a:ea typeface="Arial" pitchFamily="34" charset="-122"/>
                <a:cs typeface="Arial" pitchFamily="34" charset="-120"/>
              </a:rPr>
              <a:t>DOCUMENT</a:t>
            </a:r>
            <a:endParaRPr lang="en-US" sz="975" dirty="0"/>
          </a:p>
        </p:txBody>
      </p:sp>
      <p:sp>
        <p:nvSpPr>
          <p:cNvPr id="5" name="Text 3"/>
          <p:cNvSpPr/>
          <p:nvPr/>
        </p:nvSpPr>
        <p:spPr>
          <a:xfrm>
            <a:off x="609600" y="1153886"/>
            <a:ext cx="2853527" cy="255814"/>
          </a:xfrm>
          <a:prstGeom prst="rect">
            <a:avLst/>
          </a:prstGeom>
          <a:noFill/>
          <a:ln/>
        </p:spPr>
        <p:txBody>
          <a:bodyPr wrap="square" lIns="25400" tIns="25400" rIns="25400" bIns="25400" rtlCol="0" anchor="t">
            <a:normAutofit/>
          </a:bodyPr>
          <a:lstStyle/>
          <a:p>
            <a:pPr algn="l" indent="0" marL="0">
              <a:buNone/>
            </a:pPr>
            <a:r>
              <a:rPr lang="en-US" sz="1350" dirty="0">
                <a:solidFill>
                  <a:srgbClr val="F4F4F4"/>
                </a:solidFill>
                <a:latin typeface="Arial" pitchFamily="34" charset="0"/>
                <a:ea typeface="Arial" pitchFamily="34" charset="-122"/>
                <a:cs typeface="Arial" pitchFamily="34" charset="-120"/>
              </a:rPr>
              <a:t>Executive Briefing</a:t>
            </a:r>
            <a:endParaRPr lang="en-US" sz="1350" dirty="0"/>
          </a:p>
        </p:txBody>
      </p:sp>
      <p:sp>
        <p:nvSpPr>
          <p:cNvPr id="6" name="Text 4"/>
          <p:cNvSpPr/>
          <p:nvPr/>
        </p:nvSpPr>
        <p:spPr>
          <a:xfrm>
            <a:off x="609600" y="1828800"/>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8D8D8D"/>
                </a:solidFill>
                <a:latin typeface="Arial" pitchFamily="34" charset="0"/>
                <a:ea typeface="Arial" pitchFamily="34" charset="-122"/>
                <a:cs typeface="Arial" pitchFamily="34" charset="-120"/>
              </a:rPr>
              <a:t>SOURCE</a:t>
            </a:r>
            <a:endParaRPr lang="en-US" sz="975" dirty="0"/>
          </a:p>
        </p:txBody>
      </p:sp>
      <p:sp>
        <p:nvSpPr>
          <p:cNvPr id="7" name="Text 5"/>
          <p:cNvSpPr/>
          <p:nvPr/>
        </p:nvSpPr>
        <p:spPr>
          <a:xfrm>
            <a:off x="609600" y="2068286"/>
            <a:ext cx="2853527" cy="473529"/>
          </a:xfrm>
          <a:prstGeom prst="rect">
            <a:avLst/>
          </a:prstGeom>
          <a:noFill/>
          <a:ln/>
        </p:spPr>
        <p:txBody>
          <a:bodyPr wrap="square" lIns="25400" tIns="25400" rIns="25400" bIns="25400" rtlCol="0" anchor="t">
            <a:normAutofit/>
          </a:bodyPr>
          <a:lstStyle/>
          <a:p>
            <a:pPr algn="l" indent="0" marL="0">
              <a:buNone/>
            </a:pPr>
            <a:r>
              <a:rPr lang="en-US" sz="1350" dirty="0">
                <a:solidFill>
                  <a:srgbClr val="F4F4F4"/>
                </a:solidFill>
                <a:latin typeface="Arial" pitchFamily="34" charset="0"/>
                <a:ea typeface="Arial" pitchFamily="34" charset="-122"/>
                <a:cs typeface="Arial" pitchFamily="34" charset="-120"/>
              </a:rPr>
              <a:t>Event Sourcing &amp; CQRS </a:t>
            </a:r>
            <a:pPr algn="l" indent="0" marL="0">
              <a:buNone/>
            </a:pPr>
            <a:r>
              <a:rPr lang="en-US" sz="1050" dirty="0">
                <a:solidFill>
                  <a:srgbClr val="8D8D8D"/>
                </a:solidFill>
                <a:latin typeface="Arial" pitchFamily="34" charset="0"/>
                <a:ea typeface="Arial" pitchFamily="34" charset="-122"/>
                <a:cs typeface="Arial" pitchFamily="34" charset="-120"/>
              </a:rPr>
              <a:t>Companion deck to the book</a:t>
            </a:r>
            <a:endParaRPr lang="en-US" sz="1350" dirty="0"/>
          </a:p>
        </p:txBody>
      </p:sp>
      <p:sp>
        <p:nvSpPr>
          <p:cNvPr id="8" name="Text 6"/>
          <p:cNvSpPr/>
          <p:nvPr/>
        </p:nvSpPr>
        <p:spPr>
          <a:xfrm>
            <a:off x="609600" y="2960914"/>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8D8D8D"/>
                </a:solidFill>
                <a:latin typeface="Arial" pitchFamily="34" charset="0"/>
                <a:ea typeface="Arial" pitchFamily="34" charset="-122"/>
                <a:cs typeface="Arial" pitchFamily="34" charset="-120"/>
              </a:rPr>
              <a:t>DURATION</a:t>
            </a:r>
            <a:endParaRPr lang="en-US" sz="975" dirty="0"/>
          </a:p>
        </p:txBody>
      </p:sp>
      <p:sp>
        <p:nvSpPr>
          <p:cNvPr id="9" name="Text 7"/>
          <p:cNvSpPr/>
          <p:nvPr/>
        </p:nvSpPr>
        <p:spPr>
          <a:xfrm>
            <a:off x="609600" y="3200400"/>
            <a:ext cx="2853527" cy="255814"/>
          </a:xfrm>
          <a:prstGeom prst="rect">
            <a:avLst/>
          </a:prstGeom>
          <a:noFill/>
          <a:ln/>
        </p:spPr>
        <p:txBody>
          <a:bodyPr wrap="square" lIns="25400" tIns="25400" rIns="25400" bIns="25400" rtlCol="0" anchor="t">
            <a:normAutofit/>
          </a:bodyPr>
          <a:lstStyle/>
          <a:p>
            <a:pPr algn="l" indent="0" marL="0">
              <a:buNone/>
            </a:pPr>
            <a:r>
              <a:rPr lang="en-US" sz="1350" dirty="0">
                <a:solidFill>
                  <a:srgbClr val="F4F4F4"/>
                </a:solidFill>
                <a:latin typeface="Arial" pitchFamily="34" charset="0"/>
                <a:ea typeface="Arial" pitchFamily="34" charset="-122"/>
                <a:cs typeface="Arial" pitchFamily="34" charset="-120"/>
              </a:rPr>
              <a:t>20 minutes · 13 slides</a:t>
            </a:r>
            <a:endParaRPr lang="en-US" sz="1350" dirty="0"/>
          </a:p>
        </p:txBody>
      </p:sp>
      <p:sp>
        <p:nvSpPr>
          <p:cNvPr id="10" name="Text 8"/>
          <p:cNvSpPr/>
          <p:nvPr/>
        </p:nvSpPr>
        <p:spPr>
          <a:xfrm>
            <a:off x="609600" y="3875314"/>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8D8D8D"/>
                </a:solidFill>
                <a:latin typeface="Arial" pitchFamily="34" charset="0"/>
                <a:ea typeface="Arial" pitchFamily="34" charset="-122"/>
                <a:cs typeface="Arial" pitchFamily="34" charset="-120"/>
              </a:rPr>
              <a:t>AUDIENCE</a:t>
            </a:r>
            <a:endParaRPr lang="en-US" sz="975" dirty="0"/>
          </a:p>
        </p:txBody>
      </p:sp>
      <p:sp>
        <p:nvSpPr>
          <p:cNvPr id="11" name="Text 9"/>
          <p:cNvSpPr/>
          <p:nvPr/>
        </p:nvSpPr>
        <p:spPr>
          <a:xfrm>
            <a:off x="609600" y="4114800"/>
            <a:ext cx="2853527" cy="473529"/>
          </a:xfrm>
          <a:prstGeom prst="rect">
            <a:avLst/>
          </a:prstGeom>
          <a:noFill/>
          <a:ln/>
        </p:spPr>
        <p:txBody>
          <a:bodyPr wrap="square" lIns="25400" tIns="25400" rIns="25400" bIns="25400" rtlCol="0" anchor="t">
            <a:normAutofit/>
          </a:bodyPr>
          <a:lstStyle/>
          <a:p>
            <a:pPr algn="l" indent="0" marL="0">
              <a:buNone/>
            </a:pPr>
            <a:r>
              <a:rPr lang="en-US" sz="1350" dirty="0">
                <a:solidFill>
                  <a:srgbClr val="F4F4F4"/>
                </a:solidFill>
                <a:latin typeface="Arial" pitchFamily="34" charset="0"/>
                <a:ea typeface="Arial" pitchFamily="34" charset="-122"/>
                <a:cs typeface="Arial" pitchFamily="34" charset="-120"/>
              </a:rPr>
              <a:t>Senior technology &amp; business leadership</a:t>
            </a:r>
            <a:endParaRPr lang="en-US" sz="1350" dirty="0"/>
          </a:p>
        </p:txBody>
      </p:sp>
      <p:sp>
        <p:nvSpPr>
          <p:cNvPr id="12" name="Text 10"/>
          <p:cNvSpPr/>
          <p:nvPr/>
        </p:nvSpPr>
        <p:spPr>
          <a:xfrm>
            <a:off x="609600" y="8969829"/>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8D8D8D"/>
                </a:solidFill>
                <a:latin typeface="Arial" pitchFamily="34" charset="0"/>
                <a:ea typeface="Arial" pitchFamily="34" charset="-122"/>
                <a:cs typeface="Arial" pitchFamily="34" charset="-120"/>
              </a:rPr>
              <a:t>CLASSIFICATION</a:t>
            </a:r>
            <a:endParaRPr lang="en-US" sz="975" dirty="0"/>
          </a:p>
        </p:txBody>
      </p:sp>
      <p:sp>
        <p:nvSpPr>
          <p:cNvPr id="13" name="Text 11"/>
          <p:cNvSpPr/>
          <p:nvPr/>
        </p:nvSpPr>
        <p:spPr>
          <a:xfrm>
            <a:off x="609600" y="9209315"/>
            <a:ext cx="285352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C6C6C6"/>
                </a:solidFill>
                <a:latin typeface="Arial" pitchFamily="34" charset="0"/>
                <a:ea typeface="Arial" pitchFamily="34" charset="-122"/>
                <a:cs typeface="Arial" pitchFamily="34" charset="-120"/>
              </a:rPr>
              <a:t>MIT LICENSED · ADAPT FREELY</a:t>
            </a:r>
            <a:endParaRPr lang="en-US" sz="975" dirty="0"/>
          </a:p>
        </p:txBody>
      </p:sp>
      <p:sp>
        <p:nvSpPr>
          <p:cNvPr id="14" name="Shape 12"/>
          <p:cNvSpPr/>
          <p:nvPr/>
        </p:nvSpPr>
        <p:spPr>
          <a:xfrm>
            <a:off x="4914900" y="1144361"/>
            <a:ext cx="533400" cy="19050"/>
          </a:xfrm>
          <a:prstGeom prst="rect">
            <a:avLst/>
          </a:prstGeom>
          <a:solidFill>
            <a:srgbClr val="0F62FE"/>
          </a:solidFill>
          <a:ln/>
        </p:spPr>
      </p:sp>
      <p:sp>
        <p:nvSpPr>
          <p:cNvPr id="15" name="Text 13"/>
          <p:cNvSpPr/>
          <p:nvPr/>
        </p:nvSpPr>
        <p:spPr>
          <a:xfrm>
            <a:off x="5676900" y="1066800"/>
            <a:ext cx="2775391" cy="212271"/>
          </a:xfrm>
          <a:prstGeom prst="rect">
            <a:avLst/>
          </a:prstGeom>
          <a:noFill/>
          <a:ln/>
        </p:spPr>
        <p:txBody>
          <a:bodyPr wrap="square" lIns="25400" tIns="25400" rIns="25400" bIns="25400" rtlCol="0" anchor="t">
            <a:normAutofit/>
          </a:bodyPr>
          <a:lstStyle/>
          <a:p>
            <a:pPr algn="l" indent="0" marL="0">
              <a:buNone/>
            </a:pPr>
            <a:r>
              <a:rPr lang="en-US" sz="1050" spc="24" kern="0" dirty="0">
                <a:solidFill>
                  <a:srgbClr val="78A9FF"/>
                </a:solidFill>
                <a:latin typeface="Arial" pitchFamily="34" charset="0"/>
                <a:ea typeface="Arial" pitchFamily="34" charset="-122"/>
                <a:cs typeface="Arial" pitchFamily="34" charset="-120"/>
              </a:rPr>
              <a:t>A PROPOSAL FOR THE LEADERSHIP TEAM</a:t>
            </a:r>
            <a:endParaRPr lang="en-US" sz="1050" dirty="0"/>
          </a:p>
        </p:txBody>
      </p:sp>
      <p:sp>
        <p:nvSpPr>
          <p:cNvPr id="16" name="Text 14"/>
          <p:cNvSpPr/>
          <p:nvPr/>
        </p:nvSpPr>
        <p:spPr>
          <a:xfrm>
            <a:off x="4914900" y="2002971"/>
            <a:ext cx="12832461" cy="4234543"/>
          </a:xfrm>
          <a:prstGeom prst="rect">
            <a:avLst/>
          </a:prstGeom>
          <a:noFill/>
          <a:ln/>
        </p:spPr>
        <p:txBody>
          <a:bodyPr wrap="square" lIns="25400" tIns="25400" rIns="25400" bIns="25400" rtlCol="0" anchor="t">
            <a:normAutofit/>
          </a:bodyPr>
          <a:lstStyle/>
          <a:p>
            <a:pPr algn="l" indent="0" marL="0">
              <a:lnSpc>
                <a:spcPct val="102000"/>
              </a:lnSpc>
              <a:buNone/>
            </a:pPr>
            <a:r>
              <a:rPr lang="en-US" sz="8100" spc="-112" kern="0" dirty="0">
                <a:solidFill>
                  <a:srgbClr val="F4F4F4"/>
                </a:solidFill>
                <a:latin typeface="Arial" pitchFamily="34" charset="0"/>
                <a:ea typeface="Arial" pitchFamily="34" charset="-122"/>
                <a:cs typeface="Arial" pitchFamily="34" charset="-120"/>
              </a:rPr>
              <a:t>Six Capabilities Our Current Architecture </a:t>
            </a:r>
            <a:pPr algn="l" indent="0" marL="0">
              <a:lnSpc>
                <a:spcPct val="102000"/>
              </a:lnSpc>
              <a:buNone/>
            </a:pPr>
            <a:r>
              <a:rPr lang="en-US" sz="8100" spc="-112" kern="0" dirty="0">
                <a:solidFill>
                  <a:srgbClr val="0F62FE"/>
                </a:solidFill>
                <a:latin typeface="Arial" pitchFamily="34" charset="0"/>
                <a:ea typeface="Arial" pitchFamily="34" charset="-122"/>
                <a:cs typeface="Arial" pitchFamily="34" charset="-120"/>
              </a:rPr>
              <a:t>Cannot Deliver.</a:t>
            </a:r>
            <a:endParaRPr lang="en-US" sz="8100" dirty="0"/>
          </a:p>
        </p:txBody>
      </p:sp>
      <p:sp>
        <p:nvSpPr>
          <p:cNvPr id="17" name="Text 15"/>
          <p:cNvSpPr/>
          <p:nvPr/>
        </p:nvSpPr>
        <p:spPr>
          <a:xfrm>
            <a:off x="4914900" y="6732815"/>
            <a:ext cx="8829676" cy="860992"/>
          </a:xfrm>
          <a:prstGeom prst="rect">
            <a:avLst/>
          </a:prstGeom>
          <a:noFill/>
          <a:ln/>
        </p:spPr>
        <p:txBody>
          <a:bodyPr wrap="square" lIns="25400" tIns="25400" rIns="25400" bIns="25400" rtlCol="0" anchor="t">
            <a:normAutofit/>
          </a:bodyPr>
          <a:lstStyle/>
          <a:p>
            <a:pPr algn="l" indent="0" marL="0">
              <a:lnSpc>
                <a:spcPct val="135000"/>
              </a:lnSpc>
              <a:buNone/>
            </a:pPr>
            <a:r>
              <a:rPr lang="en-US" sz="2400" i="1" dirty="0">
                <a:solidFill>
                  <a:srgbClr val="C6C6C6"/>
                </a:solidFill>
                <a:latin typeface="Arial" pitchFamily="34" charset="0"/>
                <a:ea typeface="Arial" pitchFamily="34" charset="-122"/>
                <a:cs typeface="Arial" pitchFamily="34" charset="-120"/>
              </a:rPr>
              <a:t>An honest case for moving to event-sourced architecture, grounded in concrete business outcomes.</a:t>
            </a:r>
            <a:endParaRPr lang="en-US" sz="2400" dirty="0"/>
          </a:p>
        </p:txBody>
      </p:sp>
      <p:sp>
        <p:nvSpPr>
          <p:cNvPr id="18" name="Text 16"/>
          <p:cNvSpPr/>
          <p:nvPr/>
        </p:nvSpPr>
        <p:spPr>
          <a:xfrm>
            <a:off x="4914900" y="8977993"/>
            <a:ext cx="231865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PRESENTED BY</a:t>
            </a:r>
            <a:endParaRPr lang="en-US" sz="975" dirty="0"/>
          </a:p>
        </p:txBody>
      </p:sp>
      <p:sp>
        <p:nvSpPr>
          <p:cNvPr id="19" name="Text 17"/>
          <p:cNvSpPr/>
          <p:nvPr/>
        </p:nvSpPr>
        <p:spPr>
          <a:xfrm>
            <a:off x="4914900" y="9198429"/>
            <a:ext cx="2318657" cy="212271"/>
          </a:xfrm>
          <a:prstGeom prst="rect">
            <a:avLst/>
          </a:prstGeom>
          <a:noFill/>
          <a:ln/>
        </p:spPr>
        <p:txBody>
          <a:bodyPr wrap="square" lIns="25400" tIns="25400" rIns="25400" bIns="25400" rtlCol="0" anchor="t">
            <a:normAutofit/>
          </a:bodyPr>
          <a:lstStyle/>
          <a:p>
            <a:pPr algn="l" indent="0" marL="0">
              <a:buNone/>
            </a:pPr>
            <a:r>
              <a:rPr lang="en-US" sz="1050" dirty="0">
                <a:solidFill>
                  <a:srgbClr val="F4F4F4"/>
                </a:solidFill>
                <a:latin typeface="Arial" pitchFamily="34" charset="0"/>
                <a:ea typeface="Arial" pitchFamily="34" charset="-122"/>
                <a:cs typeface="Arial" pitchFamily="34" charset="-120"/>
              </a:rPr>
              <a:t>Thomas Jaeger, Legacy to Modern LLC</a:t>
            </a:r>
            <a:endParaRPr lang="en-US" sz="1050" dirty="0"/>
          </a:p>
        </p:txBody>
      </p:sp>
      <p:sp>
        <p:nvSpPr>
          <p:cNvPr id="20" name="Text 18"/>
          <p:cNvSpPr/>
          <p:nvPr/>
        </p:nvSpPr>
        <p:spPr>
          <a:xfrm>
            <a:off x="11073494" y="8977993"/>
            <a:ext cx="185057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ADAPT FOR</a:t>
            </a:r>
            <a:endParaRPr lang="en-US" sz="975" dirty="0"/>
          </a:p>
        </p:txBody>
      </p:sp>
      <p:sp>
        <p:nvSpPr>
          <p:cNvPr id="21" name="Text 19"/>
          <p:cNvSpPr/>
          <p:nvPr/>
        </p:nvSpPr>
        <p:spPr>
          <a:xfrm>
            <a:off x="11073494" y="9198429"/>
            <a:ext cx="1850571" cy="212271"/>
          </a:xfrm>
          <a:prstGeom prst="rect">
            <a:avLst/>
          </a:prstGeom>
          <a:noFill/>
          <a:ln/>
        </p:spPr>
        <p:txBody>
          <a:bodyPr wrap="square" lIns="25400" tIns="25400" rIns="25400" bIns="25400" rtlCol="0" anchor="t">
            <a:normAutofit/>
          </a:bodyPr>
          <a:lstStyle/>
          <a:p>
            <a:pPr algn="l" indent="0" marL="0">
              <a:buNone/>
            </a:pPr>
            <a:r>
              <a:rPr lang="en-US" sz="1050" dirty="0">
                <a:solidFill>
                  <a:srgbClr val="F4F4F4"/>
                </a:solidFill>
                <a:latin typeface="Arial" pitchFamily="34" charset="0"/>
                <a:ea typeface="Arial" pitchFamily="34" charset="-122"/>
                <a:cs typeface="Arial" pitchFamily="34" charset="-120"/>
              </a:rPr>
              <a:t>Your own leadership team</a:t>
            </a:r>
            <a:endParaRPr lang="en-US" sz="1050" dirty="0"/>
          </a:p>
        </p:txBody>
      </p:sp>
      <p:sp>
        <p:nvSpPr>
          <p:cNvPr id="22" name="Text 20"/>
          <p:cNvSpPr/>
          <p:nvPr/>
        </p:nvSpPr>
        <p:spPr>
          <a:xfrm>
            <a:off x="16687801" y="8977993"/>
            <a:ext cx="685800" cy="201386"/>
          </a:xfrm>
          <a:prstGeom prst="rect">
            <a:avLst/>
          </a:prstGeom>
          <a:noFill/>
          <a:ln/>
        </p:spPr>
        <p:txBody>
          <a:bodyPr wrap="square" lIns="25400" tIns="25400" rIns="25400" bIns="25400" rtlCol="0" anchor="t">
            <a:normAutofit/>
          </a:bodyPr>
          <a:lstStyle/>
          <a:p>
            <a:pPr algn="r" indent="0" marL="0">
              <a:buNone/>
            </a:pPr>
            <a:r>
              <a:rPr lang="en-US" sz="975" spc="24" kern="0" dirty="0">
                <a:solidFill>
                  <a:srgbClr val="6F6F6F"/>
                </a:solidFill>
                <a:latin typeface="Arial" pitchFamily="34" charset="0"/>
                <a:ea typeface="Arial" pitchFamily="34" charset="-122"/>
                <a:cs typeface="Arial" pitchFamily="34" charset="-120"/>
              </a:rPr>
              <a:t>EDITION</a:t>
            </a:r>
            <a:endParaRPr lang="en-US" sz="975" dirty="0"/>
          </a:p>
        </p:txBody>
      </p:sp>
      <p:sp>
        <p:nvSpPr>
          <p:cNvPr id="23" name="Text 21"/>
          <p:cNvSpPr/>
          <p:nvPr/>
        </p:nvSpPr>
        <p:spPr>
          <a:xfrm>
            <a:off x="16687801" y="9198429"/>
            <a:ext cx="685800" cy="212271"/>
          </a:xfrm>
          <a:prstGeom prst="rect">
            <a:avLst/>
          </a:prstGeom>
          <a:noFill/>
          <a:ln/>
        </p:spPr>
        <p:txBody>
          <a:bodyPr wrap="square" lIns="25400" tIns="25400" rIns="25400" bIns="25400" rtlCol="0" anchor="t">
            <a:normAutofit/>
          </a:bodyPr>
          <a:lstStyle/>
          <a:p>
            <a:pPr algn="r" indent="0" marL="0">
              <a:buNone/>
            </a:pPr>
            <a:r>
              <a:rPr lang="en-US" sz="1050" dirty="0">
                <a:solidFill>
                  <a:srgbClr val="F4F4F4"/>
                </a:solidFill>
                <a:latin typeface="Arial" pitchFamily="34" charset="0"/>
                <a:ea typeface="Arial" pitchFamily="34" charset="-122"/>
                <a:cs typeface="Arial" pitchFamily="34" charset="-120"/>
              </a:rPr>
              <a:t>First edition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01 · THE PROBLEM</a:t>
            </a:r>
            <a:endParaRPr lang="en-US" sz="975" dirty="0"/>
          </a:p>
        </p:txBody>
      </p:sp>
      <p:sp>
        <p:nvSpPr>
          <p:cNvPr id="4" name="Text 2"/>
          <p:cNvSpPr/>
          <p:nvPr/>
        </p:nvSpPr>
        <p:spPr>
          <a:xfrm>
            <a:off x="914400" y="1230086"/>
            <a:ext cx="16952977" cy="696346"/>
          </a:xfrm>
          <a:prstGeom prst="rect">
            <a:avLst/>
          </a:prstGeom>
          <a:noFill/>
          <a:ln/>
        </p:spPr>
        <p:txBody>
          <a:bodyPr wrap="square" lIns="25400" tIns="25400" rIns="25400" bIns="25400" rtlCol="0" anchor="t">
            <a:normAutofit/>
          </a:bodyPr>
          <a:lstStyle/>
          <a:p>
            <a:pPr algn="l" indent="0" marL="0">
              <a:lnSpc>
                <a:spcPct val="108000"/>
              </a:lnSpc>
              <a:buNone/>
            </a:pPr>
            <a:r>
              <a:rPr lang="en-US" sz="4800" spc="-60" kern="0" dirty="0">
                <a:solidFill>
                  <a:srgbClr val="161616"/>
                </a:solidFill>
                <a:latin typeface="Arial" pitchFamily="34" charset="0"/>
                <a:ea typeface="Arial" pitchFamily="34" charset="-122"/>
                <a:cs typeface="Arial" pitchFamily="34" charset="-120"/>
              </a:rPr>
              <a:t>Questions our systems cannot answer today.</a:t>
            </a:r>
            <a:endParaRPr lang="en-US" sz="4800" dirty="0"/>
          </a:p>
        </p:txBody>
      </p:sp>
      <p:sp>
        <p:nvSpPr>
          <p:cNvPr id="5" name="Text 3"/>
          <p:cNvSpPr/>
          <p:nvPr/>
        </p:nvSpPr>
        <p:spPr>
          <a:xfrm>
            <a:off x="914400" y="2040731"/>
            <a:ext cx="16952977" cy="320958"/>
          </a:xfrm>
          <a:prstGeom prst="rect">
            <a:avLst/>
          </a:prstGeom>
          <a:noFill/>
          <a:ln/>
        </p:spPr>
        <p:txBody>
          <a:bodyPr wrap="square" lIns="25400" tIns="25400" rIns="25400" bIns="25400" rtlCol="0" anchor="t">
            <a:normAutofit/>
          </a:bodyPr>
          <a:lstStyle/>
          <a:p>
            <a:pPr algn="l" indent="0" marL="0">
              <a:lnSpc>
                <a:spcPct val="135000"/>
              </a:lnSpc>
              <a:buNone/>
            </a:pPr>
            <a:r>
              <a:rPr lang="en-US" sz="1650" i="1" dirty="0">
                <a:solidFill>
                  <a:srgbClr val="6F6F6F"/>
                </a:solidFill>
                <a:latin typeface="Arial" pitchFamily="34" charset="0"/>
                <a:ea typeface="Arial" pitchFamily="34" charset="-122"/>
                <a:cs typeface="Arial" pitchFamily="34" charset="-120"/>
              </a:rPr>
              <a:t>Four questions every organization eventually asks. Replace them with the ones yours has actually asked.</a:t>
            </a:r>
            <a:endParaRPr lang="en-US" sz="1650" dirty="0"/>
          </a:p>
        </p:txBody>
      </p:sp>
      <p:sp>
        <p:nvSpPr>
          <p:cNvPr id="6" name="Shape 4"/>
          <p:cNvSpPr/>
          <p:nvPr/>
        </p:nvSpPr>
        <p:spPr>
          <a:xfrm>
            <a:off x="914400" y="2666490"/>
            <a:ext cx="8115301" cy="2656284"/>
          </a:xfrm>
          <a:prstGeom prst="rect">
            <a:avLst/>
          </a:prstGeom>
          <a:solidFill>
            <a:srgbClr val="FFFFFF"/>
          </a:solidFill>
          <a:ln/>
        </p:spPr>
      </p:sp>
      <p:sp>
        <p:nvSpPr>
          <p:cNvPr id="7" name="Shape 5"/>
          <p:cNvSpPr/>
          <p:nvPr/>
        </p:nvSpPr>
        <p:spPr>
          <a:xfrm>
            <a:off x="914400" y="5311888"/>
            <a:ext cx="8115301" cy="10886"/>
          </a:xfrm>
          <a:prstGeom prst="rect">
            <a:avLst/>
          </a:prstGeom>
          <a:solidFill>
            <a:srgbClr val="E0E0E0"/>
          </a:solidFill>
          <a:ln/>
        </p:spPr>
      </p:sp>
      <p:sp>
        <p:nvSpPr>
          <p:cNvPr id="8" name="Shape 6"/>
          <p:cNvSpPr/>
          <p:nvPr/>
        </p:nvSpPr>
        <p:spPr>
          <a:xfrm>
            <a:off x="914400" y="2666490"/>
            <a:ext cx="8115301" cy="10886"/>
          </a:xfrm>
          <a:prstGeom prst="rect">
            <a:avLst/>
          </a:prstGeom>
          <a:solidFill>
            <a:srgbClr val="E0E0E0"/>
          </a:solidFill>
          <a:ln/>
        </p:spPr>
      </p:sp>
      <p:sp>
        <p:nvSpPr>
          <p:cNvPr id="9" name="Shape 7"/>
          <p:cNvSpPr/>
          <p:nvPr/>
        </p:nvSpPr>
        <p:spPr>
          <a:xfrm>
            <a:off x="914400" y="2666490"/>
            <a:ext cx="21771" cy="2656284"/>
          </a:xfrm>
          <a:prstGeom prst="rect">
            <a:avLst/>
          </a:prstGeom>
          <a:solidFill>
            <a:srgbClr val="0F62FE"/>
          </a:solidFill>
          <a:ln/>
        </p:spPr>
      </p:sp>
      <p:sp>
        <p:nvSpPr>
          <p:cNvPr id="10" name="Shape 8"/>
          <p:cNvSpPr/>
          <p:nvPr/>
        </p:nvSpPr>
        <p:spPr>
          <a:xfrm>
            <a:off x="9018815" y="2666490"/>
            <a:ext cx="10886" cy="2656284"/>
          </a:xfrm>
          <a:prstGeom prst="rect">
            <a:avLst/>
          </a:prstGeom>
          <a:solidFill>
            <a:srgbClr val="E0E0E0"/>
          </a:solidFill>
          <a:ln/>
        </p:spPr>
      </p:sp>
      <p:sp>
        <p:nvSpPr>
          <p:cNvPr id="11" name="Text 9"/>
          <p:cNvSpPr/>
          <p:nvPr/>
        </p:nvSpPr>
        <p:spPr>
          <a:xfrm>
            <a:off x="1393371" y="3058376"/>
            <a:ext cx="73832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FROM COMPLIANCE</a:t>
            </a:r>
            <a:endParaRPr lang="en-US" sz="975" dirty="0"/>
          </a:p>
        </p:txBody>
      </p:sp>
      <p:sp>
        <p:nvSpPr>
          <p:cNvPr id="12" name="Text 10"/>
          <p:cNvSpPr/>
          <p:nvPr/>
        </p:nvSpPr>
        <p:spPr>
          <a:xfrm>
            <a:off x="1393371" y="3450261"/>
            <a:ext cx="7383291"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spc="-15" kern="0" dirty="0">
                <a:solidFill>
                  <a:srgbClr val="161616"/>
                </a:solidFill>
                <a:latin typeface="Arial" pitchFamily="34" charset="0"/>
                <a:ea typeface="Arial" pitchFamily="34" charset="-122"/>
                <a:cs typeface="Arial" pitchFamily="34" charset="-120"/>
              </a:rPr>
              <a:t>"Show me everything that happened to this customer's account on March 14, in chronological order."</a:t>
            </a:r>
            <a:endParaRPr lang="en-US" sz="2250" dirty="0"/>
          </a:p>
        </p:txBody>
      </p:sp>
      <p:sp>
        <p:nvSpPr>
          <p:cNvPr id="13" name="Shape 11"/>
          <p:cNvSpPr/>
          <p:nvPr/>
        </p:nvSpPr>
        <p:spPr>
          <a:xfrm>
            <a:off x="1393371" y="4533560"/>
            <a:ext cx="7168243" cy="10886"/>
          </a:xfrm>
          <a:prstGeom prst="rect">
            <a:avLst/>
          </a:prstGeom>
          <a:solidFill>
            <a:srgbClr val="E0E0E0"/>
          </a:solidFill>
          <a:ln/>
        </p:spPr>
      </p:sp>
      <p:sp>
        <p:nvSpPr>
          <p:cNvPr id="14" name="Text 12"/>
          <p:cNvSpPr/>
          <p:nvPr/>
        </p:nvSpPr>
        <p:spPr>
          <a:xfrm>
            <a:off x="1393371" y="4734946"/>
            <a:ext cx="7383291" cy="234043"/>
          </a:xfrm>
          <a:prstGeom prst="rect">
            <a:avLst/>
          </a:prstGeom>
          <a:noFill/>
          <a:ln/>
        </p:spPr>
        <p:txBody>
          <a:bodyPr wrap="square" lIns="25400" tIns="25400" rIns="25400" bIns="25400" rtlCol="0" anchor="t">
            <a:normAutofit/>
          </a:bodyPr>
          <a:lstStyle/>
          <a:p>
            <a:pPr algn="l" indent="0" marL="0">
              <a:buNone/>
            </a:pPr>
            <a:r>
              <a:rPr lang="en-US" sz="1200" b="1" i="1" dirty="0">
                <a:solidFill>
                  <a:srgbClr val="6F6F6F"/>
                </a:solidFill>
                <a:latin typeface="Arial" pitchFamily="34" charset="0"/>
                <a:ea typeface="Arial" pitchFamily="34" charset="-122"/>
                <a:cs typeface="Arial" pitchFamily="34" charset="-120"/>
              </a:rPr>
              <a:t>Today's answer: </a:t>
            </a:r>
            <a:pPr algn="l" indent="0" marL="0">
              <a:buNone/>
            </a:pPr>
            <a:r>
              <a:rPr lang="en-US" sz="1200" i="1" dirty="0">
                <a:solidFill>
                  <a:srgbClr val="6F6F6F"/>
                </a:solidFill>
                <a:latin typeface="Arial" pitchFamily="34" charset="0"/>
                <a:ea typeface="Arial" pitchFamily="34" charset="-122"/>
                <a:cs typeface="Arial" pitchFamily="34" charset="-120"/>
              </a:rPr>
              <a:t>a multi-day investigation across logs and databases.</a:t>
            </a:r>
            <a:endParaRPr lang="en-US" sz="1200" dirty="0"/>
          </a:p>
        </p:txBody>
      </p:sp>
      <p:sp>
        <p:nvSpPr>
          <p:cNvPr id="15" name="Shape 13"/>
          <p:cNvSpPr/>
          <p:nvPr/>
        </p:nvSpPr>
        <p:spPr>
          <a:xfrm>
            <a:off x="9258301" y="2666490"/>
            <a:ext cx="8115301" cy="2656284"/>
          </a:xfrm>
          <a:prstGeom prst="rect">
            <a:avLst/>
          </a:prstGeom>
          <a:solidFill>
            <a:srgbClr val="FFFFFF"/>
          </a:solidFill>
          <a:ln/>
        </p:spPr>
      </p:sp>
      <p:sp>
        <p:nvSpPr>
          <p:cNvPr id="16" name="Shape 14"/>
          <p:cNvSpPr/>
          <p:nvPr/>
        </p:nvSpPr>
        <p:spPr>
          <a:xfrm>
            <a:off x="9258301" y="5311888"/>
            <a:ext cx="8115301" cy="10886"/>
          </a:xfrm>
          <a:prstGeom prst="rect">
            <a:avLst/>
          </a:prstGeom>
          <a:solidFill>
            <a:srgbClr val="E0E0E0"/>
          </a:solidFill>
          <a:ln/>
        </p:spPr>
      </p:sp>
      <p:sp>
        <p:nvSpPr>
          <p:cNvPr id="17" name="Shape 15"/>
          <p:cNvSpPr/>
          <p:nvPr/>
        </p:nvSpPr>
        <p:spPr>
          <a:xfrm>
            <a:off x="9258301" y="2666490"/>
            <a:ext cx="8115301" cy="10886"/>
          </a:xfrm>
          <a:prstGeom prst="rect">
            <a:avLst/>
          </a:prstGeom>
          <a:solidFill>
            <a:srgbClr val="E0E0E0"/>
          </a:solidFill>
          <a:ln/>
        </p:spPr>
      </p:sp>
      <p:sp>
        <p:nvSpPr>
          <p:cNvPr id="18" name="Shape 16"/>
          <p:cNvSpPr/>
          <p:nvPr/>
        </p:nvSpPr>
        <p:spPr>
          <a:xfrm>
            <a:off x="9258301" y="2666490"/>
            <a:ext cx="21771" cy="2656284"/>
          </a:xfrm>
          <a:prstGeom prst="rect">
            <a:avLst/>
          </a:prstGeom>
          <a:solidFill>
            <a:srgbClr val="0F62FE"/>
          </a:solidFill>
          <a:ln/>
        </p:spPr>
      </p:sp>
      <p:sp>
        <p:nvSpPr>
          <p:cNvPr id="19" name="Shape 17"/>
          <p:cNvSpPr/>
          <p:nvPr/>
        </p:nvSpPr>
        <p:spPr>
          <a:xfrm>
            <a:off x="17362715" y="2666490"/>
            <a:ext cx="10886" cy="2656284"/>
          </a:xfrm>
          <a:prstGeom prst="rect">
            <a:avLst/>
          </a:prstGeom>
          <a:solidFill>
            <a:srgbClr val="E0E0E0"/>
          </a:solidFill>
          <a:ln/>
        </p:spPr>
      </p:sp>
      <p:sp>
        <p:nvSpPr>
          <p:cNvPr id="20" name="Text 18"/>
          <p:cNvSpPr/>
          <p:nvPr/>
        </p:nvSpPr>
        <p:spPr>
          <a:xfrm>
            <a:off x="9737272" y="3058376"/>
            <a:ext cx="73832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FROM PRODUCT</a:t>
            </a:r>
            <a:endParaRPr lang="en-US" sz="975" dirty="0"/>
          </a:p>
        </p:txBody>
      </p:sp>
      <p:sp>
        <p:nvSpPr>
          <p:cNvPr id="21" name="Text 19"/>
          <p:cNvSpPr/>
          <p:nvPr/>
        </p:nvSpPr>
        <p:spPr>
          <a:xfrm>
            <a:off x="9737272" y="3450261"/>
            <a:ext cx="7383291"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spc="-15" kern="0" dirty="0">
                <a:solidFill>
                  <a:srgbClr val="161616"/>
                </a:solidFill>
                <a:latin typeface="Arial" pitchFamily="34" charset="0"/>
                <a:ea typeface="Arial" pitchFamily="34" charset="-122"/>
                <a:cs typeface="Arial" pitchFamily="34" charset="-120"/>
              </a:rPr>
              <a:t>"What would our churn rate have looked like last quarter under the new definition?"</a:t>
            </a:r>
            <a:endParaRPr lang="en-US" sz="2250" dirty="0"/>
          </a:p>
        </p:txBody>
      </p:sp>
      <p:sp>
        <p:nvSpPr>
          <p:cNvPr id="22" name="Shape 20"/>
          <p:cNvSpPr/>
          <p:nvPr/>
        </p:nvSpPr>
        <p:spPr>
          <a:xfrm>
            <a:off x="9737272" y="4533560"/>
            <a:ext cx="7168243" cy="10886"/>
          </a:xfrm>
          <a:prstGeom prst="rect">
            <a:avLst/>
          </a:prstGeom>
          <a:solidFill>
            <a:srgbClr val="E0E0E0"/>
          </a:solidFill>
          <a:ln/>
        </p:spPr>
      </p:sp>
      <p:sp>
        <p:nvSpPr>
          <p:cNvPr id="23" name="Text 21"/>
          <p:cNvSpPr/>
          <p:nvPr/>
        </p:nvSpPr>
        <p:spPr>
          <a:xfrm>
            <a:off x="9737272" y="4734946"/>
            <a:ext cx="7383291" cy="234043"/>
          </a:xfrm>
          <a:prstGeom prst="rect">
            <a:avLst/>
          </a:prstGeom>
          <a:noFill/>
          <a:ln/>
        </p:spPr>
        <p:txBody>
          <a:bodyPr wrap="square" lIns="25400" tIns="25400" rIns="25400" bIns="25400" rtlCol="0" anchor="t">
            <a:normAutofit/>
          </a:bodyPr>
          <a:lstStyle/>
          <a:p>
            <a:pPr algn="l" indent="0" marL="0">
              <a:buNone/>
            </a:pPr>
            <a:r>
              <a:rPr lang="en-US" sz="1200" b="1" i="1" dirty="0">
                <a:solidFill>
                  <a:srgbClr val="6F6F6F"/>
                </a:solidFill>
                <a:latin typeface="Arial" pitchFamily="34" charset="0"/>
                <a:ea typeface="Arial" pitchFamily="34" charset="-122"/>
                <a:cs typeface="Arial" pitchFamily="34" charset="-120"/>
              </a:rPr>
              <a:t>Today's answer: </a:t>
            </a:r>
            <a:pPr algn="l" indent="0" marL="0">
              <a:buNone/>
            </a:pPr>
            <a:r>
              <a:rPr lang="en-US" sz="1200" i="1" dirty="0">
                <a:solidFill>
                  <a:srgbClr val="6F6F6F"/>
                </a:solidFill>
                <a:latin typeface="Arial" pitchFamily="34" charset="0"/>
                <a:ea typeface="Arial" pitchFamily="34" charset="-122"/>
                <a:cs typeface="Arial" pitchFamily="34" charset="-120"/>
              </a:rPr>
              <a:t>not possible. We don't store the inputs.</a:t>
            </a:r>
            <a:endParaRPr lang="en-US" sz="1200" dirty="0"/>
          </a:p>
        </p:txBody>
      </p:sp>
      <p:sp>
        <p:nvSpPr>
          <p:cNvPr id="24" name="Shape 22"/>
          <p:cNvSpPr/>
          <p:nvPr/>
        </p:nvSpPr>
        <p:spPr>
          <a:xfrm>
            <a:off x="914400" y="5551375"/>
            <a:ext cx="8115301" cy="2656455"/>
          </a:xfrm>
          <a:prstGeom prst="rect">
            <a:avLst/>
          </a:prstGeom>
          <a:solidFill>
            <a:srgbClr val="FFFFFF"/>
          </a:solidFill>
          <a:ln/>
        </p:spPr>
      </p:sp>
      <p:sp>
        <p:nvSpPr>
          <p:cNvPr id="25" name="Shape 23"/>
          <p:cNvSpPr/>
          <p:nvPr/>
        </p:nvSpPr>
        <p:spPr>
          <a:xfrm>
            <a:off x="914400" y="8196943"/>
            <a:ext cx="8115301" cy="10886"/>
          </a:xfrm>
          <a:prstGeom prst="rect">
            <a:avLst/>
          </a:prstGeom>
          <a:solidFill>
            <a:srgbClr val="E0E0E0"/>
          </a:solidFill>
          <a:ln/>
        </p:spPr>
      </p:sp>
      <p:sp>
        <p:nvSpPr>
          <p:cNvPr id="26" name="Shape 24"/>
          <p:cNvSpPr/>
          <p:nvPr/>
        </p:nvSpPr>
        <p:spPr>
          <a:xfrm>
            <a:off x="914400" y="5551375"/>
            <a:ext cx="8115301" cy="10886"/>
          </a:xfrm>
          <a:prstGeom prst="rect">
            <a:avLst/>
          </a:prstGeom>
          <a:solidFill>
            <a:srgbClr val="E0E0E0"/>
          </a:solidFill>
          <a:ln/>
        </p:spPr>
      </p:sp>
      <p:sp>
        <p:nvSpPr>
          <p:cNvPr id="27" name="Shape 25"/>
          <p:cNvSpPr/>
          <p:nvPr/>
        </p:nvSpPr>
        <p:spPr>
          <a:xfrm>
            <a:off x="914400" y="5551375"/>
            <a:ext cx="21771" cy="2656455"/>
          </a:xfrm>
          <a:prstGeom prst="rect">
            <a:avLst/>
          </a:prstGeom>
          <a:solidFill>
            <a:srgbClr val="0F62FE"/>
          </a:solidFill>
          <a:ln/>
        </p:spPr>
      </p:sp>
      <p:sp>
        <p:nvSpPr>
          <p:cNvPr id="28" name="Shape 26"/>
          <p:cNvSpPr/>
          <p:nvPr/>
        </p:nvSpPr>
        <p:spPr>
          <a:xfrm>
            <a:off x="9018815" y="5551375"/>
            <a:ext cx="10886" cy="2656455"/>
          </a:xfrm>
          <a:prstGeom prst="rect">
            <a:avLst/>
          </a:prstGeom>
          <a:solidFill>
            <a:srgbClr val="E0E0E0"/>
          </a:solidFill>
          <a:ln/>
        </p:spPr>
      </p:sp>
      <p:sp>
        <p:nvSpPr>
          <p:cNvPr id="29" name="Text 27"/>
          <p:cNvSpPr/>
          <p:nvPr/>
        </p:nvSpPr>
        <p:spPr>
          <a:xfrm>
            <a:off x="1393371" y="5943260"/>
            <a:ext cx="73832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FROM DATA SCIENCE</a:t>
            </a:r>
            <a:endParaRPr lang="en-US" sz="975" dirty="0"/>
          </a:p>
        </p:txBody>
      </p:sp>
      <p:sp>
        <p:nvSpPr>
          <p:cNvPr id="30" name="Text 28"/>
          <p:cNvSpPr/>
          <p:nvPr/>
        </p:nvSpPr>
        <p:spPr>
          <a:xfrm>
            <a:off x="1393371" y="6335146"/>
            <a:ext cx="7383291"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spc="-15" kern="0" dirty="0">
                <a:solidFill>
                  <a:srgbClr val="161616"/>
                </a:solidFill>
                <a:latin typeface="Arial" pitchFamily="34" charset="0"/>
                <a:ea typeface="Arial" pitchFamily="34" charset="-122"/>
                <a:cs typeface="Arial" pitchFamily="34" charset="-120"/>
              </a:rPr>
              <a:t>"Can we train a model on three years of customer behavior — not just the current snapshot?"</a:t>
            </a:r>
            <a:endParaRPr lang="en-US" sz="2250" dirty="0"/>
          </a:p>
        </p:txBody>
      </p:sp>
      <p:sp>
        <p:nvSpPr>
          <p:cNvPr id="31" name="Shape 29"/>
          <p:cNvSpPr/>
          <p:nvPr/>
        </p:nvSpPr>
        <p:spPr>
          <a:xfrm>
            <a:off x="1393371" y="7418615"/>
            <a:ext cx="7168243" cy="10886"/>
          </a:xfrm>
          <a:prstGeom prst="rect">
            <a:avLst/>
          </a:prstGeom>
          <a:solidFill>
            <a:srgbClr val="E0E0E0"/>
          </a:solidFill>
          <a:ln/>
        </p:spPr>
      </p:sp>
      <p:sp>
        <p:nvSpPr>
          <p:cNvPr id="32" name="Text 30"/>
          <p:cNvSpPr/>
          <p:nvPr/>
        </p:nvSpPr>
        <p:spPr>
          <a:xfrm>
            <a:off x="1393371" y="7620000"/>
            <a:ext cx="7383291" cy="234043"/>
          </a:xfrm>
          <a:prstGeom prst="rect">
            <a:avLst/>
          </a:prstGeom>
          <a:noFill/>
          <a:ln/>
        </p:spPr>
        <p:txBody>
          <a:bodyPr wrap="square" lIns="25400" tIns="25400" rIns="25400" bIns="25400" rtlCol="0" anchor="t">
            <a:normAutofit/>
          </a:bodyPr>
          <a:lstStyle/>
          <a:p>
            <a:pPr algn="l" indent="0" marL="0">
              <a:buNone/>
            </a:pPr>
            <a:r>
              <a:rPr lang="en-US" sz="1200" b="1" i="1" dirty="0">
                <a:solidFill>
                  <a:srgbClr val="6F6F6F"/>
                </a:solidFill>
                <a:latin typeface="Arial" pitchFamily="34" charset="0"/>
                <a:ea typeface="Arial" pitchFamily="34" charset="-122"/>
                <a:cs typeface="Arial" pitchFamily="34" charset="-120"/>
              </a:rPr>
              <a:t>Today's answer: </a:t>
            </a:r>
            <a:pPr algn="l" indent="0" marL="0">
              <a:buNone/>
            </a:pPr>
            <a:r>
              <a:rPr lang="en-US" sz="1200" i="1" dirty="0">
                <a:solidFill>
                  <a:srgbClr val="6F6F6F"/>
                </a:solidFill>
                <a:latin typeface="Arial" pitchFamily="34" charset="0"/>
                <a:ea typeface="Arial" pitchFamily="34" charset="-122"/>
                <a:cs typeface="Arial" pitchFamily="34" charset="-120"/>
              </a:rPr>
              <a:t>we have snapshots. Not behavior history.</a:t>
            </a:r>
            <a:endParaRPr lang="en-US" sz="1200" dirty="0"/>
          </a:p>
        </p:txBody>
      </p:sp>
      <p:sp>
        <p:nvSpPr>
          <p:cNvPr id="33" name="Shape 31"/>
          <p:cNvSpPr/>
          <p:nvPr/>
        </p:nvSpPr>
        <p:spPr>
          <a:xfrm>
            <a:off x="9258301" y="5551375"/>
            <a:ext cx="8115301" cy="2656455"/>
          </a:xfrm>
          <a:prstGeom prst="rect">
            <a:avLst/>
          </a:prstGeom>
          <a:solidFill>
            <a:srgbClr val="FFFFFF"/>
          </a:solidFill>
          <a:ln/>
        </p:spPr>
      </p:sp>
      <p:sp>
        <p:nvSpPr>
          <p:cNvPr id="34" name="Shape 32"/>
          <p:cNvSpPr/>
          <p:nvPr/>
        </p:nvSpPr>
        <p:spPr>
          <a:xfrm>
            <a:off x="9258301" y="8196943"/>
            <a:ext cx="8115301" cy="10886"/>
          </a:xfrm>
          <a:prstGeom prst="rect">
            <a:avLst/>
          </a:prstGeom>
          <a:solidFill>
            <a:srgbClr val="E0E0E0"/>
          </a:solidFill>
          <a:ln/>
        </p:spPr>
      </p:sp>
      <p:sp>
        <p:nvSpPr>
          <p:cNvPr id="35" name="Shape 33"/>
          <p:cNvSpPr/>
          <p:nvPr/>
        </p:nvSpPr>
        <p:spPr>
          <a:xfrm>
            <a:off x="9258301" y="5551375"/>
            <a:ext cx="8115301" cy="10886"/>
          </a:xfrm>
          <a:prstGeom prst="rect">
            <a:avLst/>
          </a:prstGeom>
          <a:solidFill>
            <a:srgbClr val="E0E0E0"/>
          </a:solidFill>
          <a:ln/>
        </p:spPr>
      </p:sp>
      <p:sp>
        <p:nvSpPr>
          <p:cNvPr id="36" name="Shape 34"/>
          <p:cNvSpPr/>
          <p:nvPr/>
        </p:nvSpPr>
        <p:spPr>
          <a:xfrm>
            <a:off x="9258301" y="5551375"/>
            <a:ext cx="21771" cy="2656455"/>
          </a:xfrm>
          <a:prstGeom prst="rect">
            <a:avLst/>
          </a:prstGeom>
          <a:solidFill>
            <a:srgbClr val="0F62FE"/>
          </a:solidFill>
          <a:ln/>
        </p:spPr>
      </p:sp>
      <p:sp>
        <p:nvSpPr>
          <p:cNvPr id="37" name="Shape 35"/>
          <p:cNvSpPr/>
          <p:nvPr/>
        </p:nvSpPr>
        <p:spPr>
          <a:xfrm>
            <a:off x="17362715" y="5551375"/>
            <a:ext cx="10886" cy="2656455"/>
          </a:xfrm>
          <a:prstGeom prst="rect">
            <a:avLst/>
          </a:prstGeom>
          <a:solidFill>
            <a:srgbClr val="E0E0E0"/>
          </a:solidFill>
          <a:ln/>
        </p:spPr>
      </p:sp>
      <p:sp>
        <p:nvSpPr>
          <p:cNvPr id="38" name="Text 36"/>
          <p:cNvSpPr/>
          <p:nvPr/>
        </p:nvSpPr>
        <p:spPr>
          <a:xfrm>
            <a:off x="9737272" y="5943260"/>
            <a:ext cx="73832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FROM CUSTOMER SUCCESS</a:t>
            </a:r>
            <a:endParaRPr lang="en-US" sz="975" dirty="0"/>
          </a:p>
        </p:txBody>
      </p:sp>
      <p:sp>
        <p:nvSpPr>
          <p:cNvPr id="39" name="Text 37"/>
          <p:cNvSpPr/>
          <p:nvPr/>
        </p:nvSpPr>
        <p:spPr>
          <a:xfrm>
            <a:off x="9737272" y="6335146"/>
            <a:ext cx="7383291"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spc="-15" kern="0" dirty="0">
                <a:solidFill>
                  <a:srgbClr val="161616"/>
                </a:solidFill>
                <a:latin typeface="Arial" pitchFamily="34" charset="0"/>
                <a:ea typeface="Arial" pitchFamily="34" charset="-122"/>
                <a:cs typeface="Arial" pitchFamily="34" charset="-120"/>
              </a:rPr>
              <a:t>"Why did this customer's plan change three times last week? What did they do?"</a:t>
            </a:r>
            <a:endParaRPr lang="en-US" sz="2250" dirty="0"/>
          </a:p>
        </p:txBody>
      </p:sp>
      <p:sp>
        <p:nvSpPr>
          <p:cNvPr id="40" name="Shape 38"/>
          <p:cNvSpPr/>
          <p:nvPr/>
        </p:nvSpPr>
        <p:spPr>
          <a:xfrm>
            <a:off x="9737272" y="7418615"/>
            <a:ext cx="7168243" cy="10886"/>
          </a:xfrm>
          <a:prstGeom prst="rect">
            <a:avLst/>
          </a:prstGeom>
          <a:solidFill>
            <a:srgbClr val="E0E0E0"/>
          </a:solidFill>
          <a:ln/>
        </p:spPr>
      </p:sp>
      <p:sp>
        <p:nvSpPr>
          <p:cNvPr id="41" name="Text 39"/>
          <p:cNvSpPr/>
          <p:nvPr/>
        </p:nvSpPr>
        <p:spPr>
          <a:xfrm>
            <a:off x="9737272" y="7620000"/>
            <a:ext cx="7383291" cy="234043"/>
          </a:xfrm>
          <a:prstGeom prst="rect">
            <a:avLst/>
          </a:prstGeom>
          <a:noFill/>
          <a:ln/>
        </p:spPr>
        <p:txBody>
          <a:bodyPr wrap="square" lIns="25400" tIns="25400" rIns="25400" bIns="25400" rtlCol="0" anchor="t">
            <a:normAutofit/>
          </a:bodyPr>
          <a:lstStyle/>
          <a:p>
            <a:pPr algn="l" indent="0" marL="0">
              <a:buNone/>
            </a:pPr>
            <a:r>
              <a:rPr lang="en-US" sz="1200" b="1" i="1" dirty="0">
                <a:solidFill>
                  <a:srgbClr val="6F6F6F"/>
                </a:solidFill>
                <a:latin typeface="Arial" pitchFamily="34" charset="0"/>
                <a:ea typeface="Arial" pitchFamily="34" charset="-122"/>
                <a:cs typeface="Arial" pitchFamily="34" charset="-120"/>
              </a:rPr>
              <a:t>Today's answer: </a:t>
            </a:r>
            <a:pPr algn="l" indent="0" marL="0">
              <a:buNone/>
            </a:pPr>
            <a:r>
              <a:rPr lang="en-US" sz="1200" i="1" dirty="0">
                <a:solidFill>
                  <a:srgbClr val="6F6F6F"/>
                </a:solidFill>
                <a:latin typeface="Arial" pitchFamily="34" charset="0"/>
                <a:ea typeface="Arial" pitchFamily="34" charset="-122"/>
                <a:cs typeface="Arial" pitchFamily="34" charset="-120"/>
              </a:rPr>
              <a:t>we see the current state. Not the journey.</a:t>
            </a:r>
            <a:endParaRPr lang="en-US" sz="1200" dirty="0"/>
          </a:p>
        </p:txBody>
      </p:sp>
      <p:sp>
        <p:nvSpPr>
          <p:cNvPr id="42" name="Shape 40"/>
          <p:cNvSpPr/>
          <p:nvPr/>
        </p:nvSpPr>
        <p:spPr>
          <a:xfrm>
            <a:off x="914400" y="8436429"/>
            <a:ext cx="16459201" cy="707571"/>
          </a:xfrm>
          <a:prstGeom prst="rect">
            <a:avLst/>
          </a:prstGeom>
          <a:solidFill>
            <a:srgbClr val="F4F4F4"/>
          </a:solidFill>
          <a:ln/>
        </p:spPr>
      </p:sp>
      <p:sp>
        <p:nvSpPr>
          <p:cNvPr id="43" name="Shape 41"/>
          <p:cNvSpPr/>
          <p:nvPr/>
        </p:nvSpPr>
        <p:spPr>
          <a:xfrm>
            <a:off x="914400" y="8436429"/>
            <a:ext cx="21771" cy="707571"/>
          </a:xfrm>
          <a:prstGeom prst="rect">
            <a:avLst/>
          </a:prstGeom>
          <a:solidFill>
            <a:srgbClr val="0F62FE"/>
          </a:solidFill>
          <a:ln/>
        </p:spPr>
      </p:sp>
      <p:sp>
        <p:nvSpPr>
          <p:cNvPr id="44" name="Text 42"/>
          <p:cNvSpPr/>
          <p:nvPr/>
        </p:nvSpPr>
        <p:spPr>
          <a:xfrm>
            <a:off x="1240971" y="8665029"/>
            <a:ext cx="16321606" cy="288471"/>
          </a:xfrm>
          <a:prstGeom prst="rect">
            <a:avLst/>
          </a:prstGeom>
          <a:noFill/>
          <a:ln/>
        </p:spPr>
        <p:txBody>
          <a:bodyPr wrap="square" lIns="25400" tIns="25400" rIns="25400" bIns="25400" rtlCol="0" anchor="t">
            <a:normAutofit/>
          </a:bodyPr>
          <a:lstStyle/>
          <a:p>
            <a:pPr algn="l" indent="0" marL="0">
              <a:buNone/>
            </a:pPr>
            <a:r>
              <a:rPr lang="en-US" sz="1500" b="1" dirty="0">
                <a:solidFill>
                  <a:srgbClr val="161616"/>
                </a:solidFill>
                <a:latin typeface="Arial" pitchFamily="34" charset="0"/>
                <a:ea typeface="Arial" pitchFamily="34" charset="-122"/>
                <a:cs typeface="Arial" pitchFamily="34" charset="-120"/>
              </a:rPr>
              <a:t>The pattern — </a:t>
            </a:r>
            <a:pPr algn="l" indent="0" marL="0">
              <a:buNone/>
            </a:pPr>
            <a:r>
              <a:rPr lang="en-US" sz="1500" dirty="0">
                <a:solidFill>
                  <a:srgbClr val="393939"/>
                </a:solidFill>
                <a:highlight>
                  <a:srgbClr val="F4F4F4"/>
                </a:highlight>
                <a:latin typeface="Arial" pitchFamily="34" charset="0"/>
                <a:ea typeface="Arial" pitchFamily="34" charset="-122"/>
                <a:cs typeface="Arial" pitchFamily="34" charset="-120"/>
              </a:rPr>
              <a:t>our systems record current state. The business increasingly needs </a:t>
            </a:r>
            <a:pPr algn="l" indent="0" marL="0">
              <a:buNone/>
            </a:pPr>
            <a:r>
              <a:rPr lang="en-US" sz="1500" b="1" i="1" dirty="0">
                <a:solidFill>
                  <a:srgbClr val="0F62FE"/>
                </a:solidFill>
                <a:latin typeface="Arial" pitchFamily="34" charset="0"/>
                <a:ea typeface="Arial" pitchFamily="34" charset="-122"/>
                <a:cs typeface="Arial" pitchFamily="34" charset="-120"/>
              </a:rPr>
              <a:t>history.</a:t>
            </a:r>
            <a:endParaRPr lang="en-US" sz="1500" dirty="0"/>
          </a:p>
        </p:txBody>
      </p:sp>
      <p:sp>
        <p:nvSpPr>
          <p:cNvPr id="45" name="Text 43"/>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46" name="Shape 44"/>
          <p:cNvSpPr/>
          <p:nvPr/>
        </p:nvSpPr>
        <p:spPr>
          <a:xfrm>
            <a:off x="3003947" y="9729107"/>
            <a:ext cx="38100" cy="38100"/>
          </a:xfrm>
          <a:prstGeom prst="ellipse">
            <a:avLst/>
          </a:prstGeom>
          <a:solidFill>
            <a:srgbClr val="6F6F6F"/>
          </a:solidFill>
          <a:ln/>
        </p:spPr>
      </p:sp>
      <p:sp>
        <p:nvSpPr>
          <p:cNvPr id="47" name="Text 45"/>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48" name="Text 46"/>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02 / 13</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02 · THE INVERSION</a:t>
            </a:r>
            <a:endParaRPr lang="en-US" sz="975" dirty="0"/>
          </a:p>
        </p:txBody>
      </p:sp>
      <p:sp>
        <p:nvSpPr>
          <p:cNvPr id="4" name="Text 2"/>
          <p:cNvSpPr/>
          <p:nvPr/>
        </p:nvSpPr>
        <p:spPr>
          <a:xfrm>
            <a:off x="914400" y="1191986"/>
            <a:ext cx="16952977" cy="572861"/>
          </a:xfrm>
          <a:prstGeom prst="rect">
            <a:avLst/>
          </a:prstGeom>
          <a:noFill/>
          <a:ln/>
        </p:spPr>
        <p:txBody>
          <a:bodyPr wrap="square" lIns="25400" tIns="25400" rIns="25400" bIns="25400" rtlCol="0" anchor="t">
            <a:normAutofit/>
          </a:bodyPr>
          <a:lstStyle/>
          <a:p>
            <a:pPr algn="l" indent="0" marL="0">
              <a:lnSpc>
                <a:spcPct val="108000"/>
              </a:lnSpc>
              <a:buNone/>
            </a:pPr>
            <a:r>
              <a:rPr lang="en-US" sz="3900" spc="-60" kern="0" dirty="0">
                <a:solidFill>
                  <a:srgbClr val="161616"/>
                </a:solidFill>
                <a:latin typeface="Arial" pitchFamily="34" charset="0"/>
                <a:ea typeface="Arial" pitchFamily="34" charset="-122"/>
                <a:cs typeface="Arial" pitchFamily="34" charset="-120"/>
              </a:rPr>
              <a:t>One change in where the truth lives. </a:t>
            </a:r>
            <a:pPr algn="l" indent="0" marL="0">
              <a:lnSpc>
                <a:spcPct val="108000"/>
              </a:lnSpc>
              <a:buNone/>
            </a:pPr>
            <a:r>
              <a:rPr lang="en-US" sz="3900" spc="-60" kern="0" dirty="0">
                <a:solidFill>
                  <a:srgbClr val="6F6F6F"/>
                </a:solidFill>
                <a:latin typeface="Arial" pitchFamily="34" charset="0"/>
                <a:ea typeface="Arial" pitchFamily="34" charset="-122"/>
                <a:cs typeface="Arial" pitchFamily="34" charset="-120"/>
              </a:rPr>
              <a:t>Everything else follows.</a:t>
            </a:r>
            <a:endParaRPr lang="en-US" sz="3900" dirty="0"/>
          </a:p>
        </p:txBody>
      </p:sp>
      <p:sp>
        <p:nvSpPr>
          <p:cNvPr id="5" name="Shape 3"/>
          <p:cNvSpPr/>
          <p:nvPr/>
        </p:nvSpPr>
        <p:spPr>
          <a:xfrm>
            <a:off x="914400" y="2260146"/>
            <a:ext cx="7848601" cy="6883854"/>
          </a:xfrm>
          <a:prstGeom prst="rect">
            <a:avLst/>
          </a:prstGeom>
          <a:solidFill>
            <a:srgbClr val="F4F4F4"/>
          </a:solidFill>
          <a:ln w="10886">
            <a:solidFill>
              <a:srgbClr val="E0E0E0"/>
            </a:solidFill>
            <a:prstDash val="solid"/>
          </a:ln>
        </p:spPr>
      </p:sp>
      <p:sp>
        <p:nvSpPr>
          <p:cNvPr id="6" name="Text 4"/>
          <p:cNvSpPr/>
          <p:nvPr/>
        </p:nvSpPr>
        <p:spPr>
          <a:xfrm>
            <a:off x="1382486" y="2728232"/>
            <a:ext cx="7119802"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TODAY — STATE AS TRUTH</a:t>
            </a:r>
            <a:endParaRPr lang="en-US" sz="975" dirty="0"/>
          </a:p>
        </p:txBody>
      </p:sp>
      <p:sp>
        <p:nvSpPr>
          <p:cNvPr id="7" name="Text 5"/>
          <p:cNvSpPr/>
          <p:nvPr/>
        </p:nvSpPr>
        <p:spPr>
          <a:xfrm>
            <a:off x="1382486" y="2986768"/>
            <a:ext cx="7119802" cy="494109"/>
          </a:xfrm>
          <a:prstGeom prst="rect">
            <a:avLst/>
          </a:prstGeom>
          <a:noFill/>
          <a:ln/>
        </p:spPr>
        <p:txBody>
          <a:bodyPr wrap="square" lIns="25400" tIns="25400" rIns="25400" bIns="25400" rtlCol="0" anchor="t">
            <a:normAutofit/>
          </a:bodyPr>
          <a:lstStyle/>
          <a:p>
            <a:pPr algn="l" indent="0" marL="0">
              <a:lnSpc>
                <a:spcPct val="133000"/>
              </a:lnSpc>
              <a:buNone/>
            </a:pPr>
            <a:r>
              <a:rPr lang="en-US" sz="2700" spc="-22" kern="0" dirty="0">
                <a:solidFill>
                  <a:srgbClr val="161616"/>
                </a:solidFill>
                <a:latin typeface="Arial" pitchFamily="34" charset="0"/>
                <a:ea typeface="Arial" pitchFamily="34" charset="-122"/>
                <a:cs typeface="Arial" pitchFamily="34" charset="-120"/>
              </a:rPr>
              <a:t>The database is the system of record.</a:t>
            </a:r>
            <a:endParaRPr lang="en-US" sz="2700" dirty="0"/>
          </a:p>
        </p:txBody>
      </p:sp>
      <p:sp>
        <p:nvSpPr>
          <p:cNvPr id="8" name="Text 6"/>
          <p:cNvSpPr/>
          <p:nvPr/>
        </p:nvSpPr>
        <p:spPr>
          <a:xfrm>
            <a:off x="1382486" y="3538027"/>
            <a:ext cx="7119802" cy="264659"/>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525252"/>
                </a:solidFill>
                <a:latin typeface="Arial" pitchFamily="34" charset="0"/>
                <a:ea typeface="Arial" pitchFamily="34" charset="-122"/>
                <a:cs typeface="Arial" pitchFamily="34" charset="-120"/>
              </a:rPr>
              <a:t>Every write overwrites the last. History is lost.</a:t>
            </a:r>
            <a:endParaRPr lang="en-US" sz="1275" dirty="0"/>
          </a:p>
        </p:txBody>
      </p:sp>
      <p:sp>
        <p:nvSpPr>
          <p:cNvPr id="9" name="Shape 7"/>
          <p:cNvSpPr/>
          <p:nvPr/>
        </p:nvSpPr>
        <p:spPr>
          <a:xfrm>
            <a:off x="1382486" y="4031286"/>
            <a:ext cx="6912429" cy="484414"/>
          </a:xfrm>
          <a:prstGeom prst="rect">
            <a:avLst/>
          </a:prstGeom>
          <a:solidFill>
            <a:srgbClr val="FFFFFF"/>
          </a:solidFill>
          <a:ln w="10886">
            <a:solidFill>
              <a:srgbClr val="C6C6C6"/>
            </a:solidFill>
            <a:prstDash val="solid"/>
          </a:ln>
        </p:spPr>
      </p:sp>
      <p:sp>
        <p:nvSpPr>
          <p:cNvPr id="10" name="Text 8"/>
          <p:cNvSpPr/>
          <p:nvPr/>
        </p:nvSpPr>
        <p:spPr>
          <a:xfrm>
            <a:off x="1564821" y="4202736"/>
            <a:ext cx="9144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6F6F6F"/>
                </a:solidFill>
                <a:latin typeface="Arial" pitchFamily="34" charset="0"/>
                <a:ea typeface="Arial" pitchFamily="34" charset="-122"/>
                <a:cs typeface="Arial" pitchFamily="34" charset="-120"/>
              </a:rPr>
              <a:t>COMMAND</a:t>
            </a:r>
            <a:endParaRPr lang="en-US" sz="825" dirty="0"/>
          </a:p>
        </p:txBody>
      </p:sp>
      <p:sp>
        <p:nvSpPr>
          <p:cNvPr id="11" name="Text 9"/>
          <p:cNvSpPr/>
          <p:nvPr/>
        </p:nvSpPr>
        <p:spPr>
          <a:xfrm>
            <a:off x="2536372" y="4175522"/>
            <a:ext cx="1153886" cy="234043"/>
          </a:xfrm>
          <a:prstGeom prst="rect">
            <a:avLst/>
          </a:prstGeom>
          <a:noFill/>
          <a:ln/>
        </p:spPr>
        <p:txBody>
          <a:bodyPr wrap="square" lIns="25400" tIns="25400" rIns="25400" bIns="25400" rtlCol="0" anchor="t">
            <a:normAutofit/>
          </a:bodyPr>
          <a:lstStyle/>
          <a:p>
            <a:pPr algn="l" indent="0" marL="0">
              <a:buNone/>
            </a:pPr>
            <a:r>
              <a:rPr lang="en-US" sz="1200" dirty="0">
                <a:solidFill>
                  <a:srgbClr val="161616"/>
                </a:solidFill>
                <a:latin typeface="Arial" pitchFamily="34" charset="0"/>
                <a:ea typeface="Arial" pitchFamily="34" charset="-122"/>
                <a:cs typeface="Arial" pitchFamily="34" charset="-120"/>
              </a:rPr>
              <a:t>API / Write path</a:t>
            </a:r>
            <a:endParaRPr lang="en-US" sz="1200" dirty="0"/>
          </a:p>
        </p:txBody>
      </p:sp>
      <p:sp>
        <p:nvSpPr>
          <p:cNvPr id="12" name="Text 10"/>
          <p:cNvSpPr/>
          <p:nvPr/>
        </p:nvSpPr>
        <p:spPr>
          <a:xfrm>
            <a:off x="1278799" y="4782401"/>
            <a:ext cx="7119802" cy="179614"/>
          </a:xfrm>
          <a:prstGeom prst="rect">
            <a:avLst/>
          </a:prstGeom>
          <a:noFill/>
          <a:ln/>
        </p:spPr>
        <p:txBody>
          <a:bodyPr wrap="square" lIns="25400" tIns="25400" rIns="25400" bIns="25400" rtlCol="0" anchor="t">
            <a:normAutofit/>
          </a:bodyPr>
          <a:lstStyle/>
          <a:p>
            <a:pPr algn="ctr" indent="0" marL="0">
              <a:buNone/>
            </a:pPr>
            <a:r>
              <a:rPr lang="en-US" sz="825" spc="24" kern="0" dirty="0">
                <a:solidFill>
                  <a:srgbClr val="6F6F6F"/>
                </a:solidFill>
                <a:latin typeface="Arial" pitchFamily="34" charset="0"/>
                <a:ea typeface="Arial" pitchFamily="34" charset="-122"/>
                <a:cs typeface="Arial" pitchFamily="34" charset="-120"/>
              </a:rPr>
              <a:t>OVERWRITES ↓</a:t>
            </a:r>
            <a:endParaRPr lang="en-US" sz="825" dirty="0"/>
          </a:p>
        </p:txBody>
      </p:sp>
      <p:sp>
        <p:nvSpPr>
          <p:cNvPr id="13" name="Shape 11"/>
          <p:cNvSpPr/>
          <p:nvPr/>
        </p:nvSpPr>
        <p:spPr>
          <a:xfrm>
            <a:off x="1382486" y="5190615"/>
            <a:ext cx="6912429" cy="484414"/>
          </a:xfrm>
          <a:prstGeom prst="rect">
            <a:avLst/>
          </a:prstGeom>
          <a:solidFill>
            <a:srgbClr val="FFFFFF"/>
          </a:solidFill>
          <a:ln w="10886">
            <a:solidFill>
              <a:srgbClr val="C6C6C6"/>
            </a:solidFill>
            <a:prstDash val="solid"/>
          </a:ln>
        </p:spPr>
      </p:sp>
      <p:sp>
        <p:nvSpPr>
          <p:cNvPr id="14" name="Text 12"/>
          <p:cNvSpPr/>
          <p:nvPr/>
        </p:nvSpPr>
        <p:spPr>
          <a:xfrm>
            <a:off x="1564821" y="5362065"/>
            <a:ext cx="9144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6F6F6F"/>
                </a:solidFill>
                <a:latin typeface="Arial" pitchFamily="34" charset="0"/>
                <a:ea typeface="Arial" pitchFamily="34" charset="-122"/>
                <a:cs typeface="Arial" pitchFamily="34" charset="-120"/>
              </a:rPr>
              <a:t>STORAGE</a:t>
            </a:r>
            <a:endParaRPr lang="en-US" sz="825" dirty="0"/>
          </a:p>
        </p:txBody>
      </p:sp>
      <p:sp>
        <p:nvSpPr>
          <p:cNvPr id="15" name="Text 13"/>
          <p:cNvSpPr/>
          <p:nvPr/>
        </p:nvSpPr>
        <p:spPr>
          <a:xfrm>
            <a:off x="2536372" y="5334851"/>
            <a:ext cx="1665514" cy="234043"/>
          </a:xfrm>
          <a:prstGeom prst="rect">
            <a:avLst/>
          </a:prstGeom>
          <a:noFill/>
          <a:ln/>
        </p:spPr>
        <p:txBody>
          <a:bodyPr wrap="square" lIns="25400" tIns="25400" rIns="25400" bIns="25400" rtlCol="0" anchor="t">
            <a:normAutofit/>
          </a:bodyPr>
          <a:lstStyle/>
          <a:p>
            <a:pPr algn="l" indent="0" marL="0">
              <a:buNone/>
            </a:pPr>
            <a:r>
              <a:rPr lang="en-US" sz="1200" dirty="0">
                <a:solidFill>
                  <a:srgbClr val="161616"/>
                </a:solidFill>
                <a:latin typeface="Arial" pitchFamily="34" charset="0"/>
                <a:ea typeface="Arial" pitchFamily="34" charset="-122"/>
                <a:cs typeface="Arial" pitchFamily="34" charset="-120"/>
              </a:rPr>
              <a:t>Customer · current row</a:t>
            </a:r>
            <a:endParaRPr lang="en-US" sz="1200" dirty="0"/>
          </a:p>
        </p:txBody>
      </p:sp>
      <p:sp>
        <p:nvSpPr>
          <p:cNvPr id="16" name="Text 14"/>
          <p:cNvSpPr/>
          <p:nvPr/>
        </p:nvSpPr>
        <p:spPr>
          <a:xfrm>
            <a:off x="7702323" y="5362065"/>
            <a:ext cx="486455"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UPDATE</a:t>
            </a:r>
            <a:endParaRPr lang="en-US" sz="825" dirty="0"/>
          </a:p>
        </p:txBody>
      </p:sp>
      <p:sp>
        <p:nvSpPr>
          <p:cNvPr id="17" name="Text 15"/>
          <p:cNvSpPr/>
          <p:nvPr/>
        </p:nvSpPr>
        <p:spPr>
          <a:xfrm>
            <a:off x="1278799" y="5941729"/>
            <a:ext cx="7119802" cy="179614"/>
          </a:xfrm>
          <a:prstGeom prst="rect">
            <a:avLst/>
          </a:prstGeom>
          <a:noFill/>
          <a:ln/>
        </p:spPr>
        <p:txBody>
          <a:bodyPr wrap="square" lIns="25400" tIns="25400" rIns="25400" bIns="25400" rtlCol="0" anchor="t">
            <a:normAutofit/>
          </a:bodyPr>
          <a:lstStyle/>
          <a:p>
            <a:pPr algn="ctr" indent="0" marL="0">
              <a:buNone/>
            </a:pPr>
            <a:r>
              <a:rPr lang="en-US" sz="825" spc="24" kern="0" dirty="0">
                <a:solidFill>
                  <a:srgbClr val="6F6F6F"/>
                </a:solidFill>
                <a:latin typeface="Arial" pitchFamily="34" charset="0"/>
                <a:ea typeface="Arial" pitchFamily="34" charset="-122"/>
                <a:cs typeface="Arial" pitchFamily="34" charset="-120"/>
              </a:rPr>
              <a:t>READS ↓</a:t>
            </a:r>
            <a:endParaRPr lang="en-US" sz="825" dirty="0"/>
          </a:p>
        </p:txBody>
      </p:sp>
      <p:sp>
        <p:nvSpPr>
          <p:cNvPr id="18" name="Shape 16"/>
          <p:cNvSpPr/>
          <p:nvPr/>
        </p:nvSpPr>
        <p:spPr>
          <a:xfrm>
            <a:off x="1382486" y="6349944"/>
            <a:ext cx="6912429" cy="484414"/>
          </a:xfrm>
          <a:prstGeom prst="rect">
            <a:avLst/>
          </a:prstGeom>
          <a:solidFill>
            <a:srgbClr val="FFFFFF"/>
          </a:solidFill>
          <a:ln w="10886">
            <a:solidFill>
              <a:srgbClr val="C6C6C6"/>
            </a:solidFill>
            <a:prstDash val="solid"/>
          </a:ln>
        </p:spPr>
      </p:sp>
      <p:sp>
        <p:nvSpPr>
          <p:cNvPr id="19" name="Text 17"/>
          <p:cNvSpPr/>
          <p:nvPr/>
        </p:nvSpPr>
        <p:spPr>
          <a:xfrm>
            <a:off x="1564821" y="6521394"/>
            <a:ext cx="9144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6F6F6F"/>
                </a:solidFill>
                <a:latin typeface="Arial" pitchFamily="34" charset="0"/>
                <a:ea typeface="Arial" pitchFamily="34" charset="-122"/>
                <a:cs typeface="Arial" pitchFamily="34" charset="-120"/>
              </a:rPr>
              <a:t>QUERY</a:t>
            </a:r>
            <a:endParaRPr lang="en-US" sz="825" dirty="0"/>
          </a:p>
        </p:txBody>
      </p:sp>
      <p:sp>
        <p:nvSpPr>
          <p:cNvPr id="20" name="Text 18"/>
          <p:cNvSpPr/>
          <p:nvPr/>
        </p:nvSpPr>
        <p:spPr>
          <a:xfrm>
            <a:off x="2536372" y="6494179"/>
            <a:ext cx="1273629" cy="234043"/>
          </a:xfrm>
          <a:prstGeom prst="rect">
            <a:avLst/>
          </a:prstGeom>
          <a:noFill/>
          <a:ln/>
        </p:spPr>
        <p:txBody>
          <a:bodyPr wrap="square" lIns="25400" tIns="25400" rIns="25400" bIns="25400" rtlCol="0" anchor="t">
            <a:normAutofit/>
          </a:bodyPr>
          <a:lstStyle/>
          <a:p>
            <a:pPr algn="l" indent="0" marL="0">
              <a:buNone/>
            </a:pPr>
            <a:r>
              <a:rPr lang="en-US" sz="1200" dirty="0">
                <a:solidFill>
                  <a:srgbClr val="161616"/>
                </a:solidFill>
                <a:latin typeface="Arial" pitchFamily="34" charset="0"/>
                <a:ea typeface="Arial" pitchFamily="34" charset="-122"/>
                <a:cs typeface="Arial" pitchFamily="34" charset="-120"/>
              </a:rPr>
              <a:t>Reports · UI · API</a:t>
            </a:r>
            <a:endParaRPr lang="en-US" sz="1200" dirty="0"/>
          </a:p>
        </p:txBody>
      </p:sp>
      <p:sp>
        <p:nvSpPr>
          <p:cNvPr id="21" name="Text 19"/>
          <p:cNvSpPr/>
          <p:nvPr/>
        </p:nvSpPr>
        <p:spPr>
          <a:xfrm>
            <a:off x="7702323" y="6521394"/>
            <a:ext cx="486455"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SELECT</a:t>
            </a:r>
            <a:endParaRPr lang="en-US" sz="825" dirty="0"/>
          </a:p>
        </p:txBody>
      </p:sp>
      <p:sp>
        <p:nvSpPr>
          <p:cNvPr id="22" name="Text 20"/>
          <p:cNvSpPr/>
          <p:nvPr/>
        </p:nvSpPr>
        <p:spPr>
          <a:xfrm>
            <a:off x="1382486" y="8523515"/>
            <a:ext cx="7119802" cy="190500"/>
          </a:xfrm>
          <a:prstGeom prst="rect">
            <a:avLst/>
          </a:prstGeom>
          <a:noFill/>
          <a:ln/>
        </p:spPr>
        <p:txBody>
          <a:bodyPr wrap="square" lIns="25400" tIns="25400" rIns="25400" bIns="25400" rtlCol="0" anchor="t">
            <a:normAutofit/>
          </a:bodyPr>
          <a:lstStyle/>
          <a:p>
            <a:pPr algn="l" indent="0" marL="0">
              <a:buNone/>
            </a:pPr>
            <a:r>
              <a:rPr lang="en-US" sz="900" spc="24" kern="0" dirty="0">
                <a:solidFill>
                  <a:srgbClr val="6F6F6F"/>
                </a:solidFill>
                <a:latin typeface="Arial" pitchFamily="34" charset="0"/>
                <a:ea typeface="Arial" pitchFamily="34" charset="-122"/>
                <a:cs typeface="Arial" pitchFamily="34" charset="-120"/>
              </a:rPr>
              <a:t>RESULT — ONLY THE PRESENT TENSE IS QUERYABLE.</a:t>
            </a:r>
            <a:endParaRPr lang="en-US" sz="900" dirty="0"/>
          </a:p>
        </p:txBody>
      </p:sp>
      <p:sp>
        <p:nvSpPr>
          <p:cNvPr id="23" name="Text 21"/>
          <p:cNvSpPr/>
          <p:nvPr/>
        </p:nvSpPr>
        <p:spPr>
          <a:xfrm rot="10800000">
            <a:off x="9072563" y="4392386"/>
            <a:ext cx="219075" cy="447675"/>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INVERT</a:t>
            </a:r>
            <a:endParaRPr lang="en-US" sz="825" dirty="0"/>
          </a:p>
        </p:txBody>
      </p:sp>
      <p:sp>
        <p:nvSpPr>
          <p:cNvPr id="24" name="Shape 22"/>
          <p:cNvSpPr/>
          <p:nvPr/>
        </p:nvSpPr>
        <p:spPr>
          <a:xfrm>
            <a:off x="9134476" y="4935651"/>
            <a:ext cx="19050" cy="1714500"/>
          </a:xfrm>
          <a:prstGeom prst="rect">
            <a:avLst/>
          </a:prstGeom>
          <a:solidFill>
            <a:srgbClr val="0F62FE"/>
          </a:solidFill>
          <a:ln/>
        </p:spPr>
      </p:sp>
      <p:sp>
        <p:nvSpPr>
          <p:cNvPr id="25" name="Text 23"/>
          <p:cNvSpPr/>
          <p:nvPr/>
        </p:nvSpPr>
        <p:spPr>
          <a:xfrm>
            <a:off x="9073243" y="6783501"/>
            <a:ext cx="217714"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dirty="0">
                <a:solidFill>
                  <a:srgbClr val="0F62FE"/>
                </a:solidFill>
                <a:latin typeface="Arial" pitchFamily="34" charset="0"/>
                <a:ea typeface="Arial" pitchFamily="34" charset="-122"/>
                <a:cs typeface="Arial" pitchFamily="34" charset="-120"/>
              </a:rPr>
              <a:t>→</a:t>
            </a:r>
            <a:endParaRPr lang="en-US" sz="1800" dirty="0"/>
          </a:p>
        </p:txBody>
      </p:sp>
      <p:sp>
        <p:nvSpPr>
          <p:cNvPr id="26" name="Shape 24"/>
          <p:cNvSpPr/>
          <p:nvPr/>
        </p:nvSpPr>
        <p:spPr>
          <a:xfrm>
            <a:off x="9525001" y="2260146"/>
            <a:ext cx="7848601" cy="6883854"/>
          </a:xfrm>
          <a:prstGeom prst="rect">
            <a:avLst/>
          </a:prstGeom>
          <a:solidFill>
            <a:srgbClr val="0A2350"/>
          </a:solidFill>
          <a:ln w="10886">
            <a:solidFill>
              <a:srgbClr val="0A2350"/>
            </a:solidFill>
            <a:prstDash val="solid"/>
          </a:ln>
        </p:spPr>
      </p:sp>
      <p:sp>
        <p:nvSpPr>
          <p:cNvPr id="27" name="Text 25"/>
          <p:cNvSpPr/>
          <p:nvPr/>
        </p:nvSpPr>
        <p:spPr>
          <a:xfrm>
            <a:off x="9993087" y="2728232"/>
            <a:ext cx="7119802"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EVENT-SOURCED — HISTORY AS TRUTH</a:t>
            </a:r>
            <a:endParaRPr lang="en-US" sz="975" dirty="0"/>
          </a:p>
        </p:txBody>
      </p:sp>
      <p:sp>
        <p:nvSpPr>
          <p:cNvPr id="28" name="Text 26"/>
          <p:cNvSpPr/>
          <p:nvPr/>
        </p:nvSpPr>
        <p:spPr>
          <a:xfrm>
            <a:off x="9993087" y="2986768"/>
            <a:ext cx="7119802" cy="494109"/>
          </a:xfrm>
          <a:prstGeom prst="rect">
            <a:avLst/>
          </a:prstGeom>
          <a:noFill/>
          <a:ln/>
        </p:spPr>
        <p:txBody>
          <a:bodyPr wrap="square" lIns="25400" tIns="25400" rIns="25400" bIns="25400" rtlCol="0" anchor="t">
            <a:normAutofit/>
          </a:bodyPr>
          <a:lstStyle/>
          <a:p>
            <a:pPr algn="l" indent="0" marL="0">
              <a:lnSpc>
                <a:spcPct val="133000"/>
              </a:lnSpc>
              <a:buNone/>
            </a:pPr>
            <a:r>
              <a:rPr lang="en-US" sz="2700" spc="-22" kern="0" dirty="0">
                <a:solidFill>
                  <a:srgbClr val="FFFFFF"/>
                </a:solidFill>
                <a:latin typeface="Arial" pitchFamily="34" charset="0"/>
                <a:ea typeface="Arial" pitchFamily="34" charset="-122"/>
                <a:cs typeface="Arial" pitchFamily="34" charset="-120"/>
              </a:rPr>
              <a:t>The event stream is the system of record.</a:t>
            </a:r>
            <a:endParaRPr lang="en-US" sz="2700" dirty="0"/>
          </a:p>
        </p:txBody>
      </p:sp>
      <p:sp>
        <p:nvSpPr>
          <p:cNvPr id="29" name="Text 27"/>
          <p:cNvSpPr/>
          <p:nvPr/>
        </p:nvSpPr>
        <p:spPr>
          <a:xfrm>
            <a:off x="9993087" y="3538027"/>
            <a:ext cx="7119802" cy="264659"/>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C6C6C6"/>
                </a:solidFill>
                <a:latin typeface="Arial" pitchFamily="34" charset="0"/>
                <a:ea typeface="Arial" pitchFamily="34" charset="-122"/>
                <a:cs typeface="Arial" pitchFamily="34" charset="-120"/>
              </a:rPr>
              <a:t>Every write appends a fact. Nothing is overwritten.</a:t>
            </a:r>
            <a:endParaRPr lang="en-US" sz="1275" dirty="0"/>
          </a:p>
        </p:txBody>
      </p:sp>
      <p:sp>
        <p:nvSpPr>
          <p:cNvPr id="30" name="Shape 28"/>
          <p:cNvSpPr/>
          <p:nvPr/>
        </p:nvSpPr>
        <p:spPr>
          <a:xfrm>
            <a:off x="9993087" y="4031286"/>
            <a:ext cx="6912429" cy="484414"/>
          </a:xfrm>
          <a:prstGeom prst="rect">
            <a:avLst/>
          </a:prstGeom>
          <a:solidFill>
            <a:srgbClr val="13326B"/>
          </a:solidFill>
          <a:ln w="10886">
            <a:solidFill>
              <a:srgbClr val="234B92"/>
            </a:solidFill>
            <a:prstDash val="solid"/>
          </a:ln>
        </p:spPr>
      </p:sp>
      <p:sp>
        <p:nvSpPr>
          <p:cNvPr id="31" name="Text 29"/>
          <p:cNvSpPr/>
          <p:nvPr/>
        </p:nvSpPr>
        <p:spPr>
          <a:xfrm>
            <a:off x="10175422" y="4202736"/>
            <a:ext cx="9144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COMMAND</a:t>
            </a:r>
            <a:endParaRPr lang="en-US" sz="825" dirty="0"/>
          </a:p>
        </p:txBody>
      </p:sp>
      <p:sp>
        <p:nvSpPr>
          <p:cNvPr id="32" name="Text 30"/>
          <p:cNvSpPr/>
          <p:nvPr/>
        </p:nvSpPr>
        <p:spPr>
          <a:xfrm>
            <a:off x="11146972" y="4175522"/>
            <a:ext cx="881743" cy="234043"/>
          </a:xfrm>
          <a:prstGeom prst="rect">
            <a:avLst/>
          </a:prstGeom>
          <a:noFill/>
          <a:ln/>
        </p:spPr>
        <p:txBody>
          <a:bodyPr wrap="square" lIns="25400" tIns="25400" rIns="25400" bIns="25400" rtlCol="0" anchor="t">
            <a:normAutofit/>
          </a:bodyPr>
          <a:lstStyle/>
          <a:p>
            <a:pPr algn="l" indent="0" marL="0">
              <a:buNone/>
            </a:pPr>
            <a:r>
              <a:rPr lang="en-US" sz="1200" dirty="0">
                <a:solidFill>
                  <a:srgbClr val="FFFFFF"/>
                </a:solidFill>
                <a:latin typeface="Arial" pitchFamily="34" charset="0"/>
                <a:ea typeface="Arial" pitchFamily="34" charset="-122"/>
                <a:cs typeface="Arial" pitchFamily="34" charset="-120"/>
              </a:rPr>
              <a:t>API / Intent</a:t>
            </a:r>
            <a:endParaRPr lang="en-US" sz="1200" dirty="0"/>
          </a:p>
        </p:txBody>
      </p:sp>
      <p:sp>
        <p:nvSpPr>
          <p:cNvPr id="33" name="Text 31"/>
          <p:cNvSpPr/>
          <p:nvPr/>
        </p:nvSpPr>
        <p:spPr>
          <a:xfrm>
            <a:off x="16449676" y="4202736"/>
            <a:ext cx="349704"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EMIT</a:t>
            </a:r>
            <a:endParaRPr lang="en-US" sz="825" dirty="0"/>
          </a:p>
        </p:txBody>
      </p:sp>
      <p:sp>
        <p:nvSpPr>
          <p:cNvPr id="34" name="Text 32"/>
          <p:cNvSpPr/>
          <p:nvPr/>
        </p:nvSpPr>
        <p:spPr>
          <a:xfrm>
            <a:off x="9889400" y="4782401"/>
            <a:ext cx="7119802" cy="179614"/>
          </a:xfrm>
          <a:prstGeom prst="rect">
            <a:avLst/>
          </a:prstGeom>
          <a:noFill/>
          <a:ln/>
        </p:spPr>
        <p:txBody>
          <a:bodyPr wrap="square" lIns="25400" tIns="25400" rIns="25400" bIns="25400" rtlCol="0" anchor="t">
            <a:normAutofit/>
          </a:bodyPr>
          <a:lstStyle/>
          <a:p>
            <a:pPr algn="ctr" indent="0" marL="0">
              <a:buNone/>
            </a:pPr>
            <a:r>
              <a:rPr lang="en-US" sz="825" spc="24" kern="0" dirty="0">
                <a:solidFill>
                  <a:srgbClr val="78A9FF"/>
                </a:solidFill>
                <a:latin typeface="Arial" pitchFamily="34" charset="0"/>
                <a:ea typeface="Arial" pitchFamily="34" charset="-122"/>
                <a:cs typeface="Arial" pitchFamily="34" charset="-120"/>
              </a:rPr>
              <a:t>APPEND ↓</a:t>
            </a:r>
            <a:endParaRPr lang="en-US" sz="825" dirty="0"/>
          </a:p>
        </p:txBody>
      </p:sp>
      <p:sp>
        <p:nvSpPr>
          <p:cNvPr id="35" name="Shape 33"/>
          <p:cNvSpPr/>
          <p:nvPr/>
        </p:nvSpPr>
        <p:spPr>
          <a:xfrm>
            <a:off x="9993087" y="5190615"/>
            <a:ext cx="6912429" cy="1325336"/>
          </a:xfrm>
          <a:prstGeom prst="rect">
            <a:avLst/>
          </a:prstGeom>
          <a:solidFill>
            <a:srgbClr val="161616"/>
          </a:solidFill>
          <a:ln w="10886">
            <a:solidFill>
              <a:srgbClr val="161616"/>
            </a:solidFill>
            <a:prstDash val="solid"/>
          </a:ln>
        </p:spPr>
      </p:sp>
      <p:sp>
        <p:nvSpPr>
          <p:cNvPr id="36" name="Text 34"/>
          <p:cNvSpPr/>
          <p:nvPr/>
        </p:nvSpPr>
        <p:spPr>
          <a:xfrm>
            <a:off x="10194472" y="5372951"/>
            <a:ext cx="1375172"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IMMUTABLE EVENT LOG</a:t>
            </a:r>
            <a:endParaRPr lang="en-US" sz="825" dirty="0"/>
          </a:p>
        </p:txBody>
      </p:sp>
      <p:sp>
        <p:nvSpPr>
          <p:cNvPr id="37" name="Text 35"/>
          <p:cNvSpPr/>
          <p:nvPr/>
        </p:nvSpPr>
        <p:spPr>
          <a:xfrm>
            <a:off x="15951995" y="5372951"/>
            <a:ext cx="828335"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APPEND-ONLY</a:t>
            </a:r>
            <a:endParaRPr lang="en-US" sz="825" dirty="0"/>
          </a:p>
        </p:txBody>
      </p:sp>
      <p:sp>
        <p:nvSpPr>
          <p:cNvPr id="38" name="Text 36"/>
          <p:cNvSpPr/>
          <p:nvPr/>
        </p:nvSpPr>
        <p:spPr>
          <a:xfrm>
            <a:off x="10194472" y="5609715"/>
            <a:ext cx="6858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8D8D8D"/>
                </a:solidFill>
                <a:latin typeface="Arial" pitchFamily="34" charset="0"/>
                <a:ea typeface="Arial" pitchFamily="34" charset="-122"/>
                <a:cs typeface="Arial" pitchFamily="34" charset="-120"/>
              </a:rPr>
              <a:t>14:02:11</a:t>
            </a:r>
            <a:endParaRPr lang="en-US" sz="900" dirty="0"/>
          </a:p>
        </p:txBody>
      </p:sp>
      <p:sp>
        <p:nvSpPr>
          <p:cNvPr id="39" name="Text 37"/>
          <p:cNvSpPr/>
          <p:nvPr/>
        </p:nvSpPr>
        <p:spPr>
          <a:xfrm>
            <a:off x="10918372" y="5609715"/>
            <a:ext cx="10668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AccountOpened</a:t>
            </a:r>
            <a:endParaRPr lang="en-US" sz="900" dirty="0"/>
          </a:p>
        </p:txBody>
      </p:sp>
      <p:sp>
        <p:nvSpPr>
          <p:cNvPr id="40" name="Text 38"/>
          <p:cNvSpPr/>
          <p:nvPr/>
        </p:nvSpPr>
        <p:spPr>
          <a:xfrm>
            <a:off x="10194472" y="5800215"/>
            <a:ext cx="6858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8D8D8D"/>
                </a:solidFill>
                <a:latin typeface="Arial" pitchFamily="34" charset="0"/>
                <a:ea typeface="Arial" pitchFamily="34" charset="-122"/>
                <a:cs typeface="Arial" pitchFamily="34" charset="-120"/>
              </a:rPr>
              <a:t>14:02:44</a:t>
            </a:r>
            <a:endParaRPr lang="en-US" sz="900" dirty="0"/>
          </a:p>
        </p:txBody>
      </p:sp>
      <p:sp>
        <p:nvSpPr>
          <p:cNvPr id="41" name="Text 39"/>
          <p:cNvSpPr/>
          <p:nvPr/>
        </p:nvSpPr>
        <p:spPr>
          <a:xfrm>
            <a:off x="10918372" y="5800215"/>
            <a:ext cx="7620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CardAdded</a:t>
            </a:r>
            <a:endParaRPr lang="en-US" sz="900" dirty="0"/>
          </a:p>
        </p:txBody>
      </p:sp>
      <p:sp>
        <p:nvSpPr>
          <p:cNvPr id="42" name="Text 40"/>
          <p:cNvSpPr/>
          <p:nvPr/>
        </p:nvSpPr>
        <p:spPr>
          <a:xfrm>
            <a:off x="10194472" y="5990715"/>
            <a:ext cx="6858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8D8D8D"/>
                </a:solidFill>
                <a:latin typeface="Arial" pitchFamily="34" charset="0"/>
                <a:ea typeface="Arial" pitchFamily="34" charset="-122"/>
                <a:cs typeface="Arial" pitchFamily="34" charset="-120"/>
              </a:rPr>
              <a:t>14:03:01</a:t>
            </a:r>
            <a:endParaRPr lang="en-US" sz="900" dirty="0"/>
          </a:p>
        </p:txBody>
      </p:sp>
      <p:sp>
        <p:nvSpPr>
          <p:cNvPr id="43" name="Text 41"/>
          <p:cNvSpPr/>
          <p:nvPr/>
        </p:nvSpPr>
        <p:spPr>
          <a:xfrm>
            <a:off x="10918372" y="5990715"/>
            <a:ext cx="15240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SubscriptionStarted</a:t>
            </a:r>
            <a:endParaRPr lang="en-US" sz="900" dirty="0"/>
          </a:p>
        </p:txBody>
      </p:sp>
      <p:sp>
        <p:nvSpPr>
          <p:cNvPr id="44" name="Text 42"/>
          <p:cNvSpPr/>
          <p:nvPr/>
        </p:nvSpPr>
        <p:spPr>
          <a:xfrm>
            <a:off x="10194472" y="6181215"/>
            <a:ext cx="6858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8D8D8D"/>
                </a:solidFill>
                <a:latin typeface="Arial" pitchFamily="34" charset="0"/>
                <a:ea typeface="Arial" pitchFamily="34" charset="-122"/>
                <a:cs typeface="Arial" pitchFamily="34" charset="-120"/>
              </a:rPr>
              <a:t>14:03:02</a:t>
            </a:r>
            <a:endParaRPr lang="en-US" sz="900" dirty="0"/>
          </a:p>
        </p:txBody>
      </p:sp>
      <p:sp>
        <p:nvSpPr>
          <p:cNvPr id="45" name="Text 43"/>
          <p:cNvSpPr/>
          <p:nvPr/>
        </p:nvSpPr>
        <p:spPr>
          <a:xfrm>
            <a:off x="10918372" y="6181215"/>
            <a:ext cx="990600" cy="19050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ChargeIssued</a:t>
            </a:r>
            <a:endParaRPr lang="en-US" sz="900" dirty="0"/>
          </a:p>
        </p:txBody>
      </p:sp>
      <p:sp>
        <p:nvSpPr>
          <p:cNvPr id="46" name="Text 44"/>
          <p:cNvSpPr/>
          <p:nvPr/>
        </p:nvSpPr>
        <p:spPr>
          <a:xfrm>
            <a:off x="9889400" y="6782651"/>
            <a:ext cx="7119802" cy="179614"/>
          </a:xfrm>
          <a:prstGeom prst="rect">
            <a:avLst/>
          </a:prstGeom>
          <a:noFill/>
          <a:ln/>
        </p:spPr>
        <p:txBody>
          <a:bodyPr wrap="square" lIns="25400" tIns="25400" rIns="25400" bIns="25400" rtlCol="0" anchor="t">
            <a:normAutofit/>
          </a:bodyPr>
          <a:lstStyle/>
          <a:p>
            <a:pPr algn="ctr" indent="0" marL="0">
              <a:buNone/>
            </a:pPr>
            <a:r>
              <a:rPr lang="en-US" sz="825" spc="24" kern="0" dirty="0">
                <a:solidFill>
                  <a:srgbClr val="78A9FF"/>
                </a:solidFill>
                <a:latin typeface="Arial" pitchFamily="34" charset="0"/>
                <a:ea typeface="Arial" pitchFamily="34" charset="-122"/>
                <a:cs typeface="Arial" pitchFamily="34" charset="-120"/>
              </a:rPr>
              <a:t>PROJECTS INTO ↓</a:t>
            </a:r>
            <a:endParaRPr lang="en-US" sz="825" dirty="0"/>
          </a:p>
        </p:txBody>
      </p:sp>
      <p:sp>
        <p:nvSpPr>
          <p:cNvPr id="47" name="Shape 45"/>
          <p:cNvSpPr/>
          <p:nvPr/>
        </p:nvSpPr>
        <p:spPr>
          <a:xfrm>
            <a:off x="9993087" y="7190865"/>
            <a:ext cx="2253343" cy="574221"/>
          </a:xfrm>
          <a:prstGeom prst="rect">
            <a:avLst/>
          </a:prstGeom>
          <a:solidFill>
            <a:srgbClr val="13326B"/>
          </a:solidFill>
          <a:ln w="10886">
            <a:solidFill>
              <a:srgbClr val="234B92"/>
            </a:solidFill>
            <a:prstDash val="solid"/>
          </a:ln>
        </p:spPr>
      </p:sp>
      <p:sp>
        <p:nvSpPr>
          <p:cNvPr id="48" name="Text 46"/>
          <p:cNvSpPr/>
          <p:nvPr/>
        </p:nvSpPr>
        <p:spPr>
          <a:xfrm>
            <a:off x="10118272" y="7297001"/>
            <a:ext cx="759959"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READ MODEL</a:t>
            </a:r>
            <a:endParaRPr lang="en-US" sz="825" dirty="0"/>
          </a:p>
        </p:txBody>
      </p:sp>
      <p:sp>
        <p:nvSpPr>
          <p:cNvPr id="49" name="Text 47"/>
          <p:cNvSpPr/>
          <p:nvPr/>
        </p:nvSpPr>
        <p:spPr>
          <a:xfrm>
            <a:off x="10118272" y="7495665"/>
            <a:ext cx="664029"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Operations</a:t>
            </a:r>
            <a:endParaRPr lang="en-US" sz="975" dirty="0"/>
          </a:p>
        </p:txBody>
      </p:sp>
      <p:sp>
        <p:nvSpPr>
          <p:cNvPr id="50" name="Shape 48"/>
          <p:cNvSpPr/>
          <p:nvPr/>
        </p:nvSpPr>
        <p:spPr>
          <a:xfrm>
            <a:off x="12322629" y="7190865"/>
            <a:ext cx="2253343" cy="574221"/>
          </a:xfrm>
          <a:prstGeom prst="rect">
            <a:avLst/>
          </a:prstGeom>
          <a:solidFill>
            <a:srgbClr val="13326B"/>
          </a:solidFill>
          <a:ln w="10886">
            <a:solidFill>
              <a:srgbClr val="234B92"/>
            </a:solidFill>
            <a:prstDash val="solid"/>
          </a:ln>
        </p:spPr>
      </p:sp>
      <p:sp>
        <p:nvSpPr>
          <p:cNvPr id="51" name="Text 49"/>
          <p:cNvSpPr/>
          <p:nvPr/>
        </p:nvSpPr>
        <p:spPr>
          <a:xfrm>
            <a:off x="12447815" y="7297001"/>
            <a:ext cx="759959"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READ MODEL</a:t>
            </a:r>
            <a:endParaRPr lang="en-US" sz="825" dirty="0"/>
          </a:p>
        </p:txBody>
      </p:sp>
      <p:sp>
        <p:nvSpPr>
          <p:cNvPr id="52" name="Text 50"/>
          <p:cNvSpPr/>
          <p:nvPr/>
        </p:nvSpPr>
        <p:spPr>
          <a:xfrm>
            <a:off x="12447815" y="7495665"/>
            <a:ext cx="566057"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Analytics</a:t>
            </a:r>
            <a:endParaRPr lang="en-US" sz="975" dirty="0"/>
          </a:p>
        </p:txBody>
      </p:sp>
      <p:sp>
        <p:nvSpPr>
          <p:cNvPr id="53" name="Shape 51"/>
          <p:cNvSpPr/>
          <p:nvPr/>
        </p:nvSpPr>
        <p:spPr>
          <a:xfrm>
            <a:off x="14652172" y="7190865"/>
            <a:ext cx="2253343" cy="574221"/>
          </a:xfrm>
          <a:prstGeom prst="rect">
            <a:avLst/>
          </a:prstGeom>
          <a:solidFill>
            <a:srgbClr val="13326B"/>
          </a:solidFill>
          <a:ln w="10886">
            <a:solidFill>
              <a:srgbClr val="234B92"/>
            </a:solidFill>
            <a:prstDash val="solid"/>
          </a:ln>
        </p:spPr>
      </p:sp>
      <p:sp>
        <p:nvSpPr>
          <p:cNvPr id="54" name="Text 52"/>
          <p:cNvSpPr/>
          <p:nvPr/>
        </p:nvSpPr>
        <p:spPr>
          <a:xfrm>
            <a:off x="14777357" y="7297001"/>
            <a:ext cx="759959"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READ MODEL</a:t>
            </a:r>
            <a:endParaRPr lang="en-US" sz="825" dirty="0"/>
          </a:p>
        </p:txBody>
      </p:sp>
      <p:sp>
        <p:nvSpPr>
          <p:cNvPr id="55" name="Text 53"/>
          <p:cNvSpPr/>
          <p:nvPr/>
        </p:nvSpPr>
        <p:spPr>
          <a:xfrm>
            <a:off x="14777357" y="7495665"/>
            <a:ext cx="7620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ML / training</a:t>
            </a:r>
            <a:endParaRPr lang="en-US" sz="975" dirty="0"/>
          </a:p>
        </p:txBody>
      </p:sp>
      <p:sp>
        <p:nvSpPr>
          <p:cNvPr id="56" name="Text 54"/>
          <p:cNvSpPr/>
          <p:nvPr/>
        </p:nvSpPr>
        <p:spPr>
          <a:xfrm>
            <a:off x="9993087" y="8523515"/>
            <a:ext cx="7119802" cy="190500"/>
          </a:xfrm>
          <a:prstGeom prst="rect">
            <a:avLst/>
          </a:prstGeom>
          <a:noFill/>
          <a:ln/>
        </p:spPr>
        <p:txBody>
          <a:bodyPr wrap="square" lIns="25400" tIns="25400" rIns="25400" bIns="25400" rtlCol="0" anchor="t">
            <a:normAutofit/>
          </a:bodyPr>
          <a:lstStyle/>
          <a:p>
            <a:pPr algn="l" indent="0" marL="0">
              <a:buNone/>
            </a:pPr>
            <a:r>
              <a:rPr lang="en-US" sz="900" spc="24" kern="0" dirty="0">
                <a:solidFill>
                  <a:srgbClr val="78A9FF"/>
                </a:solidFill>
                <a:latin typeface="Arial" pitchFamily="34" charset="0"/>
                <a:ea typeface="Arial" pitchFamily="34" charset="-122"/>
                <a:cs typeface="Arial" pitchFamily="34" charset="-120"/>
              </a:rPr>
              <a:t>RESULT — EVERY TENSE IS QUERYABLE.</a:t>
            </a:r>
            <a:endParaRPr lang="en-US" sz="900" dirty="0"/>
          </a:p>
        </p:txBody>
      </p:sp>
      <p:sp>
        <p:nvSpPr>
          <p:cNvPr id="57" name="Text 55"/>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58" name="Shape 56"/>
          <p:cNvSpPr/>
          <p:nvPr/>
        </p:nvSpPr>
        <p:spPr>
          <a:xfrm>
            <a:off x="3003947" y="9729107"/>
            <a:ext cx="38100" cy="38100"/>
          </a:xfrm>
          <a:prstGeom prst="ellipse">
            <a:avLst/>
          </a:prstGeom>
          <a:solidFill>
            <a:srgbClr val="6F6F6F"/>
          </a:solidFill>
          <a:ln/>
        </p:spPr>
      </p:sp>
      <p:sp>
        <p:nvSpPr>
          <p:cNvPr id="59" name="Text 57"/>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60" name="Text 58"/>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03 / 13</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01</a:t>
            </a:r>
            <a:endParaRPr lang="en-US" sz="10500" dirty="0"/>
          </a:p>
        </p:txBody>
      </p:sp>
      <p:sp>
        <p:nvSpPr>
          <p:cNvPr id="4" name="Text 2"/>
          <p:cNvSpPr/>
          <p:nvPr/>
        </p:nvSpPr>
        <p:spPr>
          <a:xfrm>
            <a:off x="2982686" y="914400"/>
            <a:ext cx="5302185"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1 OF 6 · COMPLIANCE · HIPAA · SOC 2</a:t>
            </a:r>
            <a:endParaRPr lang="en-US" sz="1350" dirty="0"/>
          </a:p>
        </p:txBody>
      </p:sp>
      <p:sp>
        <p:nvSpPr>
          <p:cNvPr id="5" name="Text 3"/>
          <p:cNvSpPr/>
          <p:nvPr/>
        </p:nvSpPr>
        <p:spPr>
          <a:xfrm>
            <a:off x="2982686" y="1265464"/>
            <a:ext cx="660123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100% Audit Log</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Every change traceable to who did it, when, and why — without extra effort.</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Instead of recording the current state of accounts, orders, and customers, the system records every change as it happens. Nothing is overwritten.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The history is the data </a:t>
            </a:r>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 not a side effect of it.</a:t>
            </a:r>
            <a:endParaRPr lang="en-US" sz="1650" dirty="0"/>
          </a:p>
        </p:txBody>
      </p:sp>
      <p:sp>
        <p:nvSpPr>
          <p:cNvPr id="11" name="Shape 9"/>
          <p:cNvSpPr/>
          <p:nvPr/>
        </p:nvSpPr>
        <p:spPr>
          <a:xfrm>
            <a:off x="1317171" y="5805488"/>
            <a:ext cx="7412321" cy="1924050"/>
          </a:xfrm>
          <a:prstGeom prst="rect">
            <a:avLst/>
          </a:prstGeom>
          <a:solidFill>
            <a:srgbClr val="161616"/>
          </a:solidFill>
          <a:ln/>
        </p:spPr>
      </p:sp>
      <p:sp>
        <p:nvSpPr>
          <p:cNvPr id="12" name="Shape 10"/>
          <p:cNvSpPr/>
          <p:nvPr/>
        </p:nvSpPr>
        <p:spPr>
          <a:xfrm>
            <a:off x="1545771" y="6270852"/>
            <a:ext cx="6955121" cy="10886"/>
          </a:xfrm>
          <a:prstGeom prst="rect">
            <a:avLst/>
          </a:prstGeom>
          <a:solidFill>
            <a:srgbClr val="3A3A3A"/>
          </a:solidFill>
          <a:ln/>
        </p:spPr>
      </p:sp>
      <p:sp>
        <p:nvSpPr>
          <p:cNvPr id="13" name="Text 11"/>
          <p:cNvSpPr/>
          <p:nvPr/>
        </p:nvSpPr>
        <p:spPr>
          <a:xfrm>
            <a:off x="1545771" y="6034088"/>
            <a:ext cx="16002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TIMESTAMP</a:t>
            </a:r>
            <a:endParaRPr lang="en-US" sz="825" dirty="0"/>
          </a:p>
        </p:txBody>
      </p:sp>
      <p:sp>
        <p:nvSpPr>
          <p:cNvPr id="14" name="Text 12"/>
          <p:cNvSpPr/>
          <p:nvPr/>
        </p:nvSpPr>
        <p:spPr>
          <a:xfrm>
            <a:off x="3222172" y="6034088"/>
            <a:ext cx="14097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ACTOR</a:t>
            </a:r>
            <a:endParaRPr lang="en-US" sz="825" dirty="0"/>
          </a:p>
        </p:txBody>
      </p:sp>
      <p:sp>
        <p:nvSpPr>
          <p:cNvPr id="15" name="Text 13"/>
          <p:cNvSpPr/>
          <p:nvPr/>
        </p:nvSpPr>
        <p:spPr>
          <a:xfrm>
            <a:off x="4708072" y="6034088"/>
            <a:ext cx="2964774"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EVENT</a:t>
            </a:r>
            <a:endParaRPr lang="en-US" sz="825" dirty="0"/>
          </a:p>
        </p:txBody>
      </p:sp>
      <p:sp>
        <p:nvSpPr>
          <p:cNvPr id="16" name="Text 14"/>
          <p:cNvSpPr/>
          <p:nvPr/>
        </p:nvSpPr>
        <p:spPr>
          <a:xfrm>
            <a:off x="7738893" y="6034088"/>
            <a:ext cx="83820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STREAM</a:t>
            </a:r>
            <a:endParaRPr lang="en-US" sz="825" dirty="0"/>
          </a:p>
        </p:txBody>
      </p:sp>
      <p:sp>
        <p:nvSpPr>
          <p:cNvPr id="17" name="Shape 15"/>
          <p:cNvSpPr/>
          <p:nvPr/>
        </p:nvSpPr>
        <p:spPr>
          <a:xfrm>
            <a:off x="1545771" y="6616473"/>
            <a:ext cx="6955121" cy="10886"/>
          </a:xfrm>
          <a:prstGeom prst="rect">
            <a:avLst/>
          </a:prstGeom>
          <a:solidFill>
            <a:srgbClr val="2A2A2A"/>
          </a:solidFill>
          <a:ln/>
        </p:spPr>
      </p:sp>
      <p:sp>
        <p:nvSpPr>
          <p:cNvPr id="18" name="Text 16"/>
          <p:cNvSpPr/>
          <p:nvPr/>
        </p:nvSpPr>
        <p:spPr>
          <a:xfrm>
            <a:off x="1545771" y="6415088"/>
            <a:ext cx="16002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8D8D8D"/>
                </a:solidFill>
                <a:latin typeface="Arial" pitchFamily="34" charset="0"/>
                <a:ea typeface="Arial" pitchFamily="34" charset="-122"/>
                <a:cs typeface="Arial" pitchFamily="34" charset="-120"/>
              </a:rPr>
              <a:t>2026-03-14 09:12:04</a:t>
            </a:r>
            <a:endParaRPr lang="en-US" sz="975" dirty="0"/>
          </a:p>
        </p:txBody>
      </p:sp>
      <p:sp>
        <p:nvSpPr>
          <p:cNvPr id="19" name="Text 17"/>
          <p:cNvSpPr/>
          <p:nvPr/>
        </p:nvSpPr>
        <p:spPr>
          <a:xfrm>
            <a:off x="3222172" y="6415088"/>
            <a:ext cx="14097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C6C6C6"/>
                </a:solidFill>
                <a:latin typeface="Arial" pitchFamily="34" charset="0"/>
                <a:ea typeface="Arial" pitchFamily="34" charset="-122"/>
                <a:cs typeface="Arial" pitchFamily="34" charset="-120"/>
              </a:rPr>
              <a:t>svc:billing</a:t>
            </a:r>
            <a:endParaRPr lang="en-US" sz="975" dirty="0"/>
          </a:p>
        </p:txBody>
      </p:sp>
      <p:sp>
        <p:nvSpPr>
          <p:cNvPr id="20" name="Text 18"/>
          <p:cNvSpPr/>
          <p:nvPr/>
        </p:nvSpPr>
        <p:spPr>
          <a:xfrm>
            <a:off x="4708072" y="6415088"/>
            <a:ext cx="2964774"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ChargeIssued · $49.00</a:t>
            </a:r>
            <a:endParaRPr lang="en-US" sz="975" dirty="0"/>
          </a:p>
        </p:txBody>
      </p:sp>
      <p:sp>
        <p:nvSpPr>
          <p:cNvPr id="21" name="Text 19"/>
          <p:cNvSpPr/>
          <p:nvPr/>
        </p:nvSpPr>
        <p:spPr>
          <a:xfrm>
            <a:off x="7662693" y="6415088"/>
            <a:ext cx="838200" cy="201386"/>
          </a:xfrm>
          <a:prstGeom prst="rect">
            <a:avLst/>
          </a:prstGeom>
          <a:noFill/>
          <a:ln/>
        </p:spPr>
        <p:txBody>
          <a:bodyPr wrap="square" lIns="25400" tIns="25400" rIns="25400" bIns="25400" rtlCol="0" anchor="t">
            <a:normAutofit/>
          </a:bodyPr>
          <a:lstStyle/>
          <a:p>
            <a:pPr algn="r" indent="0" marL="0">
              <a:buNone/>
            </a:pPr>
            <a:r>
              <a:rPr lang="en-US" sz="975" dirty="0">
                <a:solidFill>
                  <a:srgbClr val="78A9FF"/>
                </a:solidFill>
                <a:latin typeface="Arial" pitchFamily="34" charset="0"/>
                <a:ea typeface="Arial" pitchFamily="34" charset="-122"/>
                <a:cs typeface="Arial" pitchFamily="34" charset="-120"/>
              </a:rPr>
              <a:t>acct-8821</a:t>
            </a:r>
            <a:endParaRPr lang="en-US" sz="975" dirty="0"/>
          </a:p>
        </p:txBody>
      </p:sp>
      <p:sp>
        <p:nvSpPr>
          <p:cNvPr id="22" name="Shape 20"/>
          <p:cNvSpPr/>
          <p:nvPr/>
        </p:nvSpPr>
        <p:spPr>
          <a:xfrm>
            <a:off x="1545771" y="6923995"/>
            <a:ext cx="6955121" cy="10886"/>
          </a:xfrm>
          <a:prstGeom prst="rect">
            <a:avLst/>
          </a:prstGeom>
          <a:solidFill>
            <a:srgbClr val="2A2A2A"/>
          </a:solidFill>
          <a:ln/>
        </p:spPr>
      </p:sp>
      <p:sp>
        <p:nvSpPr>
          <p:cNvPr id="23" name="Text 21"/>
          <p:cNvSpPr/>
          <p:nvPr/>
        </p:nvSpPr>
        <p:spPr>
          <a:xfrm>
            <a:off x="1545771" y="6722609"/>
            <a:ext cx="16002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8D8D8D"/>
                </a:solidFill>
                <a:latin typeface="Arial" pitchFamily="34" charset="0"/>
                <a:ea typeface="Arial" pitchFamily="34" charset="-122"/>
                <a:cs typeface="Arial" pitchFamily="34" charset="-120"/>
              </a:rPr>
              <a:t>2026-03-14 09:12:07</a:t>
            </a:r>
            <a:endParaRPr lang="en-US" sz="975" dirty="0"/>
          </a:p>
        </p:txBody>
      </p:sp>
      <p:sp>
        <p:nvSpPr>
          <p:cNvPr id="24" name="Text 22"/>
          <p:cNvSpPr/>
          <p:nvPr/>
        </p:nvSpPr>
        <p:spPr>
          <a:xfrm>
            <a:off x="3222172" y="6722609"/>
            <a:ext cx="14097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C6C6C6"/>
                </a:solidFill>
                <a:latin typeface="Arial" pitchFamily="34" charset="0"/>
                <a:ea typeface="Arial" pitchFamily="34" charset="-122"/>
                <a:cs typeface="Arial" pitchFamily="34" charset="-120"/>
              </a:rPr>
              <a:t>svc:billing</a:t>
            </a:r>
            <a:endParaRPr lang="en-US" sz="975" dirty="0"/>
          </a:p>
        </p:txBody>
      </p:sp>
      <p:sp>
        <p:nvSpPr>
          <p:cNvPr id="25" name="Text 23"/>
          <p:cNvSpPr/>
          <p:nvPr/>
        </p:nvSpPr>
        <p:spPr>
          <a:xfrm>
            <a:off x="4708072" y="6722609"/>
            <a:ext cx="2964774"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ChargeRetried</a:t>
            </a:r>
            <a:endParaRPr lang="en-US" sz="975" dirty="0"/>
          </a:p>
        </p:txBody>
      </p:sp>
      <p:sp>
        <p:nvSpPr>
          <p:cNvPr id="26" name="Text 24"/>
          <p:cNvSpPr/>
          <p:nvPr/>
        </p:nvSpPr>
        <p:spPr>
          <a:xfrm>
            <a:off x="7662693" y="6722609"/>
            <a:ext cx="838200" cy="201386"/>
          </a:xfrm>
          <a:prstGeom prst="rect">
            <a:avLst/>
          </a:prstGeom>
          <a:noFill/>
          <a:ln/>
        </p:spPr>
        <p:txBody>
          <a:bodyPr wrap="square" lIns="25400" tIns="25400" rIns="25400" bIns="25400" rtlCol="0" anchor="t">
            <a:normAutofit/>
          </a:bodyPr>
          <a:lstStyle/>
          <a:p>
            <a:pPr algn="r" indent="0" marL="0">
              <a:buNone/>
            </a:pPr>
            <a:r>
              <a:rPr lang="en-US" sz="975" dirty="0">
                <a:solidFill>
                  <a:srgbClr val="78A9FF"/>
                </a:solidFill>
                <a:latin typeface="Arial" pitchFamily="34" charset="0"/>
                <a:ea typeface="Arial" pitchFamily="34" charset="-122"/>
                <a:cs typeface="Arial" pitchFamily="34" charset="-120"/>
              </a:rPr>
              <a:t>acct-8821</a:t>
            </a:r>
            <a:endParaRPr lang="en-US" sz="975" dirty="0"/>
          </a:p>
        </p:txBody>
      </p:sp>
      <p:sp>
        <p:nvSpPr>
          <p:cNvPr id="27" name="Shape 25"/>
          <p:cNvSpPr/>
          <p:nvPr/>
        </p:nvSpPr>
        <p:spPr>
          <a:xfrm>
            <a:off x="1545771" y="7231516"/>
            <a:ext cx="6955121" cy="10886"/>
          </a:xfrm>
          <a:prstGeom prst="rect">
            <a:avLst/>
          </a:prstGeom>
          <a:solidFill>
            <a:srgbClr val="2A2A2A"/>
          </a:solidFill>
          <a:ln/>
        </p:spPr>
      </p:sp>
      <p:sp>
        <p:nvSpPr>
          <p:cNvPr id="28" name="Text 26"/>
          <p:cNvSpPr/>
          <p:nvPr/>
        </p:nvSpPr>
        <p:spPr>
          <a:xfrm>
            <a:off x="1545771" y="7030131"/>
            <a:ext cx="16002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8D8D8D"/>
                </a:solidFill>
                <a:latin typeface="Arial" pitchFamily="34" charset="0"/>
                <a:ea typeface="Arial" pitchFamily="34" charset="-122"/>
                <a:cs typeface="Arial" pitchFamily="34" charset="-120"/>
              </a:rPr>
              <a:t>2026-03-14 09:12:09</a:t>
            </a:r>
            <a:endParaRPr lang="en-US" sz="975" dirty="0"/>
          </a:p>
        </p:txBody>
      </p:sp>
      <p:sp>
        <p:nvSpPr>
          <p:cNvPr id="29" name="Text 27"/>
          <p:cNvSpPr/>
          <p:nvPr/>
        </p:nvSpPr>
        <p:spPr>
          <a:xfrm>
            <a:off x="3222172" y="7030131"/>
            <a:ext cx="14097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C6C6C6"/>
                </a:solidFill>
                <a:latin typeface="Arial" pitchFamily="34" charset="0"/>
                <a:ea typeface="Arial" pitchFamily="34" charset="-122"/>
                <a:cs typeface="Arial" pitchFamily="34" charset="-120"/>
              </a:rPr>
              <a:t>svc:billing</a:t>
            </a:r>
            <a:endParaRPr lang="en-US" sz="975" dirty="0"/>
          </a:p>
        </p:txBody>
      </p:sp>
      <p:sp>
        <p:nvSpPr>
          <p:cNvPr id="30" name="Text 28"/>
          <p:cNvSpPr/>
          <p:nvPr/>
        </p:nvSpPr>
        <p:spPr>
          <a:xfrm>
            <a:off x="4708072" y="7030131"/>
            <a:ext cx="2964774"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ChargeIssued · $49.00</a:t>
            </a:r>
            <a:endParaRPr lang="en-US" sz="975" dirty="0"/>
          </a:p>
        </p:txBody>
      </p:sp>
      <p:sp>
        <p:nvSpPr>
          <p:cNvPr id="31" name="Text 29"/>
          <p:cNvSpPr/>
          <p:nvPr/>
        </p:nvSpPr>
        <p:spPr>
          <a:xfrm>
            <a:off x="7662693" y="7030131"/>
            <a:ext cx="838200" cy="201386"/>
          </a:xfrm>
          <a:prstGeom prst="rect">
            <a:avLst/>
          </a:prstGeom>
          <a:noFill/>
          <a:ln/>
        </p:spPr>
        <p:txBody>
          <a:bodyPr wrap="square" lIns="25400" tIns="25400" rIns="25400" bIns="25400" rtlCol="0" anchor="t">
            <a:normAutofit/>
          </a:bodyPr>
          <a:lstStyle/>
          <a:p>
            <a:pPr algn="r" indent="0" marL="0">
              <a:buNone/>
            </a:pPr>
            <a:r>
              <a:rPr lang="en-US" sz="975" dirty="0">
                <a:solidFill>
                  <a:srgbClr val="78A9FF"/>
                </a:solidFill>
                <a:latin typeface="Arial" pitchFamily="34" charset="0"/>
                <a:ea typeface="Arial" pitchFamily="34" charset="-122"/>
                <a:cs typeface="Arial" pitchFamily="34" charset="-120"/>
              </a:rPr>
              <a:t>acct-8821</a:t>
            </a:r>
            <a:endParaRPr lang="en-US" sz="975" dirty="0"/>
          </a:p>
        </p:txBody>
      </p:sp>
      <p:sp>
        <p:nvSpPr>
          <p:cNvPr id="32" name="Text 30"/>
          <p:cNvSpPr/>
          <p:nvPr/>
        </p:nvSpPr>
        <p:spPr>
          <a:xfrm>
            <a:off x="1545771" y="7337652"/>
            <a:ext cx="16002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8D8D8D"/>
                </a:solidFill>
                <a:latin typeface="Arial" pitchFamily="34" charset="0"/>
                <a:ea typeface="Arial" pitchFamily="34" charset="-122"/>
                <a:cs typeface="Arial" pitchFamily="34" charset="-120"/>
              </a:rPr>
              <a:t>2026-03-14 14:31:18</a:t>
            </a:r>
            <a:endParaRPr lang="en-US" sz="975" dirty="0"/>
          </a:p>
        </p:txBody>
      </p:sp>
      <p:sp>
        <p:nvSpPr>
          <p:cNvPr id="33" name="Text 31"/>
          <p:cNvSpPr/>
          <p:nvPr/>
        </p:nvSpPr>
        <p:spPr>
          <a:xfrm>
            <a:off x="3222172" y="7337652"/>
            <a:ext cx="1409700" cy="201386"/>
          </a:xfrm>
          <a:prstGeom prst="rect">
            <a:avLst/>
          </a:prstGeom>
          <a:noFill/>
          <a:ln/>
        </p:spPr>
        <p:txBody>
          <a:bodyPr wrap="square" lIns="25400" tIns="25400" rIns="25400" bIns="25400" rtlCol="0" anchor="t">
            <a:normAutofit/>
          </a:bodyPr>
          <a:lstStyle/>
          <a:p>
            <a:pPr algn="l" indent="0" marL="0">
              <a:buNone/>
            </a:pPr>
            <a:r>
              <a:rPr lang="en-US" sz="975" dirty="0">
                <a:solidFill>
                  <a:srgbClr val="C6C6C6"/>
                </a:solidFill>
                <a:latin typeface="Arial" pitchFamily="34" charset="0"/>
                <a:ea typeface="Arial" pitchFamily="34" charset="-122"/>
                <a:cs typeface="Arial" pitchFamily="34" charset="-120"/>
              </a:rPr>
              <a:t>user:j.ops</a:t>
            </a:r>
            <a:endParaRPr lang="en-US" sz="975" dirty="0"/>
          </a:p>
        </p:txBody>
      </p:sp>
      <p:sp>
        <p:nvSpPr>
          <p:cNvPr id="34" name="Text 32"/>
          <p:cNvSpPr/>
          <p:nvPr/>
        </p:nvSpPr>
        <p:spPr>
          <a:xfrm>
            <a:off x="4708072" y="7337652"/>
            <a:ext cx="2964774"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ChargeReversed · duplicate</a:t>
            </a:r>
            <a:endParaRPr lang="en-US" sz="975" dirty="0"/>
          </a:p>
        </p:txBody>
      </p:sp>
      <p:sp>
        <p:nvSpPr>
          <p:cNvPr id="35" name="Text 33"/>
          <p:cNvSpPr/>
          <p:nvPr/>
        </p:nvSpPr>
        <p:spPr>
          <a:xfrm>
            <a:off x="7662693" y="7337652"/>
            <a:ext cx="838200" cy="201386"/>
          </a:xfrm>
          <a:prstGeom prst="rect">
            <a:avLst/>
          </a:prstGeom>
          <a:noFill/>
          <a:ln/>
        </p:spPr>
        <p:txBody>
          <a:bodyPr wrap="square" lIns="25400" tIns="25400" rIns="25400" bIns="25400" rtlCol="0" anchor="t">
            <a:normAutofit/>
          </a:bodyPr>
          <a:lstStyle/>
          <a:p>
            <a:pPr algn="r" indent="0" marL="0">
              <a:buNone/>
            </a:pPr>
            <a:r>
              <a:rPr lang="en-US" sz="975" dirty="0">
                <a:solidFill>
                  <a:srgbClr val="78A9FF"/>
                </a:solidFill>
                <a:latin typeface="Arial" pitchFamily="34" charset="0"/>
                <a:ea typeface="Arial" pitchFamily="34" charset="-122"/>
                <a:cs typeface="Arial" pitchFamily="34" charset="-120"/>
              </a:rPr>
              <a:t>acct-8821</a:t>
            </a:r>
            <a:endParaRPr lang="en-US" sz="975" dirty="0"/>
          </a:p>
        </p:txBody>
      </p:sp>
      <p:sp>
        <p:nvSpPr>
          <p:cNvPr id="36" name="Shape 34"/>
          <p:cNvSpPr/>
          <p:nvPr/>
        </p:nvSpPr>
        <p:spPr>
          <a:xfrm>
            <a:off x="9567693" y="3937227"/>
            <a:ext cx="2500313" cy="1424838"/>
          </a:xfrm>
          <a:prstGeom prst="rect">
            <a:avLst/>
          </a:prstGeom>
          <a:solidFill>
            <a:srgbClr val="F4F4F4"/>
          </a:solidFill>
          <a:ln/>
        </p:spPr>
      </p:sp>
      <p:sp>
        <p:nvSpPr>
          <p:cNvPr id="37" name="Shape 35"/>
          <p:cNvSpPr/>
          <p:nvPr/>
        </p:nvSpPr>
        <p:spPr>
          <a:xfrm>
            <a:off x="9567693" y="3937227"/>
            <a:ext cx="2500313" cy="10886"/>
          </a:xfrm>
          <a:prstGeom prst="rect">
            <a:avLst/>
          </a:prstGeom>
          <a:solidFill>
            <a:srgbClr val="0F62FE"/>
          </a:solidFill>
          <a:ln/>
        </p:spPr>
      </p:sp>
      <p:sp>
        <p:nvSpPr>
          <p:cNvPr id="38" name="Text 36"/>
          <p:cNvSpPr/>
          <p:nvPr/>
        </p:nvSpPr>
        <p:spPr>
          <a:xfrm>
            <a:off x="9796293"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Regulatory response</a:t>
            </a:r>
            <a:endParaRPr lang="en-US" sz="1350" dirty="0"/>
          </a:p>
        </p:txBody>
      </p:sp>
      <p:sp>
        <p:nvSpPr>
          <p:cNvPr id="39" name="Text 37"/>
          <p:cNvSpPr/>
          <p:nvPr/>
        </p:nvSpPr>
        <p:spPr>
          <a:xfrm>
            <a:off x="9796293"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Auditor requests answered in minutes, not days. The audit log </a:t>
            </a:r>
            <a:pPr algn="l" indent="0" marL="0">
              <a:lnSpc>
                <a:spcPct val="145000"/>
              </a:lnSpc>
              <a:buNone/>
            </a:pPr>
            <a:r>
              <a:rPr lang="en-US" sz="1125" i="1" dirty="0">
                <a:solidFill>
                  <a:srgbClr val="525252"/>
                </a:solidFill>
                <a:latin typeface="Arial" pitchFamily="34" charset="0"/>
                <a:ea typeface="Arial" pitchFamily="34" charset="-122"/>
                <a:cs typeface="Arial" pitchFamily="34" charset="-120"/>
              </a:rPr>
              <a:t>is </a:t>
            </a:r>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the system itself.</a:t>
            </a:r>
            <a:endParaRPr lang="en-US" sz="1125" dirty="0"/>
          </a:p>
        </p:txBody>
      </p:sp>
      <p:sp>
        <p:nvSpPr>
          <p:cNvPr id="40" name="Shape 38"/>
          <p:cNvSpPr/>
          <p:nvPr/>
        </p:nvSpPr>
        <p:spPr>
          <a:xfrm>
            <a:off x="12220405" y="3937227"/>
            <a:ext cx="2500313" cy="1424838"/>
          </a:xfrm>
          <a:prstGeom prst="rect">
            <a:avLst/>
          </a:prstGeom>
          <a:solidFill>
            <a:srgbClr val="F4F4F4"/>
          </a:solidFill>
          <a:ln/>
        </p:spPr>
      </p:sp>
      <p:sp>
        <p:nvSpPr>
          <p:cNvPr id="41" name="Shape 39"/>
          <p:cNvSpPr/>
          <p:nvPr/>
        </p:nvSpPr>
        <p:spPr>
          <a:xfrm>
            <a:off x="12220405" y="3937227"/>
            <a:ext cx="2500313" cy="10886"/>
          </a:xfrm>
          <a:prstGeom prst="rect">
            <a:avLst/>
          </a:prstGeom>
          <a:solidFill>
            <a:srgbClr val="0F62FE"/>
          </a:solidFill>
          <a:ln/>
        </p:spPr>
      </p:sp>
      <p:sp>
        <p:nvSpPr>
          <p:cNvPr id="42" name="Text 40"/>
          <p:cNvSpPr/>
          <p:nvPr/>
        </p:nvSpPr>
        <p:spPr>
          <a:xfrm>
            <a:off x="12449005"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Customer support</a:t>
            </a:r>
            <a:endParaRPr lang="en-US" sz="1350" dirty="0"/>
          </a:p>
        </p:txBody>
      </p:sp>
      <p:sp>
        <p:nvSpPr>
          <p:cNvPr id="43" name="Text 41"/>
          <p:cNvSpPr/>
          <p:nvPr/>
        </p:nvSpPr>
        <p:spPr>
          <a:xfrm>
            <a:off x="12449005"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"Why did my account get charged twice?" answered with the actual sequence of events.</a:t>
            </a:r>
            <a:endParaRPr lang="en-US" sz="1125" dirty="0"/>
          </a:p>
        </p:txBody>
      </p:sp>
      <p:sp>
        <p:nvSpPr>
          <p:cNvPr id="44" name="Shape 42"/>
          <p:cNvSpPr/>
          <p:nvPr/>
        </p:nvSpPr>
        <p:spPr>
          <a:xfrm>
            <a:off x="14873118" y="3937227"/>
            <a:ext cx="2500313" cy="1424838"/>
          </a:xfrm>
          <a:prstGeom prst="rect">
            <a:avLst/>
          </a:prstGeom>
          <a:solidFill>
            <a:srgbClr val="F4F4F4"/>
          </a:solidFill>
          <a:ln/>
        </p:spPr>
      </p:sp>
      <p:sp>
        <p:nvSpPr>
          <p:cNvPr id="45" name="Shape 43"/>
          <p:cNvSpPr/>
          <p:nvPr/>
        </p:nvSpPr>
        <p:spPr>
          <a:xfrm>
            <a:off x="14873118" y="3937227"/>
            <a:ext cx="2500313" cy="10886"/>
          </a:xfrm>
          <a:prstGeom prst="rect">
            <a:avLst/>
          </a:prstGeom>
          <a:solidFill>
            <a:srgbClr val="0F62FE"/>
          </a:solidFill>
          <a:ln/>
        </p:spPr>
      </p:sp>
      <p:sp>
        <p:nvSpPr>
          <p:cNvPr id="46" name="Text 44"/>
          <p:cNvSpPr/>
          <p:nvPr/>
        </p:nvSpPr>
        <p:spPr>
          <a:xfrm>
            <a:off x="15101718"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Bug investigation</a:t>
            </a:r>
            <a:endParaRPr lang="en-US" sz="1350" dirty="0"/>
          </a:p>
        </p:txBody>
      </p:sp>
      <p:sp>
        <p:nvSpPr>
          <p:cNvPr id="47" name="Text 45"/>
          <p:cNvSpPr/>
          <p:nvPr/>
        </p:nvSpPr>
        <p:spPr>
          <a:xfrm>
            <a:off x="15101718"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"What was the system seeing when it made that decision?" becomes a query, not a guess.</a:t>
            </a:r>
            <a:endParaRPr lang="en-US" sz="1125" dirty="0"/>
          </a:p>
        </p:txBody>
      </p:sp>
      <p:sp>
        <p:nvSpPr>
          <p:cNvPr id="48" name="Shape 46"/>
          <p:cNvSpPr/>
          <p:nvPr/>
        </p:nvSpPr>
        <p:spPr>
          <a:xfrm>
            <a:off x="9567693" y="7453313"/>
            <a:ext cx="7805908" cy="1690688"/>
          </a:xfrm>
          <a:prstGeom prst="rect">
            <a:avLst/>
          </a:prstGeom>
          <a:solidFill>
            <a:srgbClr val="262626"/>
          </a:solidFill>
          <a:ln/>
        </p:spPr>
      </p:sp>
      <p:sp>
        <p:nvSpPr>
          <p:cNvPr id="49" name="Text 47"/>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50" name="Text 48"/>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"When the auditor asked why account X was charged twice on March 14, we answered in five minutes with the full sequence of events. Not three days of log spelunking."</a:t>
            </a:r>
            <a:endParaRPr lang="en-US" sz="1650" dirty="0"/>
          </a:p>
        </p:txBody>
      </p:sp>
      <p:sp>
        <p:nvSpPr>
          <p:cNvPr id="51" name="Text 49"/>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52" name="Shape 50"/>
          <p:cNvSpPr/>
          <p:nvPr/>
        </p:nvSpPr>
        <p:spPr>
          <a:xfrm>
            <a:off x="3003947" y="9729107"/>
            <a:ext cx="38100" cy="38100"/>
          </a:xfrm>
          <a:prstGeom prst="ellipse">
            <a:avLst/>
          </a:prstGeom>
          <a:solidFill>
            <a:srgbClr val="6F6F6F"/>
          </a:solidFill>
          <a:ln/>
        </p:spPr>
      </p:sp>
      <p:sp>
        <p:nvSpPr>
          <p:cNvPr id="53" name="Text 51"/>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54" name="Text 52"/>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04 / 13</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02</a:t>
            </a:r>
            <a:endParaRPr lang="en-US" sz="10500" dirty="0"/>
          </a:p>
        </p:txBody>
      </p:sp>
      <p:sp>
        <p:nvSpPr>
          <p:cNvPr id="4" name="Text 2"/>
          <p:cNvSpPr/>
          <p:nvPr/>
        </p:nvSpPr>
        <p:spPr>
          <a:xfrm>
            <a:off x="2982686" y="914400"/>
            <a:ext cx="5993668"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2 OF 6 · FORENSICS · DISPUTES · ANALYTICS</a:t>
            </a:r>
            <a:endParaRPr lang="en-US" sz="1350" dirty="0"/>
          </a:p>
        </p:txBody>
      </p:sp>
      <p:sp>
        <p:nvSpPr>
          <p:cNvPr id="5" name="Text 3"/>
          <p:cNvSpPr/>
          <p:nvPr/>
        </p:nvSpPr>
        <p:spPr>
          <a:xfrm>
            <a:off x="2982686" y="1265464"/>
            <a:ext cx="5993668"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Time-Travel</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Reconstruct the exact state of any account, order, or system at any past moment.</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Because the system stores events rather than overwriting state, we can replay events up to any point in time and see exactly what the system looked like then.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The past is never lost.</a:t>
            </a:r>
            <a:endParaRPr lang="en-US" sz="1650" dirty="0"/>
          </a:p>
        </p:txBody>
      </p:sp>
      <p:sp>
        <p:nvSpPr>
          <p:cNvPr id="11" name="Shape 9"/>
          <p:cNvSpPr/>
          <p:nvPr/>
        </p:nvSpPr>
        <p:spPr>
          <a:xfrm>
            <a:off x="1317171" y="5805488"/>
            <a:ext cx="7412321" cy="971550"/>
          </a:xfrm>
          <a:prstGeom prst="rect">
            <a:avLst/>
          </a:prstGeom>
          <a:solidFill>
            <a:srgbClr val="F4F4F4"/>
          </a:solidFill>
          <a:ln/>
        </p:spPr>
      </p:sp>
      <p:sp>
        <p:nvSpPr>
          <p:cNvPr id="12" name="Shape 10"/>
          <p:cNvSpPr/>
          <p:nvPr/>
        </p:nvSpPr>
        <p:spPr>
          <a:xfrm>
            <a:off x="1507671" y="6281738"/>
            <a:ext cx="1171745" cy="19050"/>
          </a:xfrm>
          <a:prstGeom prst="rect">
            <a:avLst/>
          </a:prstGeom>
          <a:solidFill>
            <a:srgbClr val="C6C6C6"/>
          </a:solidFill>
          <a:ln/>
        </p:spPr>
      </p:sp>
      <p:sp>
        <p:nvSpPr>
          <p:cNvPr id="13" name="Shape 11"/>
          <p:cNvSpPr/>
          <p:nvPr/>
        </p:nvSpPr>
        <p:spPr>
          <a:xfrm>
            <a:off x="2036309" y="6234113"/>
            <a:ext cx="114300" cy="114300"/>
          </a:xfrm>
          <a:prstGeom prst="ellipse">
            <a:avLst/>
          </a:prstGeom>
          <a:solidFill>
            <a:srgbClr val="C6C6C6"/>
          </a:solidFill>
          <a:ln/>
        </p:spPr>
      </p:sp>
      <p:sp>
        <p:nvSpPr>
          <p:cNvPr id="14" name="Text 12"/>
          <p:cNvSpPr/>
          <p:nvPr/>
        </p:nvSpPr>
        <p:spPr>
          <a:xfrm>
            <a:off x="1978479" y="6415088"/>
            <a:ext cx="30616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2023</a:t>
            </a:r>
            <a:endParaRPr lang="en-US" sz="750" dirty="0"/>
          </a:p>
        </p:txBody>
      </p:sp>
      <p:sp>
        <p:nvSpPr>
          <p:cNvPr id="15" name="Shape 13"/>
          <p:cNvSpPr/>
          <p:nvPr/>
        </p:nvSpPr>
        <p:spPr>
          <a:xfrm>
            <a:off x="2679417" y="6281738"/>
            <a:ext cx="1171915" cy="19050"/>
          </a:xfrm>
          <a:prstGeom prst="rect">
            <a:avLst/>
          </a:prstGeom>
          <a:solidFill>
            <a:srgbClr val="C6C6C6"/>
          </a:solidFill>
          <a:ln/>
        </p:spPr>
      </p:sp>
      <p:sp>
        <p:nvSpPr>
          <p:cNvPr id="16" name="Shape 14"/>
          <p:cNvSpPr/>
          <p:nvPr/>
        </p:nvSpPr>
        <p:spPr>
          <a:xfrm>
            <a:off x="3208224" y="6234113"/>
            <a:ext cx="114300" cy="114300"/>
          </a:xfrm>
          <a:prstGeom prst="ellipse">
            <a:avLst/>
          </a:prstGeom>
          <a:solidFill>
            <a:srgbClr val="C6C6C6"/>
          </a:solidFill>
          <a:ln/>
        </p:spPr>
      </p:sp>
      <p:sp>
        <p:nvSpPr>
          <p:cNvPr id="17" name="Text 15"/>
          <p:cNvSpPr/>
          <p:nvPr/>
        </p:nvSpPr>
        <p:spPr>
          <a:xfrm>
            <a:off x="3150394" y="6415088"/>
            <a:ext cx="30616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2024</a:t>
            </a:r>
            <a:endParaRPr lang="en-US" sz="750" dirty="0"/>
          </a:p>
        </p:txBody>
      </p:sp>
      <p:sp>
        <p:nvSpPr>
          <p:cNvPr id="18" name="Shape 16"/>
          <p:cNvSpPr/>
          <p:nvPr/>
        </p:nvSpPr>
        <p:spPr>
          <a:xfrm>
            <a:off x="3851332" y="6281738"/>
            <a:ext cx="1171915" cy="19050"/>
          </a:xfrm>
          <a:prstGeom prst="rect">
            <a:avLst/>
          </a:prstGeom>
          <a:solidFill>
            <a:srgbClr val="C6C6C6"/>
          </a:solidFill>
          <a:ln/>
        </p:spPr>
      </p:sp>
      <p:sp>
        <p:nvSpPr>
          <p:cNvPr id="19" name="Shape 17"/>
          <p:cNvSpPr/>
          <p:nvPr/>
        </p:nvSpPr>
        <p:spPr>
          <a:xfrm>
            <a:off x="4380140" y="6234113"/>
            <a:ext cx="114300" cy="114300"/>
          </a:xfrm>
          <a:prstGeom prst="ellipse">
            <a:avLst/>
          </a:prstGeom>
          <a:solidFill>
            <a:srgbClr val="C6C6C6"/>
          </a:solidFill>
          <a:ln/>
        </p:spPr>
      </p:sp>
      <p:sp>
        <p:nvSpPr>
          <p:cNvPr id="20" name="Text 18"/>
          <p:cNvSpPr/>
          <p:nvPr/>
        </p:nvSpPr>
        <p:spPr>
          <a:xfrm>
            <a:off x="4264819" y="6415088"/>
            <a:ext cx="42114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Q1 '25</a:t>
            </a:r>
            <a:endParaRPr lang="en-US" sz="750" dirty="0"/>
          </a:p>
        </p:txBody>
      </p:sp>
      <p:sp>
        <p:nvSpPr>
          <p:cNvPr id="21" name="Shape 19"/>
          <p:cNvSpPr/>
          <p:nvPr/>
        </p:nvSpPr>
        <p:spPr>
          <a:xfrm>
            <a:off x="5023247" y="6281738"/>
            <a:ext cx="1171915" cy="19050"/>
          </a:xfrm>
          <a:prstGeom prst="rect">
            <a:avLst/>
          </a:prstGeom>
          <a:solidFill>
            <a:srgbClr val="C6C6C6"/>
          </a:solidFill>
          <a:ln/>
        </p:spPr>
      </p:sp>
      <p:sp>
        <p:nvSpPr>
          <p:cNvPr id="22" name="Shape 20"/>
          <p:cNvSpPr/>
          <p:nvPr/>
        </p:nvSpPr>
        <p:spPr>
          <a:xfrm>
            <a:off x="5552055" y="6234113"/>
            <a:ext cx="114300" cy="114300"/>
          </a:xfrm>
          <a:prstGeom prst="ellipse">
            <a:avLst/>
          </a:prstGeom>
          <a:solidFill>
            <a:srgbClr val="C6C6C6"/>
          </a:solidFill>
          <a:ln/>
        </p:spPr>
      </p:sp>
      <p:sp>
        <p:nvSpPr>
          <p:cNvPr id="23" name="Text 21"/>
          <p:cNvSpPr/>
          <p:nvPr/>
        </p:nvSpPr>
        <p:spPr>
          <a:xfrm>
            <a:off x="5436734" y="6415088"/>
            <a:ext cx="42114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Q3 '25</a:t>
            </a:r>
            <a:endParaRPr lang="en-US" sz="750" dirty="0"/>
          </a:p>
        </p:txBody>
      </p:sp>
      <p:sp>
        <p:nvSpPr>
          <p:cNvPr id="24" name="Shape 22"/>
          <p:cNvSpPr/>
          <p:nvPr/>
        </p:nvSpPr>
        <p:spPr>
          <a:xfrm>
            <a:off x="6195163" y="6281738"/>
            <a:ext cx="1171915" cy="19050"/>
          </a:xfrm>
          <a:prstGeom prst="rect">
            <a:avLst/>
          </a:prstGeom>
          <a:solidFill>
            <a:srgbClr val="C6C6C6"/>
          </a:solidFill>
          <a:ln/>
        </p:spPr>
      </p:sp>
      <p:sp>
        <p:nvSpPr>
          <p:cNvPr id="25" name="Shape 23"/>
          <p:cNvSpPr/>
          <p:nvPr/>
        </p:nvSpPr>
        <p:spPr>
          <a:xfrm>
            <a:off x="6704920" y="6215063"/>
            <a:ext cx="152400" cy="152400"/>
          </a:xfrm>
          <a:prstGeom prst="ellipse">
            <a:avLst/>
          </a:prstGeom>
          <a:solidFill>
            <a:srgbClr val="0F62FE"/>
          </a:solidFill>
          <a:ln/>
          <a:effectLst>
            <a:outerShdw sx="100000" sy="100000" kx="0" ky="0" algn="bl" rotWithShape="0" blurRad="101600" dist="50800" dir="16200000">
              <a:srgbClr val="0F62FE">
                <a:alpha val="15000"/>
              </a:srgbClr>
            </a:outerShdw>
          </a:effectLst>
        </p:spPr>
      </p:sp>
      <p:sp>
        <p:nvSpPr>
          <p:cNvPr id="26" name="Text 24"/>
          <p:cNvSpPr/>
          <p:nvPr/>
        </p:nvSpPr>
        <p:spPr>
          <a:xfrm>
            <a:off x="6263793" y="6415088"/>
            <a:ext cx="1110853"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Mar 14 · 14:31 UTC</a:t>
            </a:r>
            <a:endParaRPr lang="en-US" sz="750" dirty="0"/>
          </a:p>
        </p:txBody>
      </p:sp>
      <p:sp>
        <p:nvSpPr>
          <p:cNvPr id="27" name="Shape 25"/>
          <p:cNvSpPr/>
          <p:nvPr/>
        </p:nvSpPr>
        <p:spPr>
          <a:xfrm>
            <a:off x="7367078" y="6281738"/>
            <a:ext cx="1171915" cy="19050"/>
          </a:xfrm>
          <a:prstGeom prst="rect">
            <a:avLst/>
          </a:prstGeom>
          <a:solidFill>
            <a:srgbClr val="C6C6C6"/>
          </a:solidFill>
          <a:ln/>
        </p:spPr>
      </p:sp>
      <p:sp>
        <p:nvSpPr>
          <p:cNvPr id="28" name="Shape 26"/>
          <p:cNvSpPr/>
          <p:nvPr/>
        </p:nvSpPr>
        <p:spPr>
          <a:xfrm>
            <a:off x="7885000" y="6234113"/>
            <a:ext cx="136071" cy="136071"/>
          </a:xfrm>
          <a:prstGeom prst="ellipse">
            <a:avLst/>
          </a:prstGeom>
          <a:ln w="10886">
            <a:solidFill>
              <a:srgbClr val="C6C6C6"/>
            </a:solidFill>
            <a:prstDash val="solid"/>
          </a:ln>
        </p:spPr>
      </p:sp>
      <p:sp>
        <p:nvSpPr>
          <p:cNvPr id="29" name="Text 27"/>
          <p:cNvSpPr/>
          <p:nvPr/>
        </p:nvSpPr>
        <p:spPr>
          <a:xfrm>
            <a:off x="7809310" y="6415088"/>
            <a:ext cx="36365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6F6F6F"/>
                </a:solidFill>
                <a:latin typeface="Arial" pitchFamily="34" charset="0"/>
                <a:ea typeface="Arial" pitchFamily="34" charset="-122"/>
                <a:cs typeface="Arial" pitchFamily="34" charset="-120"/>
              </a:rPr>
              <a:t>Today</a:t>
            </a:r>
            <a:endParaRPr lang="en-US" sz="750" dirty="0"/>
          </a:p>
        </p:txBody>
      </p:sp>
      <p:sp>
        <p:nvSpPr>
          <p:cNvPr id="30" name="Shape 28"/>
          <p:cNvSpPr/>
          <p:nvPr/>
        </p:nvSpPr>
        <p:spPr>
          <a:xfrm>
            <a:off x="1317171" y="7119938"/>
            <a:ext cx="7412321" cy="957943"/>
          </a:xfrm>
          <a:prstGeom prst="rect">
            <a:avLst/>
          </a:prstGeom>
          <a:solidFill>
            <a:srgbClr val="FFFFFF"/>
          </a:solidFill>
          <a:ln w="10886">
            <a:solidFill>
              <a:srgbClr val="C6C6C6"/>
            </a:solidFill>
            <a:prstDash val="solid"/>
          </a:ln>
        </p:spPr>
      </p:sp>
      <p:sp>
        <p:nvSpPr>
          <p:cNvPr id="31" name="Shape 29"/>
          <p:cNvSpPr/>
          <p:nvPr/>
        </p:nvSpPr>
        <p:spPr>
          <a:xfrm>
            <a:off x="1556657" y="7321323"/>
            <a:ext cx="555171" cy="555171"/>
          </a:xfrm>
          <a:prstGeom prst="ellipse">
            <a:avLst/>
          </a:prstGeom>
          <a:ln w="10886">
            <a:solidFill>
              <a:srgbClr val="0F62FE"/>
            </a:solidFill>
            <a:prstDash val="solid"/>
          </a:ln>
        </p:spPr>
      </p:sp>
      <p:sp>
        <p:nvSpPr>
          <p:cNvPr id="32" name="Text 30"/>
          <p:cNvSpPr/>
          <p:nvPr/>
        </p:nvSpPr>
        <p:spPr>
          <a:xfrm>
            <a:off x="1529443" y="7332209"/>
            <a:ext cx="609600" cy="571500"/>
          </a:xfrm>
          <a:prstGeom prst="rect">
            <a:avLst/>
          </a:prstGeom>
          <a:noFill/>
          <a:ln/>
        </p:spPr>
        <p:txBody>
          <a:bodyPr wrap="square" lIns="25400" tIns="25400" rIns="25400" bIns="25400" rtlCol="0" anchor="ctr">
            <a:normAutofit/>
          </a:bodyPr>
          <a:lstStyle/>
          <a:p>
            <a:pPr algn="ctr" indent="0" marL="0">
              <a:buNone/>
            </a:pPr>
            <a:r>
              <a:rPr lang="en-US" sz="825" spc="24" kern="0" dirty="0">
                <a:solidFill>
                  <a:srgbClr val="0F62FE"/>
                </a:solidFill>
                <a:latin typeface="Arial" pitchFamily="34" charset="0"/>
                <a:ea typeface="Arial" pitchFamily="34" charset="-122"/>
                <a:cs typeface="Arial" pitchFamily="34" charset="-120"/>
              </a:rPr>
              <a:t>↺</a:t>
            </a:r>
            <a:endParaRPr lang="en-US" sz="825" dirty="0"/>
          </a:p>
        </p:txBody>
      </p:sp>
      <p:sp>
        <p:nvSpPr>
          <p:cNvPr id="33" name="Text 31"/>
          <p:cNvSpPr/>
          <p:nvPr/>
        </p:nvSpPr>
        <p:spPr>
          <a:xfrm>
            <a:off x="2340429" y="7340373"/>
            <a:ext cx="2471057" cy="190500"/>
          </a:xfrm>
          <a:prstGeom prst="rect">
            <a:avLst/>
          </a:prstGeom>
          <a:noFill/>
          <a:ln/>
        </p:spPr>
        <p:txBody>
          <a:bodyPr wrap="square" lIns="25400" tIns="25400" rIns="25400" bIns="25400" rtlCol="0" anchor="t">
            <a:normAutofit/>
          </a:bodyPr>
          <a:lstStyle/>
          <a:p>
            <a:pPr algn="l" indent="0" marL="0">
              <a:buNone/>
            </a:pPr>
            <a:r>
              <a:rPr lang="en-US" sz="900" spc="24" kern="0" dirty="0">
                <a:solidFill>
                  <a:srgbClr val="6F6F6F"/>
                </a:solidFill>
                <a:latin typeface="Arial" pitchFamily="34" charset="0"/>
                <a:ea typeface="Arial" pitchFamily="34" charset="-122"/>
                <a:cs typeface="Arial" pitchFamily="34" charset="-120"/>
              </a:rPr>
              <a:t>REPLAY TO TIMESTAMP</a:t>
            </a:r>
            <a:endParaRPr lang="en-US" sz="900" dirty="0"/>
          </a:p>
        </p:txBody>
      </p:sp>
      <p:sp>
        <p:nvSpPr>
          <p:cNvPr id="34" name="Text 32"/>
          <p:cNvSpPr/>
          <p:nvPr/>
        </p:nvSpPr>
        <p:spPr>
          <a:xfrm>
            <a:off x="2340429" y="7530873"/>
            <a:ext cx="2471057" cy="364671"/>
          </a:xfrm>
          <a:prstGeom prst="rect">
            <a:avLst/>
          </a:prstGeom>
          <a:noFill/>
          <a:ln/>
        </p:spPr>
        <p:txBody>
          <a:bodyPr wrap="square" lIns="25400" tIns="25400" rIns="25400" bIns="25400" rtlCol="0" anchor="t">
            <a:normAutofit/>
          </a:bodyPr>
          <a:lstStyle/>
          <a:p>
            <a:pPr algn="l" indent="0" marL="0">
              <a:buNone/>
            </a:pPr>
            <a:r>
              <a:rPr lang="en-US" sz="1500" b="1" dirty="0">
                <a:solidFill>
                  <a:srgbClr val="161616"/>
                </a:solidFill>
                <a:latin typeface="Arial" pitchFamily="34" charset="0"/>
                <a:ea typeface="Arial" pitchFamily="34" charset="-122"/>
                <a:cs typeface="Arial" pitchFamily="34" charset="-120"/>
              </a:rPr>
              <a:t>2025-03-14T14:31:00Z</a:t>
            </a:r>
            <a:endParaRPr lang="en-US" sz="1500" dirty="0"/>
          </a:p>
        </p:txBody>
      </p:sp>
      <p:sp>
        <p:nvSpPr>
          <p:cNvPr id="35" name="Text 33"/>
          <p:cNvSpPr/>
          <p:nvPr/>
        </p:nvSpPr>
        <p:spPr>
          <a:xfrm>
            <a:off x="6587898" y="7522709"/>
            <a:ext cx="1978309" cy="190500"/>
          </a:xfrm>
          <a:prstGeom prst="rect">
            <a:avLst/>
          </a:prstGeom>
          <a:noFill/>
          <a:ln/>
        </p:spPr>
        <p:txBody>
          <a:bodyPr wrap="square" lIns="25400" tIns="25400" rIns="25400" bIns="25400" rtlCol="0" anchor="t">
            <a:normAutofit/>
          </a:bodyPr>
          <a:lstStyle/>
          <a:p>
            <a:pPr algn="l" indent="0" marL="0">
              <a:buNone/>
            </a:pPr>
            <a:r>
              <a:rPr lang="en-US" sz="900" spc="24" kern="0" dirty="0">
                <a:solidFill>
                  <a:srgbClr val="0F62FE"/>
                </a:solidFill>
                <a:latin typeface="Arial" pitchFamily="34" charset="0"/>
                <a:ea typeface="Arial" pitchFamily="34" charset="-122"/>
                <a:cs typeface="Arial" pitchFamily="34" charset="-120"/>
              </a:rPr>
              <a:t>→ REPRODUCES EXACT STATE</a:t>
            </a:r>
            <a:endParaRPr lang="en-US" sz="900" dirty="0"/>
          </a:p>
        </p:txBody>
      </p:sp>
      <p:sp>
        <p:nvSpPr>
          <p:cNvPr id="36" name="Shape 34"/>
          <p:cNvSpPr/>
          <p:nvPr/>
        </p:nvSpPr>
        <p:spPr>
          <a:xfrm>
            <a:off x="9567693" y="3937227"/>
            <a:ext cx="2500313" cy="1664834"/>
          </a:xfrm>
          <a:prstGeom prst="rect">
            <a:avLst/>
          </a:prstGeom>
          <a:solidFill>
            <a:srgbClr val="F4F4F4"/>
          </a:solidFill>
          <a:ln/>
        </p:spPr>
      </p:sp>
      <p:sp>
        <p:nvSpPr>
          <p:cNvPr id="37" name="Shape 35"/>
          <p:cNvSpPr/>
          <p:nvPr/>
        </p:nvSpPr>
        <p:spPr>
          <a:xfrm>
            <a:off x="9567693" y="3937227"/>
            <a:ext cx="2500313" cy="10886"/>
          </a:xfrm>
          <a:prstGeom prst="rect">
            <a:avLst/>
          </a:prstGeom>
          <a:solidFill>
            <a:srgbClr val="0F62FE"/>
          </a:solidFill>
          <a:ln/>
        </p:spPr>
      </p:sp>
      <p:sp>
        <p:nvSpPr>
          <p:cNvPr id="38" name="Text 36"/>
          <p:cNvSpPr/>
          <p:nvPr/>
        </p:nvSpPr>
        <p:spPr>
          <a:xfrm>
            <a:off x="9796293"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Historical reporting</a:t>
            </a:r>
            <a:endParaRPr lang="en-US" sz="1350" dirty="0"/>
          </a:p>
        </p:txBody>
      </p:sp>
      <p:sp>
        <p:nvSpPr>
          <p:cNvPr id="39" name="Text 37"/>
          <p:cNvSpPr/>
          <p:nvPr/>
        </p:nvSpPr>
        <p:spPr>
          <a:xfrm>
            <a:off x="9796293"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"What would last quarter look like under our new churn definition?" — answerable.</a:t>
            </a:r>
            <a:endParaRPr lang="en-US" sz="1125" dirty="0"/>
          </a:p>
        </p:txBody>
      </p:sp>
      <p:sp>
        <p:nvSpPr>
          <p:cNvPr id="40" name="Shape 38"/>
          <p:cNvSpPr/>
          <p:nvPr/>
        </p:nvSpPr>
        <p:spPr>
          <a:xfrm>
            <a:off x="12220405" y="3937227"/>
            <a:ext cx="2500313" cy="1664834"/>
          </a:xfrm>
          <a:prstGeom prst="rect">
            <a:avLst/>
          </a:prstGeom>
          <a:solidFill>
            <a:srgbClr val="F4F4F4"/>
          </a:solidFill>
          <a:ln/>
        </p:spPr>
      </p:sp>
      <p:sp>
        <p:nvSpPr>
          <p:cNvPr id="41" name="Shape 39"/>
          <p:cNvSpPr/>
          <p:nvPr/>
        </p:nvSpPr>
        <p:spPr>
          <a:xfrm>
            <a:off x="12220405" y="3937227"/>
            <a:ext cx="2500313" cy="10886"/>
          </a:xfrm>
          <a:prstGeom prst="rect">
            <a:avLst/>
          </a:prstGeom>
          <a:solidFill>
            <a:srgbClr val="0F62FE"/>
          </a:solidFill>
          <a:ln/>
        </p:spPr>
      </p:sp>
      <p:sp>
        <p:nvSpPr>
          <p:cNvPr id="42" name="Text 40"/>
          <p:cNvSpPr/>
          <p:nvPr/>
        </p:nvSpPr>
        <p:spPr>
          <a:xfrm>
            <a:off x="12449005" y="4176713"/>
            <a:ext cx="2119313" cy="518092"/>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Post-incident reconstruction</a:t>
            </a:r>
            <a:endParaRPr lang="en-US" sz="1350" dirty="0"/>
          </a:p>
        </p:txBody>
      </p:sp>
      <p:sp>
        <p:nvSpPr>
          <p:cNvPr id="43" name="Text 41"/>
          <p:cNvSpPr/>
          <p:nvPr/>
        </p:nvSpPr>
        <p:spPr>
          <a:xfrm>
            <a:off x="12449005" y="4751955"/>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Replay events to the moment of the incident; see exactly what the system was doing.</a:t>
            </a:r>
            <a:endParaRPr lang="en-US" sz="1125" dirty="0"/>
          </a:p>
        </p:txBody>
      </p:sp>
      <p:sp>
        <p:nvSpPr>
          <p:cNvPr id="44" name="Shape 42"/>
          <p:cNvSpPr/>
          <p:nvPr/>
        </p:nvSpPr>
        <p:spPr>
          <a:xfrm>
            <a:off x="14873118" y="3937227"/>
            <a:ext cx="2500313" cy="1664834"/>
          </a:xfrm>
          <a:prstGeom prst="rect">
            <a:avLst/>
          </a:prstGeom>
          <a:solidFill>
            <a:srgbClr val="F4F4F4"/>
          </a:solidFill>
          <a:ln/>
        </p:spPr>
      </p:sp>
      <p:sp>
        <p:nvSpPr>
          <p:cNvPr id="45" name="Shape 43"/>
          <p:cNvSpPr/>
          <p:nvPr/>
        </p:nvSpPr>
        <p:spPr>
          <a:xfrm>
            <a:off x="14873118" y="3937227"/>
            <a:ext cx="2500313" cy="10886"/>
          </a:xfrm>
          <a:prstGeom prst="rect">
            <a:avLst/>
          </a:prstGeom>
          <a:solidFill>
            <a:srgbClr val="0F62FE"/>
          </a:solidFill>
          <a:ln/>
        </p:spPr>
      </p:sp>
      <p:sp>
        <p:nvSpPr>
          <p:cNvPr id="46" name="Text 44"/>
          <p:cNvSpPr/>
          <p:nvPr/>
        </p:nvSpPr>
        <p:spPr>
          <a:xfrm>
            <a:off x="15101718"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New metrics, old data</a:t>
            </a:r>
            <a:endParaRPr lang="en-US" sz="1350" dirty="0"/>
          </a:p>
        </p:txBody>
      </p:sp>
      <p:sp>
        <p:nvSpPr>
          <p:cNvPr id="47" name="Text 45"/>
          <p:cNvSpPr/>
          <p:nvPr/>
        </p:nvSpPr>
        <p:spPr>
          <a:xfrm>
            <a:off x="15101718"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Define a metric today, compute it back across years of history. No "we don't have that data."</a:t>
            </a:r>
            <a:endParaRPr lang="en-US" sz="1125" dirty="0"/>
          </a:p>
        </p:txBody>
      </p:sp>
      <p:sp>
        <p:nvSpPr>
          <p:cNvPr id="48" name="Shape 46"/>
          <p:cNvSpPr/>
          <p:nvPr/>
        </p:nvSpPr>
        <p:spPr>
          <a:xfrm>
            <a:off x="9567693" y="7453313"/>
            <a:ext cx="7805908" cy="1690688"/>
          </a:xfrm>
          <a:prstGeom prst="rect">
            <a:avLst/>
          </a:prstGeom>
          <a:solidFill>
            <a:srgbClr val="262626"/>
          </a:solidFill>
          <a:ln/>
        </p:spPr>
      </p:sp>
      <p:sp>
        <p:nvSpPr>
          <p:cNvPr id="49" name="Text 47"/>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50" name="Text 48"/>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"Marketing wanted to know how the new pricing tier would have performed if launched a year earlier. We replayed the events with the new logic. Had the answer the next day."</a:t>
            </a:r>
            <a:endParaRPr lang="en-US" sz="1650" dirty="0"/>
          </a:p>
        </p:txBody>
      </p:sp>
      <p:sp>
        <p:nvSpPr>
          <p:cNvPr id="51" name="Text 49"/>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52" name="Shape 50"/>
          <p:cNvSpPr/>
          <p:nvPr/>
        </p:nvSpPr>
        <p:spPr>
          <a:xfrm>
            <a:off x="3003947" y="9729107"/>
            <a:ext cx="38100" cy="38100"/>
          </a:xfrm>
          <a:prstGeom prst="ellipse">
            <a:avLst/>
          </a:prstGeom>
          <a:solidFill>
            <a:srgbClr val="6F6F6F"/>
          </a:solidFill>
          <a:ln/>
        </p:spPr>
      </p:sp>
      <p:sp>
        <p:nvSpPr>
          <p:cNvPr id="53" name="Text 51"/>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54" name="Text 52"/>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05 / 13</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03</a:t>
            </a:r>
            <a:endParaRPr lang="en-US" sz="10500" dirty="0"/>
          </a:p>
        </p:txBody>
      </p:sp>
      <p:sp>
        <p:nvSpPr>
          <p:cNvPr id="4" name="Text 2"/>
          <p:cNvSpPr/>
          <p:nvPr/>
        </p:nvSpPr>
        <p:spPr>
          <a:xfrm>
            <a:off x="2982686" y="914400"/>
            <a:ext cx="5532738"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3 OF 6 · ML · FORECASTING · DETECTION</a:t>
            </a:r>
            <a:endParaRPr lang="en-US" sz="1350" dirty="0"/>
          </a:p>
        </p:txBody>
      </p:sp>
      <p:sp>
        <p:nvSpPr>
          <p:cNvPr id="5" name="Text 3"/>
          <p:cNvSpPr/>
          <p:nvPr/>
        </p:nvSpPr>
        <p:spPr>
          <a:xfrm>
            <a:off x="2982686" y="1265464"/>
            <a:ext cx="601539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AI-Ready Data</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Every system becomes its own training dataset — growing more valuable each year.</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Machine learning models need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behavior over time </a:t>
            </a:r>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 not snapshots. An event-sourced system records every customer interaction in sequence — exactly what ML models need to predict the next one.</a:t>
            </a:r>
            <a:endParaRPr lang="en-US" sz="1650" dirty="0"/>
          </a:p>
        </p:txBody>
      </p:sp>
      <p:sp>
        <p:nvSpPr>
          <p:cNvPr id="11" name="Shape 9"/>
          <p:cNvSpPr/>
          <p:nvPr/>
        </p:nvSpPr>
        <p:spPr>
          <a:xfrm>
            <a:off x="1317171" y="5805488"/>
            <a:ext cx="7412321" cy="1583871"/>
          </a:xfrm>
          <a:prstGeom prst="rect">
            <a:avLst/>
          </a:prstGeom>
          <a:solidFill>
            <a:srgbClr val="161616"/>
          </a:solidFill>
          <a:ln/>
        </p:spPr>
      </p:sp>
      <p:sp>
        <p:nvSpPr>
          <p:cNvPr id="12" name="Text 10"/>
          <p:cNvSpPr/>
          <p:nvPr/>
        </p:nvSpPr>
        <p:spPr>
          <a:xfrm>
            <a:off x="1545771" y="5995988"/>
            <a:ext cx="7163775"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MEMBER SEQUENCE · TRAINING SUBSTRATE</a:t>
            </a:r>
            <a:endParaRPr lang="en-US" sz="825" dirty="0"/>
          </a:p>
        </p:txBody>
      </p:sp>
      <p:sp>
        <p:nvSpPr>
          <p:cNvPr id="13" name="Text 11"/>
          <p:cNvSpPr/>
          <p:nvPr/>
        </p:nvSpPr>
        <p:spPr>
          <a:xfrm>
            <a:off x="1545771" y="6311673"/>
            <a:ext cx="742950"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8D8D8D"/>
                </a:solidFill>
                <a:latin typeface="Arial" pitchFamily="34" charset="0"/>
                <a:ea typeface="Arial" pitchFamily="34" charset="-122"/>
                <a:cs typeface="Arial" pitchFamily="34" charset="-120"/>
              </a:rPr>
              <a:t>MEM-1042</a:t>
            </a:r>
            <a:endParaRPr lang="en-US" sz="750" dirty="0"/>
          </a:p>
        </p:txBody>
      </p:sp>
      <p:sp>
        <p:nvSpPr>
          <p:cNvPr id="14" name="Shape 12"/>
          <p:cNvSpPr/>
          <p:nvPr/>
        </p:nvSpPr>
        <p:spPr>
          <a:xfrm>
            <a:off x="2269671" y="6251802"/>
            <a:ext cx="604157" cy="239486"/>
          </a:xfrm>
          <a:prstGeom prst="rect">
            <a:avLst/>
          </a:prstGeom>
          <a:solidFill>
            <a:srgbClr val="1A3A75"/>
          </a:solidFill>
          <a:ln w="10886">
            <a:solidFill>
              <a:srgbClr val="2A5AB5"/>
            </a:solidFill>
            <a:prstDash val="solid"/>
          </a:ln>
        </p:spPr>
      </p:sp>
      <p:sp>
        <p:nvSpPr>
          <p:cNvPr id="15" name="Text 13"/>
          <p:cNvSpPr/>
          <p:nvPr/>
        </p:nvSpPr>
        <p:spPr>
          <a:xfrm>
            <a:off x="2375807" y="6300788"/>
            <a:ext cx="468086"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signup</a:t>
            </a:r>
            <a:endParaRPr lang="en-US" sz="825" dirty="0"/>
          </a:p>
        </p:txBody>
      </p:sp>
      <p:sp>
        <p:nvSpPr>
          <p:cNvPr id="16" name="Text 14"/>
          <p:cNvSpPr/>
          <p:nvPr/>
        </p:nvSpPr>
        <p:spPr>
          <a:xfrm>
            <a:off x="2930979" y="6306231"/>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17" name="Shape 15"/>
          <p:cNvSpPr/>
          <p:nvPr/>
        </p:nvSpPr>
        <p:spPr>
          <a:xfrm>
            <a:off x="3042557" y="6251802"/>
            <a:ext cx="538843" cy="239486"/>
          </a:xfrm>
          <a:prstGeom prst="rect">
            <a:avLst/>
          </a:prstGeom>
          <a:solidFill>
            <a:srgbClr val="1A3A75"/>
          </a:solidFill>
          <a:ln w="10886">
            <a:solidFill>
              <a:srgbClr val="2A5AB5"/>
            </a:solidFill>
            <a:prstDash val="solid"/>
          </a:ln>
        </p:spPr>
      </p:sp>
      <p:sp>
        <p:nvSpPr>
          <p:cNvPr id="18" name="Text 16"/>
          <p:cNvSpPr/>
          <p:nvPr/>
        </p:nvSpPr>
        <p:spPr>
          <a:xfrm>
            <a:off x="3148693" y="6300788"/>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trial</a:t>
            </a:r>
            <a:endParaRPr lang="en-US" sz="825" dirty="0"/>
          </a:p>
        </p:txBody>
      </p:sp>
      <p:sp>
        <p:nvSpPr>
          <p:cNvPr id="19" name="Text 17"/>
          <p:cNvSpPr/>
          <p:nvPr/>
        </p:nvSpPr>
        <p:spPr>
          <a:xfrm>
            <a:off x="3638550" y="6306231"/>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20" name="Shape 18"/>
          <p:cNvSpPr/>
          <p:nvPr/>
        </p:nvSpPr>
        <p:spPr>
          <a:xfrm>
            <a:off x="3750129" y="6251802"/>
            <a:ext cx="669471" cy="239486"/>
          </a:xfrm>
          <a:prstGeom prst="rect">
            <a:avLst/>
          </a:prstGeom>
          <a:solidFill>
            <a:srgbClr val="1A3A75"/>
          </a:solidFill>
          <a:ln w="10886">
            <a:solidFill>
              <a:srgbClr val="2A5AB5"/>
            </a:solidFill>
            <a:prstDash val="solid"/>
          </a:ln>
        </p:spPr>
      </p:sp>
      <p:sp>
        <p:nvSpPr>
          <p:cNvPr id="21" name="Text 19"/>
          <p:cNvSpPr/>
          <p:nvPr/>
        </p:nvSpPr>
        <p:spPr>
          <a:xfrm>
            <a:off x="3856264" y="6300788"/>
            <a:ext cx="533400"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upgrade</a:t>
            </a:r>
            <a:endParaRPr lang="en-US" sz="825" dirty="0"/>
          </a:p>
        </p:txBody>
      </p:sp>
      <p:sp>
        <p:nvSpPr>
          <p:cNvPr id="22" name="Text 20"/>
          <p:cNvSpPr/>
          <p:nvPr/>
        </p:nvSpPr>
        <p:spPr>
          <a:xfrm>
            <a:off x="4476750" y="6306231"/>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23" name="Shape 21"/>
          <p:cNvSpPr/>
          <p:nvPr/>
        </p:nvSpPr>
        <p:spPr>
          <a:xfrm>
            <a:off x="4588329" y="6251802"/>
            <a:ext cx="604157" cy="239486"/>
          </a:xfrm>
          <a:prstGeom prst="rect">
            <a:avLst/>
          </a:prstGeom>
          <a:solidFill>
            <a:srgbClr val="1A3A75"/>
          </a:solidFill>
          <a:ln w="10886">
            <a:solidFill>
              <a:srgbClr val="2A5AB5"/>
            </a:solidFill>
            <a:prstDash val="solid"/>
          </a:ln>
        </p:spPr>
      </p:sp>
      <p:sp>
        <p:nvSpPr>
          <p:cNvPr id="24" name="Text 22"/>
          <p:cNvSpPr/>
          <p:nvPr/>
        </p:nvSpPr>
        <p:spPr>
          <a:xfrm>
            <a:off x="4694464" y="6300788"/>
            <a:ext cx="468086"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usage↑</a:t>
            </a:r>
            <a:endParaRPr lang="en-US" sz="825" dirty="0"/>
          </a:p>
        </p:txBody>
      </p:sp>
      <p:sp>
        <p:nvSpPr>
          <p:cNvPr id="25" name="Text 23"/>
          <p:cNvSpPr/>
          <p:nvPr/>
        </p:nvSpPr>
        <p:spPr>
          <a:xfrm>
            <a:off x="5249636" y="6306231"/>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26" name="Shape 24"/>
          <p:cNvSpPr/>
          <p:nvPr/>
        </p:nvSpPr>
        <p:spPr>
          <a:xfrm>
            <a:off x="5361215" y="6251802"/>
            <a:ext cx="538843" cy="239486"/>
          </a:xfrm>
          <a:prstGeom prst="rect">
            <a:avLst/>
          </a:prstGeom>
          <a:solidFill>
            <a:srgbClr val="2A2A2A"/>
          </a:solidFill>
          <a:ln w="10886">
            <a:solidFill>
              <a:srgbClr val="3A3A3A"/>
            </a:solidFill>
            <a:prstDash val="solid"/>
          </a:ln>
        </p:spPr>
      </p:sp>
      <p:sp>
        <p:nvSpPr>
          <p:cNvPr id="27" name="Text 25"/>
          <p:cNvSpPr/>
          <p:nvPr/>
        </p:nvSpPr>
        <p:spPr>
          <a:xfrm>
            <a:off x="5467350" y="6300788"/>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C6C6C6"/>
                </a:solidFill>
                <a:latin typeface="Arial" pitchFamily="34" charset="0"/>
                <a:ea typeface="Arial" pitchFamily="34" charset="-122"/>
                <a:cs typeface="Arial" pitchFamily="34" charset="-120"/>
              </a:rPr>
              <a:t>churn</a:t>
            </a:r>
            <a:endParaRPr lang="en-US" sz="825" dirty="0"/>
          </a:p>
        </p:txBody>
      </p:sp>
      <p:sp>
        <p:nvSpPr>
          <p:cNvPr id="28" name="Text 26"/>
          <p:cNvSpPr/>
          <p:nvPr/>
        </p:nvSpPr>
        <p:spPr>
          <a:xfrm>
            <a:off x="1545771" y="6627359"/>
            <a:ext cx="742950"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8D8D8D"/>
                </a:solidFill>
                <a:latin typeface="Arial" pitchFamily="34" charset="0"/>
                <a:ea typeface="Arial" pitchFamily="34" charset="-122"/>
                <a:cs typeface="Arial" pitchFamily="34" charset="-120"/>
              </a:rPr>
              <a:t>MEM-1043</a:t>
            </a:r>
            <a:endParaRPr lang="en-US" sz="750" dirty="0"/>
          </a:p>
        </p:txBody>
      </p:sp>
      <p:sp>
        <p:nvSpPr>
          <p:cNvPr id="29" name="Shape 27"/>
          <p:cNvSpPr/>
          <p:nvPr/>
        </p:nvSpPr>
        <p:spPr>
          <a:xfrm>
            <a:off x="2269671" y="6567488"/>
            <a:ext cx="604157" cy="239486"/>
          </a:xfrm>
          <a:prstGeom prst="rect">
            <a:avLst/>
          </a:prstGeom>
          <a:solidFill>
            <a:srgbClr val="1A3A75"/>
          </a:solidFill>
          <a:ln w="10886">
            <a:solidFill>
              <a:srgbClr val="2A5AB5"/>
            </a:solidFill>
            <a:prstDash val="solid"/>
          </a:ln>
        </p:spPr>
      </p:sp>
      <p:sp>
        <p:nvSpPr>
          <p:cNvPr id="30" name="Text 28"/>
          <p:cNvSpPr/>
          <p:nvPr/>
        </p:nvSpPr>
        <p:spPr>
          <a:xfrm>
            <a:off x="2375807" y="6616474"/>
            <a:ext cx="468086"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signup</a:t>
            </a:r>
            <a:endParaRPr lang="en-US" sz="825" dirty="0"/>
          </a:p>
        </p:txBody>
      </p:sp>
      <p:sp>
        <p:nvSpPr>
          <p:cNvPr id="31" name="Text 29"/>
          <p:cNvSpPr/>
          <p:nvPr/>
        </p:nvSpPr>
        <p:spPr>
          <a:xfrm>
            <a:off x="2930979" y="6621916"/>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32" name="Shape 30"/>
          <p:cNvSpPr/>
          <p:nvPr/>
        </p:nvSpPr>
        <p:spPr>
          <a:xfrm>
            <a:off x="3042557" y="6567488"/>
            <a:ext cx="538843" cy="239486"/>
          </a:xfrm>
          <a:prstGeom prst="rect">
            <a:avLst/>
          </a:prstGeom>
          <a:solidFill>
            <a:srgbClr val="1A3A75"/>
          </a:solidFill>
          <a:ln w="10886">
            <a:solidFill>
              <a:srgbClr val="2A5AB5"/>
            </a:solidFill>
            <a:prstDash val="solid"/>
          </a:ln>
        </p:spPr>
      </p:sp>
      <p:sp>
        <p:nvSpPr>
          <p:cNvPr id="33" name="Text 31"/>
          <p:cNvSpPr/>
          <p:nvPr/>
        </p:nvSpPr>
        <p:spPr>
          <a:xfrm>
            <a:off x="3148693" y="6616474"/>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trial</a:t>
            </a:r>
            <a:endParaRPr lang="en-US" sz="825" dirty="0"/>
          </a:p>
        </p:txBody>
      </p:sp>
      <p:sp>
        <p:nvSpPr>
          <p:cNvPr id="34" name="Text 32"/>
          <p:cNvSpPr/>
          <p:nvPr/>
        </p:nvSpPr>
        <p:spPr>
          <a:xfrm>
            <a:off x="3638550" y="6621916"/>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35" name="Shape 33"/>
          <p:cNvSpPr/>
          <p:nvPr/>
        </p:nvSpPr>
        <p:spPr>
          <a:xfrm>
            <a:off x="3750129" y="6567488"/>
            <a:ext cx="669471" cy="239486"/>
          </a:xfrm>
          <a:prstGeom prst="rect">
            <a:avLst/>
          </a:prstGeom>
          <a:solidFill>
            <a:srgbClr val="1A3A75"/>
          </a:solidFill>
          <a:ln w="10886">
            <a:solidFill>
              <a:srgbClr val="2A5AB5"/>
            </a:solidFill>
            <a:prstDash val="solid"/>
          </a:ln>
        </p:spPr>
      </p:sp>
      <p:sp>
        <p:nvSpPr>
          <p:cNvPr id="36" name="Text 34"/>
          <p:cNvSpPr/>
          <p:nvPr/>
        </p:nvSpPr>
        <p:spPr>
          <a:xfrm>
            <a:off x="3856264" y="6616474"/>
            <a:ext cx="533400"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support</a:t>
            </a:r>
            <a:endParaRPr lang="en-US" sz="825" dirty="0"/>
          </a:p>
        </p:txBody>
      </p:sp>
      <p:sp>
        <p:nvSpPr>
          <p:cNvPr id="37" name="Text 35"/>
          <p:cNvSpPr/>
          <p:nvPr/>
        </p:nvSpPr>
        <p:spPr>
          <a:xfrm>
            <a:off x="4476750" y="6621916"/>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38" name="Shape 36"/>
          <p:cNvSpPr/>
          <p:nvPr/>
        </p:nvSpPr>
        <p:spPr>
          <a:xfrm>
            <a:off x="4588329" y="6567488"/>
            <a:ext cx="604157" cy="239486"/>
          </a:xfrm>
          <a:prstGeom prst="rect">
            <a:avLst/>
          </a:prstGeom>
          <a:solidFill>
            <a:srgbClr val="1A3A75"/>
          </a:solidFill>
          <a:ln w="10886">
            <a:solidFill>
              <a:srgbClr val="2A5AB5"/>
            </a:solidFill>
            <a:prstDash val="solid"/>
          </a:ln>
        </p:spPr>
      </p:sp>
      <p:sp>
        <p:nvSpPr>
          <p:cNvPr id="39" name="Text 37"/>
          <p:cNvSpPr/>
          <p:nvPr/>
        </p:nvSpPr>
        <p:spPr>
          <a:xfrm>
            <a:off x="4694464" y="6616474"/>
            <a:ext cx="468086"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refund</a:t>
            </a:r>
            <a:endParaRPr lang="en-US" sz="825" dirty="0"/>
          </a:p>
        </p:txBody>
      </p:sp>
      <p:sp>
        <p:nvSpPr>
          <p:cNvPr id="40" name="Text 38"/>
          <p:cNvSpPr/>
          <p:nvPr/>
        </p:nvSpPr>
        <p:spPr>
          <a:xfrm>
            <a:off x="5249636" y="6621916"/>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41" name="Shape 39"/>
          <p:cNvSpPr/>
          <p:nvPr/>
        </p:nvSpPr>
        <p:spPr>
          <a:xfrm>
            <a:off x="5361215" y="6567488"/>
            <a:ext cx="538843" cy="239486"/>
          </a:xfrm>
          <a:prstGeom prst="rect">
            <a:avLst/>
          </a:prstGeom>
          <a:solidFill>
            <a:srgbClr val="2A2A2A"/>
          </a:solidFill>
          <a:ln w="10886">
            <a:solidFill>
              <a:srgbClr val="3A3A3A"/>
            </a:solidFill>
            <a:prstDash val="solid"/>
          </a:ln>
        </p:spPr>
      </p:sp>
      <p:sp>
        <p:nvSpPr>
          <p:cNvPr id="42" name="Text 40"/>
          <p:cNvSpPr/>
          <p:nvPr/>
        </p:nvSpPr>
        <p:spPr>
          <a:xfrm>
            <a:off x="5467350" y="6616474"/>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C6C6C6"/>
                </a:solidFill>
                <a:latin typeface="Arial" pitchFamily="34" charset="0"/>
                <a:ea typeface="Arial" pitchFamily="34" charset="-122"/>
                <a:cs typeface="Arial" pitchFamily="34" charset="-120"/>
              </a:rPr>
              <a:t>churn</a:t>
            </a:r>
            <a:endParaRPr lang="en-US" sz="825" dirty="0"/>
          </a:p>
        </p:txBody>
      </p:sp>
      <p:sp>
        <p:nvSpPr>
          <p:cNvPr id="43" name="Text 41"/>
          <p:cNvSpPr/>
          <p:nvPr/>
        </p:nvSpPr>
        <p:spPr>
          <a:xfrm>
            <a:off x="1545771" y="6943045"/>
            <a:ext cx="742950"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8D8D8D"/>
                </a:solidFill>
                <a:latin typeface="Arial" pitchFamily="34" charset="0"/>
                <a:ea typeface="Arial" pitchFamily="34" charset="-122"/>
                <a:cs typeface="Arial" pitchFamily="34" charset="-120"/>
              </a:rPr>
              <a:t>MEM-1044</a:t>
            </a:r>
            <a:endParaRPr lang="en-US" sz="750" dirty="0"/>
          </a:p>
        </p:txBody>
      </p:sp>
      <p:sp>
        <p:nvSpPr>
          <p:cNvPr id="44" name="Shape 42"/>
          <p:cNvSpPr/>
          <p:nvPr/>
        </p:nvSpPr>
        <p:spPr>
          <a:xfrm>
            <a:off x="2269671" y="6883173"/>
            <a:ext cx="604157" cy="239486"/>
          </a:xfrm>
          <a:prstGeom prst="rect">
            <a:avLst/>
          </a:prstGeom>
          <a:solidFill>
            <a:srgbClr val="1A3A75"/>
          </a:solidFill>
          <a:ln w="10886">
            <a:solidFill>
              <a:srgbClr val="2A5AB5"/>
            </a:solidFill>
            <a:prstDash val="solid"/>
          </a:ln>
        </p:spPr>
      </p:sp>
      <p:sp>
        <p:nvSpPr>
          <p:cNvPr id="45" name="Text 43"/>
          <p:cNvSpPr/>
          <p:nvPr/>
        </p:nvSpPr>
        <p:spPr>
          <a:xfrm>
            <a:off x="2375807" y="6932159"/>
            <a:ext cx="468086"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signup</a:t>
            </a:r>
            <a:endParaRPr lang="en-US" sz="825" dirty="0"/>
          </a:p>
        </p:txBody>
      </p:sp>
      <p:sp>
        <p:nvSpPr>
          <p:cNvPr id="46" name="Text 44"/>
          <p:cNvSpPr/>
          <p:nvPr/>
        </p:nvSpPr>
        <p:spPr>
          <a:xfrm>
            <a:off x="2930979" y="6937602"/>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47" name="Shape 45"/>
          <p:cNvSpPr/>
          <p:nvPr/>
        </p:nvSpPr>
        <p:spPr>
          <a:xfrm>
            <a:off x="3042557" y="6883173"/>
            <a:ext cx="538843" cy="239486"/>
          </a:xfrm>
          <a:prstGeom prst="rect">
            <a:avLst/>
          </a:prstGeom>
          <a:solidFill>
            <a:srgbClr val="1A3A75"/>
          </a:solidFill>
          <a:ln w="10886">
            <a:solidFill>
              <a:srgbClr val="2A5AB5"/>
            </a:solidFill>
            <a:prstDash val="solid"/>
          </a:ln>
        </p:spPr>
      </p:sp>
      <p:sp>
        <p:nvSpPr>
          <p:cNvPr id="48" name="Text 46"/>
          <p:cNvSpPr/>
          <p:nvPr/>
        </p:nvSpPr>
        <p:spPr>
          <a:xfrm>
            <a:off x="3148693" y="6932159"/>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trial</a:t>
            </a:r>
            <a:endParaRPr lang="en-US" sz="825" dirty="0"/>
          </a:p>
        </p:txBody>
      </p:sp>
      <p:sp>
        <p:nvSpPr>
          <p:cNvPr id="49" name="Text 47"/>
          <p:cNvSpPr/>
          <p:nvPr/>
        </p:nvSpPr>
        <p:spPr>
          <a:xfrm>
            <a:off x="3638550" y="6937602"/>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50" name="Shape 48"/>
          <p:cNvSpPr/>
          <p:nvPr/>
        </p:nvSpPr>
        <p:spPr>
          <a:xfrm>
            <a:off x="3750129" y="6883173"/>
            <a:ext cx="669471" cy="239486"/>
          </a:xfrm>
          <a:prstGeom prst="rect">
            <a:avLst/>
          </a:prstGeom>
          <a:solidFill>
            <a:srgbClr val="1A3A75"/>
          </a:solidFill>
          <a:ln w="10886">
            <a:solidFill>
              <a:srgbClr val="2A5AB5"/>
            </a:solidFill>
            <a:prstDash val="solid"/>
          </a:ln>
        </p:spPr>
      </p:sp>
      <p:sp>
        <p:nvSpPr>
          <p:cNvPr id="51" name="Text 49"/>
          <p:cNvSpPr/>
          <p:nvPr/>
        </p:nvSpPr>
        <p:spPr>
          <a:xfrm>
            <a:off x="3856264" y="6932159"/>
            <a:ext cx="533400"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upgrade</a:t>
            </a:r>
            <a:endParaRPr lang="en-US" sz="825" dirty="0"/>
          </a:p>
        </p:txBody>
      </p:sp>
      <p:sp>
        <p:nvSpPr>
          <p:cNvPr id="52" name="Text 50"/>
          <p:cNvSpPr/>
          <p:nvPr/>
        </p:nvSpPr>
        <p:spPr>
          <a:xfrm>
            <a:off x="4476750" y="6937602"/>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53" name="Shape 51"/>
          <p:cNvSpPr/>
          <p:nvPr/>
        </p:nvSpPr>
        <p:spPr>
          <a:xfrm>
            <a:off x="4588329" y="6883173"/>
            <a:ext cx="734786" cy="239486"/>
          </a:xfrm>
          <a:prstGeom prst="rect">
            <a:avLst/>
          </a:prstGeom>
          <a:solidFill>
            <a:srgbClr val="1A3A75"/>
          </a:solidFill>
          <a:ln w="10886">
            <a:solidFill>
              <a:srgbClr val="2A5AB5"/>
            </a:solidFill>
            <a:prstDash val="solid"/>
          </a:ln>
        </p:spPr>
      </p:sp>
      <p:sp>
        <p:nvSpPr>
          <p:cNvPr id="54" name="Text 52"/>
          <p:cNvSpPr/>
          <p:nvPr/>
        </p:nvSpPr>
        <p:spPr>
          <a:xfrm>
            <a:off x="4694464" y="6932159"/>
            <a:ext cx="598714"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referral</a:t>
            </a:r>
            <a:endParaRPr lang="en-US" sz="825" dirty="0"/>
          </a:p>
        </p:txBody>
      </p:sp>
      <p:sp>
        <p:nvSpPr>
          <p:cNvPr id="55" name="Text 53"/>
          <p:cNvSpPr/>
          <p:nvPr/>
        </p:nvSpPr>
        <p:spPr>
          <a:xfrm>
            <a:off x="5380265" y="6937602"/>
            <a:ext cx="130629" cy="168729"/>
          </a:xfrm>
          <a:prstGeom prst="rect">
            <a:avLst/>
          </a:prstGeom>
          <a:noFill/>
          <a:ln/>
        </p:spPr>
        <p:txBody>
          <a:bodyPr wrap="square" lIns="25400" tIns="25400" rIns="25400" bIns="25400" rtlCol="0" anchor="t">
            <a:normAutofit/>
          </a:bodyPr>
          <a:lstStyle/>
          <a:p>
            <a:pPr algn="l" indent="0" marL="0">
              <a:buNone/>
            </a:pPr>
            <a:r>
              <a:rPr lang="en-US" sz="750" dirty="0">
                <a:solidFill>
                  <a:srgbClr val="6F6F6F"/>
                </a:solidFill>
                <a:latin typeface="Arial" pitchFamily="34" charset="0"/>
                <a:ea typeface="Arial" pitchFamily="34" charset="-122"/>
                <a:cs typeface="Arial" pitchFamily="34" charset="-120"/>
              </a:rPr>
              <a:t>→</a:t>
            </a:r>
            <a:endParaRPr lang="en-US" sz="750" dirty="0"/>
          </a:p>
        </p:txBody>
      </p:sp>
      <p:sp>
        <p:nvSpPr>
          <p:cNvPr id="56" name="Shape 54"/>
          <p:cNvSpPr/>
          <p:nvPr/>
        </p:nvSpPr>
        <p:spPr>
          <a:xfrm>
            <a:off x="5491843" y="6883173"/>
            <a:ext cx="538843" cy="239486"/>
          </a:xfrm>
          <a:prstGeom prst="rect">
            <a:avLst/>
          </a:prstGeom>
          <a:solidFill>
            <a:srgbClr val="1A3A75"/>
          </a:solidFill>
          <a:ln w="10886">
            <a:solidFill>
              <a:srgbClr val="2A5AB5"/>
            </a:solidFill>
            <a:prstDash val="solid"/>
          </a:ln>
        </p:spPr>
      </p:sp>
      <p:sp>
        <p:nvSpPr>
          <p:cNvPr id="57" name="Text 55"/>
          <p:cNvSpPr/>
          <p:nvPr/>
        </p:nvSpPr>
        <p:spPr>
          <a:xfrm>
            <a:off x="5597979" y="6932159"/>
            <a:ext cx="402771" cy="179614"/>
          </a:xfrm>
          <a:prstGeom prst="rect">
            <a:avLst/>
          </a:prstGeom>
          <a:noFill/>
          <a:ln/>
        </p:spPr>
        <p:txBody>
          <a:bodyPr wrap="square" lIns="25400" tIns="25400" rIns="25400" bIns="25400" rtlCol="0" anchor="t">
            <a:normAutofit/>
          </a:bodyPr>
          <a:lstStyle/>
          <a:p>
            <a:pPr algn="l" indent="0" marL="0">
              <a:buNone/>
            </a:pPr>
            <a:r>
              <a:rPr lang="en-US" sz="825" dirty="0">
                <a:solidFill>
                  <a:srgbClr val="78A9FF"/>
                </a:solidFill>
                <a:latin typeface="Arial" pitchFamily="34" charset="0"/>
                <a:ea typeface="Arial" pitchFamily="34" charset="-122"/>
                <a:cs typeface="Arial" pitchFamily="34" charset="-120"/>
              </a:rPr>
              <a:t>renew</a:t>
            </a:r>
            <a:endParaRPr lang="en-US" sz="825" dirty="0"/>
          </a:p>
        </p:txBody>
      </p:sp>
      <p:sp>
        <p:nvSpPr>
          <p:cNvPr id="58" name="Shape 56"/>
          <p:cNvSpPr/>
          <p:nvPr/>
        </p:nvSpPr>
        <p:spPr>
          <a:xfrm>
            <a:off x="9567693" y="3937227"/>
            <a:ext cx="2500313" cy="1664834"/>
          </a:xfrm>
          <a:prstGeom prst="rect">
            <a:avLst/>
          </a:prstGeom>
          <a:solidFill>
            <a:srgbClr val="F4F4F4"/>
          </a:solidFill>
          <a:ln/>
        </p:spPr>
      </p:sp>
      <p:sp>
        <p:nvSpPr>
          <p:cNvPr id="59" name="Shape 57"/>
          <p:cNvSpPr/>
          <p:nvPr/>
        </p:nvSpPr>
        <p:spPr>
          <a:xfrm>
            <a:off x="9567693" y="3937227"/>
            <a:ext cx="2500313" cy="10886"/>
          </a:xfrm>
          <a:prstGeom prst="rect">
            <a:avLst/>
          </a:prstGeom>
          <a:solidFill>
            <a:srgbClr val="0F62FE"/>
          </a:solidFill>
          <a:ln/>
        </p:spPr>
      </p:sp>
      <p:sp>
        <p:nvSpPr>
          <p:cNvPr id="60" name="Text 58"/>
          <p:cNvSpPr/>
          <p:nvPr/>
        </p:nvSpPr>
        <p:spPr>
          <a:xfrm>
            <a:off x="9796293"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Train on real behavior</a:t>
            </a:r>
            <a:endParaRPr lang="en-US" sz="1350" dirty="0"/>
          </a:p>
        </p:txBody>
      </p:sp>
      <p:sp>
        <p:nvSpPr>
          <p:cNvPr id="61" name="Text 59"/>
          <p:cNvSpPr/>
          <p:nvPr/>
        </p:nvSpPr>
        <p:spPr>
          <a:xfrm>
            <a:off x="9796293"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Three years of customer events — not three years of nightly state snapshots.</a:t>
            </a:r>
            <a:endParaRPr lang="en-US" sz="1125" dirty="0"/>
          </a:p>
        </p:txBody>
      </p:sp>
      <p:sp>
        <p:nvSpPr>
          <p:cNvPr id="62" name="Shape 60"/>
          <p:cNvSpPr/>
          <p:nvPr/>
        </p:nvSpPr>
        <p:spPr>
          <a:xfrm>
            <a:off x="12220405" y="3937227"/>
            <a:ext cx="2500313" cy="1664834"/>
          </a:xfrm>
          <a:prstGeom prst="rect">
            <a:avLst/>
          </a:prstGeom>
          <a:solidFill>
            <a:srgbClr val="F4F4F4"/>
          </a:solidFill>
          <a:ln/>
        </p:spPr>
      </p:sp>
      <p:sp>
        <p:nvSpPr>
          <p:cNvPr id="63" name="Shape 61"/>
          <p:cNvSpPr/>
          <p:nvPr/>
        </p:nvSpPr>
        <p:spPr>
          <a:xfrm>
            <a:off x="12220405" y="3937227"/>
            <a:ext cx="2500313" cy="10886"/>
          </a:xfrm>
          <a:prstGeom prst="rect">
            <a:avLst/>
          </a:prstGeom>
          <a:solidFill>
            <a:srgbClr val="0F62FE"/>
          </a:solidFill>
          <a:ln/>
        </p:spPr>
      </p:sp>
      <p:sp>
        <p:nvSpPr>
          <p:cNvPr id="64" name="Text 62"/>
          <p:cNvSpPr/>
          <p:nvPr/>
        </p:nvSpPr>
        <p:spPr>
          <a:xfrm>
            <a:off x="12449005"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Retrain anytime</a:t>
            </a:r>
            <a:endParaRPr lang="en-US" sz="1350" dirty="0"/>
          </a:p>
        </p:txBody>
      </p:sp>
      <p:sp>
        <p:nvSpPr>
          <p:cNvPr id="65" name="Text 63"/>
          <p:cNvSpPr/>
          <p:nvPr/>
        </p:nvSpPr>
        <p:spPr>
          <a:xfrm>
            <a:off x="12449005"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New model architecture? Replay the event log to retrain. The data is always available.</a:t>
            </a:r>
            <a:endParaRPr lang="en-US" sz="1125" dirty="0"/>
          </a:p>
        </p:txBody>
      </p:sp>
      <p:sp>
        <p:nvSpPr>
          <p:cNvPr id="66" name="Shape 64"/>
          <p:cNvSpPr/>
          <p:nvPr/>
        </p:nvSpPr>
        <p:spPr>
          <a:xfrm>
            <a:off x="14873118" y="3937227"/>
            <a:ext cx="2500313" cy="1664834"/>
          </a:xfrm>
          <a:prstGeom prst="rect">
            <a:avLst/>
          </a:prstGeom>
          <a:solidFill>
            <a:srgbClr val="F4F4F4"/>
          </a:solidFill>
          <a:ln/>
        </p:spPr>
      </p:sp>
      <p:sp>
        <p:nvSpPr>
          <p:cNvPr id="67" name="Shape 65"/>
          <p:cNvSpPr/>
          <p:nvPr/>
        </p:nvSpPr>
        <p:spPr>
          <a:xfrm>
            <a:off x="14873118" y="3937227"/>
            <a:ext cx="2500313" cy="10886"/>
          </a:xfrm>
          <a:prstGeom prst="rect">
            <a:avLst/>
          </a:prstGeom>
          <a:solidFill>
            <a:srgbClr val="0F62FE"/>
          </a:solidFill>
          <a:ln/>
        </p:spPr>
      </p:sp>
      <p:sp>
        <p:nvSpPr>
          <p:cNvPr id="68" name="Text 66"/>
          <p:cNvSpPr/>
          <p:nvPr/>
        </p:nvSpPr>
        <p:spPr>
          <a:xfrm>
            <a:off x="15101718" y="4176713"/>
            <a:ext cx="2119313" cy="518092"/>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Deterministic backtesting</a:t>
            </a:r>
            <a:endParaRPr lang="en-US" sz="1350" dirty="0"/>
          </a:p>
        </p:txBody>
      </p:sp>
      <p:sp>
        <p:nvSpPr>
          <p:cNvPr id="69" name="Text 67"/>
          <p:cNvSpPr/>
          <p:nvPr/>
        </p:nvSpPr>
        <p:spPr>
          <a:xfrm>
            <a:off x="15101718" y="4751955"/>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Test new models against the exact historical data. No drift between training and reality.</a:t>
            </a:r>
            <a:endParaRPr lang="en-US" sz="1125" dirty="0"/>
          </a:p>
        </p:txBody>
      </p:sp>
      <p:sp>
        <p:nvSpPr>
          <p:cNvPr id="70" name="Shape 68"/>
          <p:cNvSpPr/>
          <p:nvPr/>
        </p:nvSpPr>
        <p:spPr>
          <a:xfrm>
            <a:off x="9567693" y="7453313"/>
            <a:ext cx="7805908" cy="1690688"/>
          </a:xfrm>
          <a:prstGeom prst="rect">
            <a:avLst/>
          </a:prstGeom>
          <a:solidFill>
            <a:srgbClr val="262626"/>
          </a:solidFill>
          <a:ln/>
        </p:spPr>
      </p:sp>
      <p:sp>
        <p:nvSpPr>
          <p:cNvPr id="71" name="Text 69"/>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72" name="Text 70"/>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"The data science team built a churn-prediction model using two years of event history we already had. With our previous architecture, they would have started from scratch. Collecting data first."</a:t>
            </a:r>
            <a:endParaRPr lang="en-US" sz="1650" dirty="0"/>
          </a:p>
        </p:txBody>
      </p:sp>
      <p:sp>
        <p:nvSpPr>
          <p:cNvPr id="73" name="Text 71"/>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74" name="Shape 72"/>
          <p:cNvSpPr/>
          <p:nvPr/>
        </p:nvSpPr>
        <p:spPr>
          <a:xfrm>
            <a:off x="3003947" y="9729107"/>
            <a:ext cx="38100" cy="38100"/>
          </a:xfrm>
          <a:prstGeom prst="ellipse">
            <a:avLst/>
          </a:prstGeom>
          <a:solidFill>
            <a:srgbClr val="6F6F6F"/>
          </a:solidFill>
          <a:ln/>
        </p:spPr>
      </p:sp>
      <p:sp>
        <p:nvSpPr>
          <p:cNvPr id="75" name="Text 73"/>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76" name="Text 74"/>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06 / 13</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04</a:t>
            </a:r>
            <a:endParaRPr lang="en-US" sz="10500" dirty="0"/>
          </a:p>
        </p:txBody>
      </p:sp>
      <p:sp>
        <p:nvSpPr>
          <p:cNvPr id="4" name="Text 2"/>
          <p:cNvSpPr/>
          <p:nvPr/>
        </p:nvSpPr>
        <p:spPr>
          <a:xfrm>
            <a:off x="2982686" y="914400"/>
            <a:ext cx="5993668"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4 OF 6 · ANALYTICS · DASHBOARDS · STREAMS</a:t>
            </a:r>
            <a:endParaRPr lang="en-US" sz="1350" dirty="0"/>
          </a:p>
        </p:txBody>
      </p:sp>
      <p:sp>
        <p:nvSpPr>
          <p:cNvPr id="5" name="Text 3"/>
          <p:cNvSpPr/>
          <p:nvPr/>
        </p:nvSpPr>
        <p:spPr>
          <a:xfrm>
            <a:off x="2982686" y="1265464"/>
            <a:ext cx="931180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Many Views, One Truth</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The same source data feeds many products — each optimized for its own purpose.</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One event log feeds many purpose-built views. Marketing gets analytical dashboards. Customer success gets operational tooling. Data science gets training data.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All from the same source of truth.</a:t>
            </a:r>
            <a:endParaRPr lang="en-US" sz="1650" dirty="0"/>
          </a:p>
        </p:txBody>
      </p:sp>
      <p:sp>
        <p:nvSpPr>
          <p:cNvPr id="11" name="Shape 9"/>
          <p:cNvSpPr/>
          <p:nvPr/>
        </p:nvSpPr>
        <p:spPr>
          <a:xfrm>
            <a:off x="1317171" y="5862638"/>
            <a:ext cx="7412321" cy="429986"/>
          </a:xfrm>
          <a:prstGeom prst="rect">
            <a:avLst/>
          </a:prstGeom>
          <a:solidFill>
            <a:srgbClr val="161616"/>
          </a:solidFill>
          <a:ln/>
        </p:spPr>
      </p:sp>
      <p:sp>
        <p:nvSpPr>
          <p:cNvPr id="12" name="Text 10"/>
          <p:cNvSpPr/>
          <p:nvPr/>
        </p:nvSpPr>
        <p:spPr>
          <a:xfrm>
            <a:off x="1488621" y="6006873"/>
            <a:ext cx="554831"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78A9FF"/>
                </a:solidFill>
                <a:latin typeface="Arial" pitchFamily="34" charset="0"/>
                <a:ea typeface="Arial" pitchFamily="34" charset="-122"/>
                <a:cs typeface="Arial" pitchFamily="34" charset="-120"/>
              </a:rPr>
              <a:t>ONE LOG</a:t>
            </a:r>
            <a:endParaRPr lang="en-US" sz="825" dirty="0"/>
          </a:p>
        </p:txBody>
      </p:sp>
      <p:sp>
        <p:nvSpPr>
          <p:cNvPr id="13" name="Text 11"/>
          <p:cNvSpPr/>
          <p:nvPr/>
        </p:nvSpPr>
        <p:spPr>
          <a:xfrm>
            <a:off x="2100603" y="5995988"/>
            <a:ext cx="2903982" cy="201386"/>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Arial" pitchFamily="34" charset="0"/>
                <a:ea typeface="Arial" pitchFamily="34" charset="-122"/>
                <a:cs typeface="Arial" pitchFamily="34" charset="-120"/>
              </a:rPr>
              <a:t>claim events · immutable, append-only</a:t>
            </a:r>
            <a:endParaRPr lang="en-US" sz="975" dirty="0"/>
          </a:p>
        </p:txBody>
      </p:sp>
      <p:sp>
        <p:nvSpPr>
          <p:cNvPr id="14" name="Shape 12"/>
          <p:cNvSpPr/>
          <p:nvPr/>
        </p:nvSpPr>
        <p:spPr>
          <a:xfrm>
            <a:off x="1317171" y="6406923"/>
            <a:ext cx="1795803" cy="849086"/>
          </a:xfrm>
          <a:prstGeom prst="rect">
            <a:avLst/>
          </a:prstGeom>
          <a:solidFill>
            <a:srgbClr val="FFFFFF"/>
          </a:solidFill>
          <a:ln w="10886">
            <a:solidFill>
              <a:srgbClr val="C6C6C6"/>
            </a:solidFill>
            <a:prstDash val="solid"/>
          </a:ln>
        </p:spPr>
      </p:sp>
      <p:sp>
        <p:nvSpPr>
          <p:cNvPr id="15" name="Text 13"/>
          <p:cNvSpPr/>
          <p:nvPr/>
        </p:nvSpPr>
        <p:spPr>
          <a:xfrm>
            <a:off x="1461407" y="6551159"/>
            <a:ext cx="158353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0F62FE"/>
                </a:solidFill>
                <a:latin typeface="Arial" pitchFamily="34" charset="0"/>
                <a:ea typeface="Arial" pitchFamily="34" charset="-122"/>
                <a:cs typeface="Arial" pitchFamily="34" charset="-120"/>
              </a:rPr>
              <a:t>READ MODEL</a:t>
            </a:r>
            <a:endParaRPr lang="en-US" sz="750" dirty="0"/>
          </a:p>
        </p:txBody>
      </p:sp>
      <p:sp>
        <p:nvSpPr>
          <p:cNvPr id="16" name="Text 14"/>
          <p:cNvSpPr/>
          <p:nvPr/>
        </p:nvSpPr>
        <p:spPr>
          <a:xfrm>
            <a:off x="1461407" y="6728052"/>
            <a:ext cx="1583531" cy="212271"/>
          </a:xfrm>
          <a:prstGeom prst="rect">
            <a:avLst/>
          </a:prstGeom>
          <a:noFill/>
          <a:ln/>
        </p:spPr>
        <p:txBody>
          <a:bodyPr wrap="square" lIns="25400" tIns="25400" rIns="25400" bIns="25400" rtlCol="0" anchor="t">
            <a:normAutofit/>
          </a:bodyPr>
          <a:lstStyle/>
          <a:p>
            <a:pPr algn="l" indent="0" marL="0">
              <a:buNone/>
            </a:pPr>
            <a:r>
              <a:rPr lang="en-US" sz="1050" b="1" dirty="0">
                <a:solidFill>
                  <a:srgbClr val="161616"/>
                </a:solidFill>
                <a:latin typeface="Arial" pitchFamily="34" charset="0"/>
                <a:ea typeface="Arial" pitchFamily="34" charset="-122"/>
                <a:cs typeface="Arial" pitchFamily="34" charset="-120"/>
              </a:rPr>
              <a:t>Ops dashboard</a:t>
            </a:r>
            <a:endParaRPr lang="en-US" sz="1050" dirty="0"/>
          </a:p>
        </p:txBody>
      </p:sp>
      <p:sp>
        <p:nvSpPr>
          <p:cNvPr id="17" name="Text 15"/>
          <p:cNvSpPr/>
          <p:nvPr/>
        </p:nvSpPr>
        <p:spPr>
          <a:xfrm>
            <a:off x="1461407" y="6959373"/>
            <a:ext cx="1583531" cy="190500"/>
          </a:xfrm>
          <a:prstGeom prst="rect">
            <a:avLst/>
          </a:prstGeom>
          <a:noFill/>
          <a:ln/>
        </p:spPr>
        <p:txBody>
          <a:bodyPr wrap="square" lIns="25400" tIns="25400" rIns="25400" bIns="25400" rtlCol="0" anchor="t">
            <a:normAutofit/>
          </a:bodyPr>
          <a:lstStyle/>
          <a:p>
            <a:pPr algn="l" indent="0" marL="0">
              <a:buNone/>
            </a:pPr>
            <a:r>
              <a:rPr lang="en-US" sz="900" dirty="0">
                <a:solidFill>
                  <a:srgbClr val="6F6F6F"/>
                </a:solidFill>
                <a:latin typeface="Arial" pitchFamily="34" charset="0"/>
                <a:ea typeface="Arial" pitchFamily="34" charset="-122"/>
                <a:cs typeface="Arial" pitchFamily="34" charset="-120"/>
              </a:rPr>
              <a:t>Customer success</a:t>
            </a:r>
            <a:endParaRPr lang="en-US" sz="900" dirty="0"/>
          </a:p>
        </p:txBody>
      </p:sp>
      <p:sp>
        <p:nvSpPr>
          <p:cNvPr id="18" name="Shape 16"/>
          <p:cNvSpPr/>
          <p:nvPr/>
        </p:nvSpPr>
        <p:spPr>
          <a:xfrm>
            <a:off x="3189174" y="6406923"/>
            <a:ext cx="1795973" cy="849086"/>
          </a:xfrm>
          <a:prstGeom prst="rect">
            <a:avLst/>
          </a:prstGeom>
          <a:solidFill>
            <a:srgbClr val="FFFFFF"/>
          </a:solidFill>
          <a:ln w="10886">
            <a:solidFill>
              <a:srgbClr val="C6C6C6"/>
            </a:solidFill>
            <a:prstDash val="solid"/>
          </a:ln>
        </p:spPr>
      </p:sp>
      <p:sp>
        <p:nvSpPr>
          <p:cNvPr id="19" name="Text 17"/>
          <p:cNvSpPr/>
          <p:nvPr/>
        </p:nvSpPr>
        <p:spPr>
          <a:xfrm>
            <a:off x="3333410" y="6551159"/>
            <a:ext cx="158370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0F62FE"/>
                </a:solidFill>
                <a:latin typeface="Arial" pitchFamily="34" charset="0"/>
                <a:ea typeface="Arial" pitchFamily="34" charset="-122"/>
                <a:cs typeface="Arial" pitchFamily="34" charset="-120"/>
              </a:rPr>
              <a:t>READ MODEL</a:t>
            </a:r>
            <a:endParaRPr lang="en-US" sz="750" dirty="0"/>
          </a:p>
        </p:txBody>
      </p:sp>
      <p:sp>
        <p:nvSpPr>
          <p:cNvPr id="20" name="Text 18"/>
          <p:cNvSpPr/>
          <p:nvPr/>
        </p:nvSpPr>
        <p:spPr>
          <a:xfrm>
            <a:off x="3333410" y="6728052"/>
            <a:ext cx="1583701" cy="212271"/>
          </a:xfrm>
          <a:prstGeom prst="rect">
            <a:avLst/>
          </a:prstGeom>
          <a:noFill/>
          <a:ln/>
        </p:spPr>
        <p:txBody>
          <a:bodyPr wrap="square" lIns="25400" tIns="25400" rIns="25400" bIns="25400" rtlCol="0" anchor="t">
            <a:normAutofit/>
          </a:bodyPr>
          <a:lstStyle/>
          <a:p>
            <a:pPr algn="l" indent="0" marL="0">
              <a:buNone/>
            </a:pPr>
            <a:r>
              <a:rPr lang="en-US" sz="1050" b="1" dirty="0">
                <a:solidFill>
                  <a:srgbClr val="161616"/>
                </a:solidFill>
                <a:latin typeface="Arial" pitchFamily="34" charset="0"/>
                <a:ea typeface="Arial" pitchFamily="34" charset="-122"/>
                <a:cs typeface="Arial" pitchFamily="34" charset="-120"/>
              </a:rPr>
              <a:t>Ledger</a:t>
            </a:r>
            <a:endParaRPr lang="en-US" sz="1050" dirty="0"/>
          </a:p>
        </p:txBody>
      </p:sp>
      <p:sp>
        <p:nvSpPr>
          <p:cNvPr id="21" name="Text 19"/>
          <p:cNvSpPr/>
          <p:nvPr/>
        </p:nvSpPr>
        <p:spPr>
          <a:xfrm>
            <a:off x="3333410" y="6959373"/>
            <a:ext cx="1583701" cy="190500"/>
          </a:xfrm>
          <a:prstGeom prst="rect">
            <a:avLst/>
          </a:prstGeom>
          <a:noFill/>
          <a:ln/>
        </p:spPr>
        <p:txBody>
          <a:bodyPr wrap="square" lIns="25400" tIns="25400" rIns="25400" bIns="25400" rtlCol="0" anchor="t">
            <a:normAutofit/>
          </a:bodyPr>
          <a:lstStyle/>
          <a:p>
            <a:pPr algn="l" indent="0" marL="0">
              <a:buNone/>
            </a:pPr>
            <a:r>
              <a:rPr lang="en-US" sz="900" dirty="0">
                <a:solidFill>
                  <a:srgbClr val="6F6F6F"/>
                </a:solidFill>
                <a:latin typeface="Arial" pitchFamily="34" charset="0"/>
                <a:ea typeface="Arial" pitchFamily="34" charset="-122"/>
                <a:cs typeface="Arial" pitchFamily="34" charset="-120"/>
              </a:rPr>
              <a:t>Finance</a:t>
            </a:r>
            <a:endParaRPr lang="en-US" sz="900" dirty="0"/>
          </a:p>
        </p:txBody>
      </p:sp>
      <p:sp>
        <p:nvSpPr>
          <p:cNvPr id="22" name="Shape 20"/>
          <p:cNvSpPr/>
          <p:nvPr/>
        </p:nvSpPr>
        <p:spPr>
          <a:xfrm>
            <a:off x="5061347" y="6406923"/>
            <a:ext cx="1795973" cy="849086"/>
          </a:xfrm>
          <a:prstGeom prst="rect">
            <a:avLst/>
          </a:prstGeom>
          <a:solidFill>
            <a:srgbClr val="FFFFFF"/>
          </a:solidFill>
          <a:ln w="10886">
            <a:solidFill>
              <a:srgbClr val="C6C6C6"/>
            </a:solidFill>
            <a:prstDash val="solid"/>
          </a:ln>
        </p:spPr>
      </p:sp>
      <p:sp>
        <p:nvSpPr>
          <p:cNvPr id="23" name="Text 21"/>
          <p:cNvSpPr/>
          <p:nvPr/>
        </p:nvSpPr>
        <p:spPr>
          <a:xfrm>
            <a:off x="5205583" y="6551159"/>
            <a:ext cx="158370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0F62FE"/>
                </a:solidFill>
                <a:latin typeface="Arial" pitchFamily="34" charset="0"/>
                <a:ea typeface="Arial" pitchFamily="34" charset="-122"/>
                <a:cs typeface="Arial" pitchFamily="34" charset="-120"/>
              </a:rPr>
              <a:t>READ MODEL</a:t>
            </a:r>
            <a:endParaRPr lang="en-US" sz="750" dirty="0"/>
          </a:p>
        </p:txBody>
      </p:sp>
      <p:sp>
        <p:nvSpPr>
          <p:cNvPr id="24" name="Text 22"/>
          <p:cNvSpPr/>
          <p:nvPr/>
        </p:nvSpPr>
        <p:spPr>
          <a:xfrm>
            <a:off x="5205583" y="6728052"/>
            <a:ext cx="1583701" cy="212271"/>
          </a:xfrm>
          <a:prstGeom prst="rect">
            <a:avLst/>
          </a:prstGeom>
          <a:noFill/>
          <a:ln/>
        </p:spPr>
        <p:txBody>
          <a:bodyPr wrap="square" lIns="25400" tIns="25400" rIns="25400" bIns="25400" rtlCol="0" anchor="t">
            <a:normAutofit/>
          </a:bodyPr>
          <a:lstStyle/>
          <a:p>
            <a:pPr algn="l" indent="0" marL="0">
              <a:buNone/>
            </a:pPr>
            <a:r>
              <a:rPr lang="en-US" sz="1050" b="1" dirty="0">
                <a:solidFill>
                  <a:srgbClr val="161616"/>
                </a:solidFill>
                <a:latin typeface="Arial" pitchFamily="34" charset="0"/>
                <a:ea typeface="Arial" pitchFamily="34" charset="-122"/>
                <a:cs typeface="Arial" pitchFamily="34" charset="-120"/>
              </a:rPr>
              <a:t>Signals pipeline</a:t>
            </a:r>
            <a:endParaRPr lang="en-US" sz="1050" dirty="0"/>
          </a:p>
        </p:txBody>
      </p:sp>
      <p:sp>
        <p:nvSpPr>
          <p:cNvPr id="25" name="Text 23"/>
          <p:cNvSpPr/>
          <p:nvPr/>
        </p:nvSpPr>
        <p:spPr>
          <a:xfrm>
            <a:off x="5205583" y="6959373"/>
            <a:ext cx="1583701" cy="190500"/>
          </a:xfrm>
          <a:prstGeom prst="rect">
            <a:avLst/>
          </a:prstGeom>
          <a:noFill/>
          <a:ln/>
        </p:spPr>
        <p:txBody>
          <a:bodyPr wrap="square" lIns="25400" tIns="25400" rIns="25400" bIns="25400" rtlCol="0" anchor="t">
            <a:normAutofit/>
          </a:bodyPr>
          <a:lstStyle/>
          <a:p>
            <a:pPr algn="l" indent="0" marL="0">
              <a:buNone/>
            </a:pPr>
            <a:r>
              <a:rPr lang="en-US" sz="900" dirty="0">
                <a:solidFill>
                  <a:srgbClr val="6F6F6F"/>
                </a:solidFill>
                <a:latin typeface="Arial" pitchFamily="34" charset="0"/>
                <a:ea typeface="Arial" pitchFamily="34" charset="-122"/>
                <a:cs typeface="Arial" pitchFamily="34" charset="-120"/>
              </a:rPr>
              <a:t>Fraud / Risk</a:t>
            </a:r>
            <a:endParaRPr lang="en-US" sz="900" dirty="0"/>
          </a:p>
        </p:txBody>
      </p:sp>
      <p:sp>
        <p:nvSpPr>
          <p:cNvPr id="26" name="Shape 24"/>
          <p:cNvSpPr/>
          <p:nvPr/>
        </p:nvSpPr>
        <p:spPr>
          <a:xfrm>
            <a:off x="6933520" y="6406923"/>
            <a:ext cx="1795973" cy="849086"/>
          </a:xfrm>
          <a:prstGeom prst="rect">
            <a:avLst/>
          </a:prstGeom>
          <a:solidFill>
            <a:srgbClr val="FFFFFF"/>
          </a:solidFill>
          <a:ln w="10886">
            <a:solidFill>
              <a:srgbClr val="C6C6C6"/>
            </a:solidFill>
            <a:prstDash val="solid"/>
          </a:ln>
        </p:spPr>
      </p:sp>
      <p:sp>
        <p:nvSpPr>
          <p:cNvPr id="27" name="Text 25"/>
          <p:cNvSpPr/>
          <p:nvPr/>
        </p:nvSpPr>
        <p:spPr>
          <a:xfrm>
            <a:off x="7077756" y="6551159"/>
            <a:ext cx="1583701" cy="157843"/>
          </a:xfrm>
          <a:prstGeom prst="rect">
            <a:avLst/>
          </a:prstGeom>
          <a:noFill/>
          <a:ln/>
        </p:spPr>
        <p:txBody>
          <a:bodyPr wrap="square" lIns="25400" tIns="25400" rIns="25400" bIns="25400" rtlCol="0" anchor="t">
            <a:normAutofit/>
          </a:bodyPr>
          <a:lstStyle/>
          <a:p>
            <a:pPr algn="l" indent="0" marL="0">
              <a:buNone/>
            </a:pPr>
            <a:r>
              <a:rPr lang="en-US" sz="750" spc="24" kern="0" dirty="0">
                <a:solidFill>
                  <a:srgbClr val="0F62FE"/>
                </a:solidFill>
                <a:latin typeface="Arial" pitchFamily="34" charset="0"/>
                <a:ea typeface="Arial" pitchFamily="34" charset="-122"/>
                <a:cs typeface="Arial" pitchFamily="34" charset="-120"/>
              </a:rPr>
              <a:t>READ MODEL</a:t>
            </a:r>
            <a:endParaRPr lang="en-US" sz="750" dirty="0"/>
          </a:p>
        </p:txBody>
      </p:sp>
      <p:sp>
        <p:nvSpPr>
          <p:cNvPr id="28" name="Text 26"/>
          <p:cNvSpPr/>
          <p:nvPr/>
        </p:nvSpPr>
        <p:spPr>
          <a:xfrm>
            <a:off x="7077756" y="6728052"/>
            <a:ext cx="1583701" cy="212271"/>
          </a:xfrm>
          <a:prstGeom prst="rect">
            <a:avLst/>
          </a:prstGeom>
          <a:noFill/>
          <a:ln/>
        </p:spPr>
        <p:txBody>
          <a:bodyPr wrap="square" lIns="25400" tIns="25400" rIns="25400" bIns="25400" rtlCol="0" anchor="t">
            <a:normAutofit/>
          </a:bodyPr>
          <a:lstStyle/>
          <a:p>
            <a:pPr algn="l" indent="0" marL="0">
              <a:buNone/>
            </a:pPr>
            <a:r>
              <a:rPr lang="en-US" sz="1050" b="1" dirty="0">
                <a:solidFill>
                  <a:srgbClr val="161616"/>
                </a:solidFill>
                <a:latin typeface="Arial" pitchFamily="34" charset="0"/>
                <a:ea typeface="Arial" pitchFamily="34" charset="-122"/>
                <a:cs typeface="Arial" pitchFamily="34" charset="-120"/>
              </a:rPr>
              <a:t>Feature store</a:t>
            </a:r>
            <a:endParaRPr lang="en-US" sz="1050" dirty="0"/>
          </a:p>
        </p:txBody>
      </p:sp>
      <p:sp>
        <p:nvSpPr>
          <p:cNvPr id="29" name="Text 27"/>
          <p:cNvSpPr/>
          <p:nvPr/>
        </p:nvSpPr>
        <p:spPr>
          <a:xfrm>
            <a:off x="7077756" y="6959373"/>
            <a:ext cx="1583701" cy="190500"/>
          </a:xfrm>
          <a:prstGeom prst="rect">
            <a:avLst/>
          </a:prstGeom>
          <a:noFill/>
          <a:ln/>
        </p:spPr>
        <p:txBody>
          <a:bodyPr wrap="square" lIns="25400" tIns="25400" rIns="25400" bIns="25400" rtlCol="0" anchor="t">
            <a:normAutofit/>
          </a:bodyPr>
          <a:lstStyle/>
          <a:p>
            <a:pPr algn="l" indent="0" marL="0">
              <a:buNone/>
            </a:pPr>
            <a:r>
              <a:rPr lang="en-US" sz="900" dirty="0">
                <a:solidFill>
                  <a:srgbClr val="6F6F6F"/>
                </a:solidFill>
                <a:latin typeface="Arial" pitchFamily="34" charset="0"/>
                <a:ea typeface="Arial" pitchFamily="34" charset="-122"/>
                <a:cs typeface="Arial" pitchFamily="34" charset="-120"/>
              </a:rPr>
              <a:t>Data science</a:t>
            </a:r>
            <a:endParaRPr lang="en-US" sz="900" dirty="0"/>
          </a:p>
        </p:txBody>
      </p:sp>
      <p:sp>
        <p:nvSpPr>
          <p:cNvPr id="30" name="Shape 28"/>
          <p:cNvSpPr/>
          <p:nvPr/>
        </p:nvSpPr>
        <p:spPr>
          <a:xfrm>
            <a:off x="9567693" y="3937227"/>
            <a:ext cx="2500313" cy="1632007"/>
          </a:xfrm>
          <a:prstGeom prst="rect">
            <a:avLst/>
          </a:prstGeom>
          <a:solidFill>
            <a:srgbClr val="F4F4F4"/>
          </a:solidFill>
          <a:ln/>
        </p:spPr>
      </p:sp>
      <p:sp>
        <p:nvSpPr>
          <p:cNvPr id="31" name="Shape 29"/>
          <p:cNvSpPr/>
          <p:nvPr/>
        </p:nvSpPr>
        <p:spPr>
          <a:xfrm>
            <a:off x="9567693" y="3937227"/>
            <a:ext cx="2500313" cy="10886"/>
          </a:xfrm>
          <a:prstGeom prst="rect">
            <a:avLst/>
          </a:prstGeom>
          <a:solidFill>
            <a:srgbClr val="0F62FE"/>
          </a:solidFill>
          <a:ln/>
        </p:spPr>
      </p:sp>
      <p:sp>
        <p:nvSpPr>
          <p:cNvPr id="32" name="Text 30"/>
          <p:cNvSpPr/>
          <p:nvPr/>
        </p:nvSpPr>
        <p:spPr>
          <a:xfrm>
            <a:off x="9796293"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No data silos</a:t>
            </a:r>
            <a:endParaRPr lang="en-US" sz="1350" dirty="0"/>
          </a:p>
        </p:txBody>
      </p:sp>
      <p:sp>
        <p:nvSpPr>
          <p:cNvPr id="33" name="Text 31"/>
          <p:cNvSpPr/>
          <p:nvPr/>
        </p:nvSpPr>
        <p:spPr>
          <a:xfrm>
            <a:off x="9796293"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Marketing's numbers and customer success's numbers come from the same source.</a:t>
            </a:r>
            <a:endParaRPr lang="en-US" sz="1125" dirty="0"/>
          </a:p>
        </p:txBody>
      </p:sp>
      <p:sp>
        <p:nvSpPr>
          <p:cNvPr id="34" name="Shape 32"/>
          <p:cNvSpPr/>
          <p:nvPr/>
        </p:nvSpPr>
        <p:spPr>
          <a:xfrm>
            <a:off x="12220405" y="3937227"/>
            <a:ext cx="2500313" cy="1632007"/>
          </a:xfrm>
          <a:prstGeom prst="rect">
            <a:avLst/>
          </a:prstGeom>
          <a:solidFill>
            <a:srgbClr val="F4F4F4"/>
          </a:solidFill>
          <a:ln/>
        </p:spPr>
      </p:sp>
      <p:sp>
        <p:nvSpPr>
          <p:cNvPr id="35" name="Shape 33"/>
          <p:cNvSpPr/>
          <p:nvPr/>
        </p:nvSpPr>
        <p:spPr>
          <a:xfrm>
            <a:off x="12220405" y="3937227"/>
            <a:ext cx="2500313" cy="10886"/>
          </a:xfrm>
          <a:prstGeom prst="rect">
            <a:avLst/>
          </a:prstGeom>
          <a:solidFill>
            <a:srgbClr val="0F62FE"/>
          </a:solidFill>
          <a:ln/>
        </p:spPr>
      </p:sp>
      <p:sp>
        <p:nvSpPr>
          <p:cNvPr id="36" name="Text 34"/>
          <p:cNvSpPr/>
          <p:nvPr/>
        </p:nvSpPr>
        <p:spPr>
          <a:xfrm>
            <a:off x="12449005"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New views in days</a:t>
            </a:r>
            <a:endParaRPr lang="en-US" sz="1350" dirty="0"/>
          </a:p>
        </p:txBody>
      </p:sp>
      <p:sp>
        <p:nvSpPr>
          <p:cNvPr id="37" name="Text 35"/>
          <p:cNvSpPr/>
          <p:nvPr/>
        </p:nvSpPr>
        <p:spPr>
          <a:xfrm>
            <a:off x="12449005" y="4511959"/>
            <a:ext cx="2119313" cy="86677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A team needs a new dashboard? Build a projection. No database migrations. No coordination.</a:t>
            </a:r>
            <a:endParaRPr lang="en-US" sz="1125" dirty="0"/>
          </a:p>
        </p:txBody>
      </p:sp>
      <p:sp>
        <p:nvSpPr>
          <p:cNvPr id="38" name="Shape 36"/>
          <p:cNvSpPr/>
          <p:nvPr/>
        </p:nvSpPr>
        <p:spPr>
          <a:xfrm>
            <a:off x="14873118" y="3937227"/>
            <a:ext cx="2500313" cy="1632007"/>
          </a:xfrm>
          <a:prstGeom prst="rect">
            <a:avLst/>
          </a:prstGeom>
          <a:solidFill>
            <a:srgbClr val="F4F4F4"/>
          </a:solidFill>
          <a:ln/>
        </p:spPr>
      </p:sp>
      <p:sp>
        <p:nvSpPr>
          <p:cNvPr id="39" name="Shape 37"/>
          <p:cNvSpPr/>
          <p:nvPr/>
        </p:nvSpPr>
        <p:spPr>
          <a:xfrm>
            <a:off x="14873118" y="3937227"/>
            <a:ext cx="2500313" cy="10886"/>
          </a:xfrm>
          <a:prstGeom prst="rect">
            <a:avLst/>
          </a:prstGeom>
          <a:solidFill>
            <a:srgbClr val="0F62FE"/>
          </a:solidFill>
          <a:ln/>
        </p:spPr>
      </p:sp>
      <p:sp>
        <p:nvSpPr>
          <p:cNvPr id="40" name="Text 38"/>
          <p:cNvSpPr/>
          <p:nvPr/>
        </p:nvSpPr>
        <p:spPr>
          <a:xfrm>
            <a:off x="15101718"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Compounding leverage</a:t>
            </a:r>
            <a:endParaRPr lang="en-US" sz="1350" dirty="0"/>
          </a:p>
        </p:txBody>
      </p:sp>
      <p:sp>
        <p:nvSpPr>
          <p:cNvPr id="41" name="Text 39"/>
          <p:cNvSpPr/>
          <p:nvPr/>
        </p:nvSpPr>
        <p:spPr>
          <a:xfrm>
            <a:off x="15101718"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Each new use of the data adds value without changing the source. The asset compounds.</a:t>
            </a:r>
            <a:endParaRPr lang="en-US" sz="1125" dirty="0"/>
          </a:p>
        </p:txBody>
      </p:sp>
      <p:sp>
        <p:nvSpPr>
          <p:cNvPr id="42" name="Shape 40"/>
          <p:cNvSpPr/>
          <p:nvPr/>
        </p:nvSpPr>
        <p:spPr>
          <a:xfrm>
            <a:off x="9567693" y="7453313"/>
            <a:ext cx="7805908" cy="1690688"/>
          </a:xfrm>
          <a:prstGeom prst="rect">
            <a:avLst/>
          </a:prstGeom>
          <a:solidFill>
            <a:srgbClr val="262626"/>
          </a:solidFill>
          <a:ln/>
        </p:spPr>
      </p:sp>
      <p:sp>
        <p:nvSpPr>
          <p:cNvPr id="43" name="Text 41"/>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44" name="Text 42"/>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"Finance and product had different revenue numbers for two years. With one event log feeding both teams' dashboards, the discrepancy disappeared. There is only one number now, by construction."</a:t>
            </a:r>
            <a:endParaRPr lang="en-US" sz="1650" dirty="0"/>
          </a:p>
        </p:txBody>
      </p:sp>
      <p:sp>
        <p:nvSpPr>
          <p:cNvPr id="45" name="Text 43"/>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46" name="Shape 44"/>
          <p:cNvSpPr/>
          <p:nvPr/>
        </p:nvSpPr>
        <p:spPr>
          <a:xfrm>
            <a:off x="3003947" y="9729107"/>
            <a:ext cx="38100" cy="38100"/>
          </a:xfrm>
          <a:prstGeom prst="ellipse">
            <a:avLst/>
          </a:prstGeom>
          <a:solidFill>
            <a:srgbClr val="6F6F6F"/>
          </a:solidFill>
          <a:ln/>
        </p:spPr>
      </p:sp>
      <p:sp>
        <p:nvSpPr>
          <p:cNvPr id="47" name="Text 45"/>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48" name="Text 46"/>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07 / 13</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05</a:t>
            </a:r>
            <a:endParaRPr lang="en-US" sz="10500" dirty="0"/>
          </a:p>
        </p:txBody>
      </p:sp>
      <p:sp>
        <p:nvSpPr>
          <p:cNvPr id="4" name="Text 2"/>
          <p:cNvSpPr/>
          <p:nvPr/>
        </p:nvSpPr>
        <p:spPr>
          <a:xfrm>
            <a:off x="2982686" y="914400"/>
            <a:ext cx="5417462"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5 OF 6 · PRODUCT VELOCITY · DELIVERY</a:t>
            </a:r>
            <a:endParaRPr lang="en-US" sz="1350" dirty="0"/>
          </a:p>
        </p:txBody>
      </p:sp>
      <p:sp>
        <p:nvSpPr>
          <p:cNvPr id="5" name="Text 3"/>
          <p:cNvSpPr/>
          <p:nvPr/>
        </p:nvSpPr>
        <p:spPr>
          <a:xfrm>
            <a:off x="2982686" y="1265464"/>
            <a:ext cx="758511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Rewrite Avoidance</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Continuous evolution, not periodic 18-month "version 2.0" rewrites.</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New requirements typically force schema migrations, data backfills, or full rewrites. Event-sourced systems handle change by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adding new event types or projections </a:t>
            </a:r>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 alongside what already runs.</a:t>
            </a:r>
            <a:endParaRPr lang="en-US" sz="1650" dirty="0"/>
          </a:p>
        </p:txBody>
      </p:sp>
      <p:sp>
        <p:nvSpPr>
          <p:cNvPr id="11" name="Shape 9"/>
          <p:cNvSpPr/>
          <p:nvPr/>
        </p:nvSpPr>
        <p:spPr>
          <a:xfrm>
            <a:off x="1317171" y="5843588"/>
            <a:ext cx="3667976" cy="1177528"/>
          </a:xfrm>
          <a:prstGeom prst="rect">
            <a:avLst/>
          </a:prstGeom>
          <a:solidFill>
            <a:srgbClr val="FBECEC"/>
          </a:solidFill>
          <a:ln/>
        </p:spPr>
      </p:sp>
      <p:sp>
        <p:nvSpPr>
          <p:cNvPr id="12" name="Text 10"/>
          <p:cNvSpPr/>
          <p:nvPr/>
        </p:nvSpPr>
        <p:spPr>
          <a:xfrm>
            <a:off x="1526721" y="6034088"/>
            <a:ext cx="3346342"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A2191F"/>
                </a:solidFill>
                <a:latin typeface="Arial" pitchFamily="34" charset="0"/>
                <a:ea typeface="Arial" pitchFamily="34" charset="-122"/>
                <a:cs typeface="Arial" pitchFamily="34" charset="-120"/>
              </a:rPr>
              <a:t>OLD PLAYBOOK</a:t>
            </a:r>
            <a:endParaRPr lang="en-US" sz="825" dirty="0"/>
          </a:p>
        </p:txBody>
      </p:sp>
      <p:sp>
        <p:nvSpPr>
          <p:cNvPr id="13" name="Text 11"/>
          <p:cNvSpPr/>
          <p:nvPr/>
        </p:nvSpPr>
        <p:spPr>
          <a:xfrm>
            <a:off x="1526721" y="6270852"/>
            <a:ext cx="3346342" cy="411276"/>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393939"/>
                </a:solidFill>
                <a:latin typeface="Arial" pitchFamily="34" charset="0"/>
                <a:ea typeface="Arial" pitchFamily="34" charset="-122"/>
                <a:cs typeface="Arial" pitchFamily="34" charset="-120"/>
              </a:rPr>
              <a:t>ALTER TABLE · backfill · downtime · 18-month "version 2.0" rewrite · cross-team coordination</a:t>
            </a:r>
            <a:endParaRPr lang="en-US" sz="1050" dirty="0"/>
          </a:p>
        </p:txBody>
      </p:sp>
      <p:sp>
        <p:nvSpPr>
          <p:cNvPr id="14" name="Shape 12"/>
          <p:cNvSpPr/>
          <p:nvPr/>
        </p:nvSpPr>
        <p:spPr>
          <a:xfrm>
            <a:off x="5061347" y="5843588"/>
            <a:ext cx="3668146" cy="1177528"/>
          </a:xfrm>
          <a:prstGeom prst="rect">
            <a:avLst/>
          </a:prstGeom>
          <a:solidFill>
            <a:srgbClr val="E6F4EA"/>
          </a:solidFill>
          <a:ln/>
        </p:spPr>
      </p:sp>
      <p:sp>
        <p:nvSpPr>
          <p:cNvPr id="15" name="Text 13"/>
          <p:cNvSpPr/>
          <p:nvPr/>
        </p:nvSpPr>
        <p:spPr>
          <a:xfrm>
            <a:off x="5270897" y="6034088"/>
            <a:ext cx="3346517"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E6027"/>
                </a:solidFill>
                <a:latin typeface="Arial" pitchFamily="34" charset="0"/>
                <a:ea typeface="Arial" pitchFamily="34" charset="-122"/>
                <a:cs typeface="Arial" pitchFamily="34" charset="-120"/>
              </a:rPr>
              <a:t>EVENT-SOURCED PLAYBOOK</a:t>
            </a:r>
            <a:endParaRPr lang="en-US" sz="825" dirty="0"/>
          </a:p>
        </p:txBody>
      </p:sp>
      <p:sp>
        <p:nvSpPr>
          <p:cNvPr id="16" name="Text 14"/>
          <p:cNvSpPr/>
          <p:nvPr/>
        </p:nvSpPr>
        <p:spPr>
          <a:xfrm>
            <a:off x="5270897" y="6270852"/>
            <a:ext cx="3346517" cy="597864"/>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393939"/>
                </a:solidFill>
                <a:latin typeface="Arial" pitchFamily="34" charset="0"/>
                <a:ea typeface="Arial" pitchFamily="34" charset="-122"/>
                <a:cs typeface="Arial" pitchFamily="34" charset="-120"/>
              </a:rPr>
              <a:t>Add a new event type · add a projection · deploy alongside what runs · weekly increments · no downtime</a:t>
            </a:r>
            <a:endParaRPr lang="en-US" sz="1050" dirty="0"/>
          </a:p>
        </p:txBody>
      </p:sp>
      <p:sp>
        <p:nvSpPr>
          <p:cNvPr id="17" name="Shape 15"/>
          <p:cNvSpPr/>
          <p:nvPr/>
        </p:nvSpPr>
        <p:spPr>
          <a:xfrm>
            <a:off x="9567693" y="3937227"/>
            <a:ext cx="2500313" cy="1664834"/>
          </a:xfrm>
          <a:prstGeom prst="rect">
            <a:avLst/>
          </a:prstGeom>
          <a:solidFill>
            <a:srgbClr val="F4F4F4"/>
          </a:solidFill>
          <a:ln/>
        </p:spPr>
      </p:sp>
      <p:sp>
        <p:nvSpPr>
          <p:cNvPr id="18" name="Shape 16"/>
          <p:cNvSpPr/>
          <p:nvPr/>
        </p:nvSpPr>
        <p:spPr>
          <a:xfrm>
            <a:off x="9567693" y="3937227"/>
            <a:ext cx="2500313" cy="10886"/>
          </a:xfrm>
          <a:prstGeom prst="rect">
            <a:avLst/>
          </a:prstGeom>
          <a:solidFill>
            <a:srgbClr val="0F62FE"/>
          </a:solidFill>
          <a:ln/>
        </p:spPr>
      </p:sp>
      <p:sp>
        <p:nvSpPr>
          <p:cNvPr id="19" name="Text 17"/>
          <p:cNvSpPr/>
          <p:nvPr/>
        </p:nvSpPr>
        <p:spPr>
          <a:xfrm>
            <a:off x="9796293"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New fields, no migration</a:t>
            </a:r>
            <a:endParaRPr lang="en-US" sz="1350" dirty="0"/>
          </a:p>
        </p:txBody>
      </p:sp>
      <p:sp>
        <p:nvSpPr>
          <p:cNvPr id="20" name="Text 18"/>
          <p:cNvSpPr/>
          <p:nvPr/>
        </p:nvSpPr>
        <p:spPr>
          <a:xfrm>
            <a:off x="9796293"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Add a new event field. The old events keep working. No downtime. No data backfill.</a:t>
            </a:r>
            <a:endParaRPr lang="en-US" sz="1125" dirty="0"/>
          </a:p>
        </p:txBody>
      </p:sp>
      <p:sp>
        <p:nvSpPr>
          <p:cNvPr id="21" name="Shape 19"/>
          <p:cNvSpPr/>
          <p:nvPr/>
        </p:nvSpPr>
        <p:spPr>
          <a:xfrm>
            <a:off x="12220405" y="3937227"/>
            <a:ext cx="2500313" cy="1664834"/>
          </a:xfrm>
          <a:prstGeom prst="rect">
            <a:avLst/>
          </a:prstGeom>
          <a:solidFill>
            <a:srgbClr val="F4F4F4"/>
          </a:solidFill>
          <a:ln/>
        </p:spPr>
      </p:sp>
      <p:sp>
        <p:nvSpPr>
          <p:cNvPr id="22" name="Shape 20"/>
          <p:cNvSpPr/>
          <p:nvPr/>
        </p:nvSpPr>
        <p:spPr>
          <a:xfrm>
            <a:off x="12220405" y="3937227"/>
            <a:ext cx="2500313" cy="10886"/>
          </a:xfrm>
          <a:prstGeom prst="rect">
            <a:avLst/>
          </a:prstGeom>
          <a:solidFill>
            <a:srgbClr val="0F62FE"/>
          </a:solidFill>
          <a:ln/>
        </p:spPr>
      </p:sp>
      <p:sp>
        <p:nvSpPr>
          <p:cNvPr id="23" name="Text 21"/>
          <p:cNvSpPr/>
          <p:nvPr/>
        </p:nvSpPr>
        <p:spPr>
          <a:xfrm>
            <a:off x="12449005"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New integrations, no risk</a:t>
            </a:r>
            <a:endParaRPr lang="en-US" sz="1350" dirty="0"/>
          </a:p>
        </p:txBody>
      </p:sp>
      <p:sp>
        <p:nvSpPr>
          <p:cNvPr id="24" name="Text 22"/>
          <p:cNvSpPr/>
          <p:nvPr/>
        </p:nvSpPr>
        <p:spPr>
          <a:xfrm>
            <a:off x="12449005"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A new partner needs our data? They subscribe to events. The core system doesn't change.</a:t>
            </a:r>
            <a:endParaRPr lang="en-US" sz="1125" dirty="0"/>
          </a:p>
        </p:txBody>
      </p:sp>
      <p:sp>
        <p:nvSpPr>
          <p:cNvPr id="25" name="Shape 23"/>
          <p:cNvSpPr/>
          <p:nvPr/>
        </p:nvSpPr>
        <p:spPr>
          <a:xfrm>
            <a:off x="14873118" y="3937227"/>
            <a:ext cx="2500313" cy="1664834"/>
          </a:xfrm>
          <a:prstGeom prst="rect">
            <a:avLst/>
          </a:prstGeom>
          <a:solidFill>
            <a:srgbClr val="F4F4F4"/>
          </a:solidFill>
          <a:ln/>
        </p:spPr>
      </p:sp>
      <p:sp>
        <p:nvSpPr>
          <p:cNvPr id="26" name="Shape 24"/>
          <p:cNvSpPr/>
          <p:nvPr/>
        </p:nvSpPr>
        <p:spPr>
          <a:xfrm>
            <a:off x="14873118" y="3937227"/>
            <a:ext cx="2500313" cy="10886"/>
          </a:xfrm>
          <a:prstGeom prst="rect">
            <a:avLst/>
          </a:prstGeom>
          <a:solidFill>
            <a:srgbClr val="0F62FE"/>
          </a:solidFill>
          <a:ln/>
        </p:spPr>
      </p:sp>
      <p:sp>
        <p:nvSpPr>
          <p:cNvPr id="27" name="Text 25"/>
          <p:cNvSpPr/>
          <p:nvPr/>
        </p:nvSpPr>
        <p:spPr>
          <a:xfrm>
            <a:off x="15101718" y="4176713"/>
            <a:ext cx="2119313" cy="518092"/>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Avoid the big-bang project</a:t>
            </a:r>
            <a:endParaRPr lang="en-US" sz="1350" dirty="0"/>
          </a:p>
        </p:txBody>
      </p:sp>
      <p:sp>
        <p:nvSpPr>
          <p:cNvPr id="28" name="Text 26"/>
          <p:cNvSpPr/>
          <p:nvPr/>
        </p:nvSpPr>
        <p:spPr>
          <a:xfrm>
            <a:off x="15101718" y="4751955"/>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No more 18-month "version 2" rewrites. Evolution happens in weekly, not annual, increments.</a:t>
            </a:r>
            <a:endParaRPr lang="en-US" sz="1125" dirty="0"/>
          </a:p>
        </p:txBody>
      </p:sp>
      <p:sp>
        <p:nvSpPr>
          <p:cNvPr id="29" name="Shape 27"/>
          <p:cNvSpPr/>
          <p:nvPr/>
        </p:nvSpPr>
        <p:spPr>
          <a:xfrm>
            <a:off x="9567693" y="7453313"/>
            <a:ext cx="7805908" cy="1690688"/>
          </a:xfrm>
          <a:prstGeom prst="rect">
            <a:avLst/>
          </a:prstGeom>
          <a:solidFill>
            <a:srgbClr val="262626"/>
          </a:solidFill>
          <a:ln/>
        </p:spPr>
      </p:sp>
      <p:sp>
        <p:nvSpPr>
          <p:cNvPr id="30" name="Text 28"/>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31" name="Text 29"/>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"We added a new revenue category mid-year. In the old system, that would have been a database migration affecting twelve reports. With events, it was a new projection. Done in a sprint, no downtime."</a:t>
            </a:r>
            <a:endParaRPr lang="en-US" sz="1650" dirty="0"/>
          </a:p>
        </p:txBody>
      </p:sp>
      <p:sp>
        <p:nvSpPr>
          <p:cNvPr id="32" name="Text 30"/>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33" name="Shape 31"/>
          <p:cNvSpPr/>
          <p:nvPr/>
        </p:nvSpPr>
        <p:spPr>
          <a:xfrm>
            <a:off x="3003947" y="9729107"/>
            <a:ext cx="38100" cy="38100"/>
          </a:xfrm>
          <a:prstGeom prst="ellipse">
            <a:avLst/>
          </a:prstGeom>
          <a:solidFill>
            <a:srgbClr val="6F6F6F"/>
          </a:solidFill>
          <a:ln/>
        </p:spPr>
      </p:sp>
      <p:sp>
        <p:nvSpPr>
          <p:cNvPr id="34" name="Text 32"/>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35" name="Text 33"/>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08 / 13</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1151164"/>
            <a:ext cx="1611086" cy="1238250"/>
          </a:xfrm>
          <a:prstGeom prst="rect">
            <a:avLst/>
          </a:prstGeom>
          <a:noFill/>
          <a:ln/>
        </p:spPr>
        <p:txBody>
          <a:bodyPr wrap="square" lIns="25400" tIns="25400" rIns="25400" bIns="25400" rtlCol="0" anchor="t">
            <a:normAutofit/>
          </a:bodyPr>
          <a:lstStyle/>
          <a:p>
            <a:pPr algn="l" indent="0" marL="0">
              <a:lnSpc>
                <a:spcPct val="90000"/>
              </a:lnSpc>
              <a:buNone/>
            </a:pPr>
            <a:r>
              <a:rPr lang="en-US" sz="10500" spc="-300" kern="0" dirty="0">
                <a:solidFill>
                  <a:srgbClr val="E0E0E0"/>
                </a:solidFill>
                <a:latin typeface="Arial" pitchFamily="34" charset="0"/>
                <a:ea typeface="Arial" pitchFamily="34" charset="-122"/>
                <a:cs typeface="Arial" pitchFamily="34" charset="-120"/>
              </a:rPr>
              <a:t>06</a:t>
            </a:r>
            <a:endParaRPr lang="en-US" sz="10500" dirty="0"/>
          </a:p>
        </p:txBody>
      </p:sp>
      <p:sp>
        <p:nvSpPr>
          <p:cNvPr id="4" name="Text 2"/>
          <p:cNvSpPr/>
          <p:nvPr/>
        </p:nvSpPr>
        <p:spPr>
          <a:xfrm>
            <a:off x="2982686" y="914400"/>
            <a:ext cx="6339497" cy="255814"/>
          </a:xfrm>
          <a:prstGeom prst="rect">
            <a:avLst/>
          </a:prstGeom>
          <a:noFill/>
          <a:ln/>
        </p:spPr>
        <p:txBody>
          <a:bodyPr wrap="square" lIns="25400" tIns="25400" rIns="25400" bIns="25400" rtlCol="0" anchor="t">
            <a:normAutofit/>
          </a:bodyPr>
          <a:lstStyle/>
          <a:p>
            <a:pPr algn="l" indent="0" marL="0">
              <a:buNone/>
            </a:pPr>
            <a:r>
              <a:rPr lang="en-US" sz="1350" spc="24" kern="0" dirty="0">
                <a:solidFill>
                  <a:srgbClr val="0F62FE"/>
                </a:solidFill>
                <a:latin typeface="Arial" pitchFamily="34" charset="0"/>
                <a:ea typeface="Arial" pitchFamily="34" charset="-122"/>
                <a:cs typeface="Arial" pitchFamily="34" charset="-120"/>
              </a:rPr>
              <a:t>CAPABILITY 6 OF 6 · RISK · REGULATION · FUTURE-PROOFING</a:t>
            </a:r>
            <a:endParaRPr lang="en-US" sz="1350" dirty="0"/>
          </a:p>
        </p:txBody>
      </p:sp>
      <p:sp>
        <p:nvSpPr>
          <p:cNvPr id="5" name="Text 3"/>
          <p:cNvSpPr/>
          <p:nvPr/>
        </p:nvSpPr>
        <p:spPr>
          <a:xfrm>
            <a:off x="2982686" y="1265464"/>
            <a:ext cx="7772918"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spc="-150" kern="0" dirty="0">
                <a:solidFill>
                  <a:srgbClr val="161616"/>
                </a:solidFill>
                <a:latin typeface="Arial" pitchFamily="34" charset="0"/>
                <a:ea typeface="Arial" pitchFamily="34" charset="-122"/>
                <a:cs typeface="Arial" pitchFamily="34" charset="-120"/>
              </a:rPr>
              <a:t>Compliance Hedge</a:t>
            </a:r>
            <a:pPr algn="l" indent="0" marL="0">
              <a:lnSpc>
                <a:spcPct val="100000"/>
              </a:lnSpc>
              <a:buNone/>
            </a:pPr>
            <a:r>
              <a:rPr lang="en-US" sz="7200" spc="-150" kern="0" dirty="0">
                <a:solidFill>
                  <a:srgbClr val="0F62FE"/>
                </a:solidFill>
                <a:latin typeface="Arial" pitchFamily="34" charset="0"/>
                <a:ea typeface="Arial" pitchFamily="34" charset="-122"/>
                <a:cs typeface="Arial" pitchFamily="34" charset="-120"/>
              </a:rPr>
              <a:t>.</a:t>
            </a:r>
            <a:endParaRPr lang="en-US" sz="7200" dirty="0"/>
          </a:p>
        </p:txBody>
      </p:sp>
      <p:sp>
        <p:nvSpPr>
          <p:cNvPr id="6" name="Text 4"/>
          <p:cNvSpPr/>
          <p:nvPr/>
        </p:nvSpPr>
        <p:spPr>
          <a:xfrm>
            <a:off x="914400" y="2732314"/>
            <a:ext cx="1079182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525252"/>
                </a:solidFill>
                <a:latin typeface="Arial" pitchFamily="34" charset="0"/>
                <a:ea typeface="Arial" pitchFamily="34" charset="-122"/>
                <a:cs typeface="Arial" pitchFamily="34" charset="-120"/>
              </a:rPr>
              <a:t>Survives regulatory questions you cannot anticipate today.</a:t>
            </a:r>
            <a:endParaRPr lang="en-US" sz="2250" dirty="0"/>
          </a:p>
        </p:txBody>
      </p:sp>
      <p:sp>
        <p:nvSpPr>
          <p:cNvPr id="7" name="Shape 5"/>
          <p:cNvSpPr/>
          <p:nvPr/>
        </p:nvSpPr>
        <p:spPr>
          <a:xfrm>
            <a:off x="914400" y="3937227"/>
            <a:ext cx="8196093" cy="5206773"/>
          </a:xfrm>
          <a:prstGeom prst="rect">
            <a:avLst/>
          </a:prstGeom>
          <a:solidFill>
            <a:srgbClr val="EDF5FF"/>
          </a:solidFill>
          <a:ln/>
        </p:spPr>
      </p:sp>
      <p:sp>
        <p:nvSpPr>
          <p:cNvPr id="8" name="Shape 6"/>
          <p:cNvSpPr/>
          <p:nvPr/>
        </p:nvSpPr>
        <p:spPr>
          <a:xfrm>
            <a:off x="914400" y="3937227"/>
            <a:ext cx="21771" cy="5206773"/>
          </a:xfrm>
          <a:prstGeom prst="rect">
            <a:avLst/>
          </a:prstGeom>
          <a:solidFill>
            <a:srgbClr val="0F62FE"/>
          </a:solidFill>
          <a:ln/>
        </p:spPr>
      </p:sp>
      <p:sp>
        <p:nvSpPr>
          <p:cNvPr id="9" name="Text 7"/>
          <p:cNvSpPr/>
          <p:nvPr/>
        </p:nvSpPr>
        <p:spPr>
          <a:xfrm>
            <a:off x="1317171" y="4280127"/>
            <a:ext cx="7634691"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WHAT THIS MEANS</a:t>
            </a:r>
            <a:endParaRPr lang="en-US" sz="975" dirty="0"/>
          </a:p>
        </p:txBody>
      </p:sp>
      <p:sp>
        <p:nvSpPr>
          <p:cNvPr id="10" name="Text 8"/>
          <p:cNvSpPr/>
          <p:nvPr/>
        </p:nvSpPr>
        <p:spPr>
          <a:xfrm>
            <a:off x="1317171" y="4595813"/>
            <a:ext cx="763469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Future regulations will ask for data we did not plan to keep. Future audits will ask questions we did not anticipate. Event sourcing is </a:t>
            </a:r>
            <a:pPr algn="l" indent="0" marL="0">
              <a:lnSpc>
                <a:spcPct val="150000"/>
              </a:lnSpc>
              <a:buNone/>
            </a:pPr>
            <a:r>
              <a:rPr lang="en-US" sz="1650" b="1" dirty="0">
                <a:solidFill>
                  <a:srgbClr val="262626"/>
                </a:solidFill>
                <a:latin typeface="Arial" pitchFamily="34" charset="0"/>
                <a:ea typeface="Arial" pitchFamily="34" charset="-122"/>
                <a:cs typeface="Arial" pitchFamily="34" charset="-120"/>
              </a:rPr>
              <a:t>insurance </a:t>
            </a:r>
            <a:pPr algn="l" indent="0" marL="0">
              <a:lnSpc>
                <a:spcPct val="150000"/>
              </a:lnSpc>
              <a:buNone/>
            </a:pPr>
            <a:r>
              <a:rPr lang="en-US" sz="1650" dirty="0">
                <a:solidFill>
                  <a:srgbClr val="262626"/>
                </a:solidFill>
                <a:latin typeface="Arial" pitchFamily="34" charset="0"/>
                <a:ea typeface="Arial" pitchFamily="34" charset="-122"/>
                <a:cs typeface="Arial" pitchFamily="34" charset="-120"/>
              </a:rPr>
              <a:t>: the data is already captured — even if we didn't know why.</a:t>
            </a:r>
            <a:endParaRPr lang="en-US" sz="1650" dirty="0"/>
          </a:p>
        </p:txBody>
      </p:sp>
      <p:sp>
        <p:nvSpPr>
          <p:cNvPr id="11" name="Shape 9"/>
          <p:cNvSpPr/>
          <p:nvPr/>
        </p:nvSpPr>
        <p:spPr>
          <a:xfrm>
            <a:off x="1317171" y="5843588"/>
            <a:ext cx="7412321" cy="529488"/>
          </a:xfrm>
          <a:prstGeom prst="rect">
            <a:avLst/>
          </a:prstGeom>
          <a:solidFill>
            <a:srgbClr val="F4F4F4"/>
          </a:solidFill>
          <a:ln/>
        </p:spPr>
      </p:sp>
      <p:sp>
        <p:nvSpPr>
          <p:cNvPr id="12" name="Shape 10"/>
          <p:cNvSpPr/>
          <p:nvPr/>
        </p:nvSpPr>
        <p:spPr>
          <a:xfrm>
            <a:off x="1317171" y="5843588"/>
            <a:ext cx="21771" cy="529488"/>
          </a:xfrm>
          <a:prstGeom prst="rect">
            <a:avLst/>
          </a:prstGeom>
          <a:solidFill>
            <a:srgbClr val="0F62FE"/>
          </a:solidFill>
          <a:ln/>
        </p:spPr>
      </p:sp>
      <p:sp>
        <p:nvSpPr>
          <p:cNvPr id="13" name="Text 11"/>
          <p:cNvSpPr/>
          <p:nvPr/>
        </p:nvSpPr>
        <p:spPr>
          <a:xfrm>
            <a:off x="1548493" y="6037490"/>
            <a:ext cx="93345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2023</a:t>
            </a:r>
            <a:endParaRPr lang="en-US" sz="825" dirty="0"/>
          </a:p>
        </p:txBody>
      </p:sp>
      <p:sp>
        <p:nvSpPr>
          <p:cNvPr id="14" name="Text 12"/>
          <p:cNvSpPr/>
          <p:nvPr/>
        </p:nvSpPr>
        <p:spPr>
          <a:xfrm>
            <a:off x="2577193" y="6015038"/>
            <a:ext cx="4754009" cy="224688"/>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393939"/>
                </a:solidFill>
                <a:latin typeface="Arial" pitchFamily="34" charset="0"/>
                <a:ea typeface="Arial" pitchFamily="34" charset="-122"/>
                <a:cs typeface="Arial" pitchFamily="34" charset="-120"/>
              </a:rPr>
              <a:t>New privacy rule · retroactive consent reporting · </a:t>
            </a:r>
            <a:pPr algn="l" indent="0" marL="0">
              <a:lnSpc>
                <a:spcPct val="140000"/>
              </a:lnSpc>
              <a:buNone/>
            </a:pPr>
            <a:r>
              <a:rPr lang="en-US" sz="1050" b="1" dirty="0">
                <a:solidFill>
                  <a:srgbClr val="393939"/>
                </a:solidFill>
                <a:latin typeface="Arial" pitchFamily="34" charset="0"/>
                <a:ea typeface="Arial" pitchFamily="34" charset="-122"/>
                <a:cs typeface="Arial" pitchFamily="34" charset="-120"/>
              </a:rPr>
              <a:t>answered from existing log.</a:t>
            </a:r>
            <a:endParaRPr lang="en-US" sz="1050" dirty="0"/>
          </a:p>
        </p:txBody>
      </p:sp>
      <p:sp>
        <p:nvSpPr>
          <p:cNvPr id="15" name="Shape 13"/>
          <p:cNvSpPr/>
          <p:nvPr/>
        </p:nvSpPr>
        <p:spPr>
          <a:xfrm>
            <a:off x="1317171" y="6468326"/>
            <a:ext cx="7412321" cy="529488"/>
          </a:xfrm>
          <a:prstGeom prst="rect">
            <a:avLst/>
          </a:prstGeom>
          <a:solidFill>
            <a:srgbClr val="F4F4F4"/>
          </a:solidFill>
          <a:ln/>
        </p:spPr>
      </p:sp>
      <p:sp>
        <p:nvSpPr>
          <p:cNvPr id="16" name="Shape 14"/>
          <p:cNvSpPr/>
          <p:nvPr/>
        </p:nvSpPr>
        <p:spPr>
          <a:xfrm>
            <a:off x="1317171" y="6468326"/>
            <a:ext cx="21771" cy="529488"/>
          </a:xfrm>
          <a:prstGeom prst="rect">
            <a:avLst/>
          </a:prstGeom>
          <a:solidFill>
            <a:srgbClr val="0F62FE"/>
          </a:solidFill>
          <a:ln/>
        </p:spPr>
      </p:sp>
      <p:sp>
        <p:nvSpPr>
          <p:cNvPr id="17" name="Text 15"/>
          <p:cNvSpPr/>
          <p:nvPr/>
        </p:nvSpPr>
        <p:spPr>
          <a:xfrm>
            <a:off x="1548493" y="6662228"/>
            <a:ext cx="93345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2025</a:t>
            </a:r>
            <a:endParaRPr lang="en-US" sz="825" dirty="0"/>
          </a:p>
        </p:txBody>
      </p:sp>
      <p:sp>
        <p:nvSpPr>
          <p:cNvPr id="18" name="Text 16"/>
          <p:cNvSpPr/>
          <p:nvPr/>
        </p:nvSpPr>
        <p:spPr>
          <a:xfrm>
            <a:off x="2577193" y="6639776"/>
            <a:ext cx="5135227" cy="224688"/>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393939"/>
                </a:solidFill>
                <a:latin typeface="Arial" pitchFamily="34" charset="0"/>
                <a:ea typeface="Arial" pitchFamily="34" charset="-122"/>
                <a:cs typeface="Arial" pitchFamily="34" charset="-120"/>
              </a:rPr>
              <a:t>State financial disclosure · prior 36 months of transaction history · </a:t>
            </a:r>
            <a:pPr algn="l" indent="0" marL="0">
              <a:lnSpc>
                <a:spcPct val="140000"/>
              </a:lnSpc>
              <a:buNone/>
            </a:pPr>
            <a:r>
              <a:rPr lang="en-US" sz="1050" b="1" dirty="0">
                <a:solidFill>
                  <a:srgbClr val="393939"/>
                </a:solidFill>
                <a:latin typeface="Arial" pitchFamily="34" charset="0"/>
                <a:ea typeface="Arial" pitchFamily="34" charset="-122"/>
                <a:cs typeface="Arial" pitchFamily="34" charset="-120"/>
              </a:rPr>
              <a:t>already captured.</a:t>
            </a:r>
            <a:endParaRPr lang="en-US" sz="1050" dirty="0"/>
          </a:p>
        </p:txBody>
      </p:sp>
      <p:sp>
        <p:nvSpPr>
          <p:cNvPr id="19" name="Shape 17"/>
          <p:cNvSpPr/>
          <p:nvPr/>
        </p:nvSpPr>
        <p:spPr>
          <a:xfrm>
            <a:off x="1317171" y="7093064"/>
            <a:ext cx="7412321" cy="529488"/>
          </a:xfrm>
          <a:prstGeom prst="rect">
            <a:avLst/>
          </a:prstGeom>
          <a:solidFill>
            <a:srgbClr val="F4F4F4"/>
          </a:solidFill>
          <a:ln/>
        </p:spPr>
      </p:sp>
      <p:sp>
        <p:nvSpPr>
          <p:cNvPr id="20" name="Shape 18"/>
          <p:cNvSpPr/>
          <p:nvPr/>
        </p:nvSpPr>
        <p:spPr>
          <a:xfrm>
            <a:off x="1317171" y="7093064"/>
            <a:ext cx="21771" cy="529488"/>
          </a:xfrm>
          <a:prstGeom prst="rect">
            <a:avLst/>
          </a:prstGeom>
          <a:solidFill>
            <a:srgbClr val="0F62FE"/>
          </a:solidFill>
          <a:ln/>
        </p:spPr>
      </p:sp>
      <p:sp>
        <p:nvSpPr>
          <p:cNvPr id="21" name="Text 19"/>
          <p:cNvSpPr/>
          <p:nvPr/>
        </p:nvSpPr>
        <p:spPr>
          <a:xfrm>
            <a:off x="1548493" y="7286966"/>
            <a:ext cx="933450" cy="179614"/>
          </a:xfrm>
          <a:prstGeom prst="rect">
            <a:avLst/>
          </a:prstGeom>
          <a:noFill/>
          <a:ln/>
        </p:spPr>
        <p:txBody>
          <a:bodyPr wrap="square" lIns="25400" tIns="25400" rIns="25400" bIns="25400" rtlCol="0" anchor="t">
            <a:normAutofit/>
          </a:bodyPr>
          <a:lstStyle/>
          <a:p>
            <a:pPr algn="l" indent="0" marL="0">
              <a:buNone/>
            </a:pPr>
            <a:r>
              <a:rPr lang="en-US" sz="825" spc="24" kern="0" dirty="0">
                <a:solidFill>
                  <a:srgbClr val="0F62FE"/>
                </a:solidFill>
                <a:latin typeface="Arial" pitchFamily="34" charset="0"/>
                <a:ea typeface="Arial" pitchFamily="34" charset="-122"/>
                <a:cs typeface="Arial" pitchFamily="34" charset="-120"/>
              </a:rPr>
              <a:t>FUTURE</a:t>
            </a:r>
            <a:endParaRPr lang="en-US" sz="825" dirty="0"/>
          </a:p>
        </p:txBody>
      </p:sp>
      <p:sp>
        <p:nvSpPr>
          <p:cNvPr id="22" name="Text 20"/>
          <p:cNvSpPr/>
          <p:nvPr/>
        </p:nvSpPr>
        <p:spPr>
          <a:xfrm>
            <a:off x="2577193" y="7264514"/>
            <a:ext cx="5202501" cy="224688"/>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393939"/>
                </a:solidFill>
                <a:latin typeface="Arial" pitchFamily="34" charset="0"/>
                <a:ea typeface="Arial" pitchFamily="34" charset="-122"/>
                <a:cs typeface="Arial" pitchFamily="34" charset="-120"/>
              </a:rPr>
              <a:t>Regulations we haven't seen · questions we haven't imagined · </a:t>
            </a:r>
            <a:pPr algn="l" indent="0" marL="0">
              <a:lnSpc>
                <a:spcPct val="140000"/>
              </a:lnSpc>
              <a:buNone/>
            </a:pPr>
            <a:r>
              <a:rPr lang="en-US" sz="1050" b="1" dirty="0">
                <a:solidFill>
                  <a:srgbClr val="393939"/>
                </a:solidFill>
                <a:latin typeface="Arial" pitchFamily="34" charset="0"/>
                <a:ea typeface="Arial" pitchFamily="34" charset="-122"/>
                <a:cs typeface="Arial" pitchFamily="34" charset="-120"/>
              </a:rPr>
              <a:t>data is already there.</a:t>
            </a:r>
            <a:endParaRPr lang="en-US" sz="1050" dirty="0"/>
          </a:p>
        </p:txBody>
      </p:sp>
      <p:sp>
        <p:nvSpPr>
          <p:cNvPr id="23" name="Shape 21"/>
          <p:cNvSpPr/>
          <p:nvPr/>
        </p:nvSpPr>
        <p:spPr>
          <a:xfrm>
            <a:off x="9567693" y="3937227"/>
            <a:ext cx="2500313" cy="1872003"/>
          </a:xfrm>
          <a:prstGeom prst="rect">
            <a:avLst/>
          </a:prstGeom>
          <a:solidFill>
            <a:srgbClr val="F4F4F4"/>
          </a:solidFill>
          <a:ln/>
        </p:spPr>
      </p:sp>
      <p:sp>
        <p:nvSpPr>
          <p:cNvPr id="24" name="Shape 22"/>
          <p:cNvSpPr/>
          <p:nvPr/>
        </p:nvSpPr>
        <p:spPr>
          <a:xfrm>
            <a:off x="9567693" y="3937227"/>
            <a:ext cx="2500313" cy="10886"/>
          </a:xfrm>
          <a:prstGeom prst="rect">
            <a:avLst/>
          </a:prstGeom>
          <a:solidFill>
            <a:srgbClr val="0F62FE"/>
          </a:solidFill>
          <a:ln/>
        </p:spPr>
      </p:sp>
      <p:sp>
        <p:nvSpPr>
          <p:cNvPr id="25" name="Text 23"/>
          <p:cNvSpPr/>
          <p:nvPr/>
        </p:nvSpPr>
        <p:spPr>
          <a:xfrm>
            <a:off x="9796293" y="4176713"/>
            <a:ext cx="2119313" cy="518092"/>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Future audits answerable</a:t>
            </a:r>
            <a:endParaRPr lang="en-US" sz="1350" dirty="0"/>
          </a:p>
        </p:txBody>
      </p:sp>
      <p:sp>
        <p:nvSpPr>
          <p:cNvPr id="26" name="Text 24"/>
          <p:cNvSpPr/>
          <p:nvPr/>
        </p:nvSpPr>
        <p:spPr>
          <a:xfrm>
            <a:off x="9796293" y="4751955"/>
            <a:ext cx="2119313" cy="86677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When the regulator asks for data from three years ago, the answer is "yes." Without scrambling.</a:t>
            </a:r>
            <a:endParaRPr lang="en-US" sz="1125" dirty="0"/>
          </a:p>
        </p:txBody>
      </p:sp>
      <p:sp>
        <p:nvSpPr>
          <p:cNvPr id="27" name="Shape 25"/>
          <p:cNvSpPr/>
          <p:nvPr/>
        </p:nvSpPr>
        <p:spPr>
          <a:xfrm>
            <a:off x="12220405" y="3937227"/>
            <a:ext cx="2500313" cy="1872003"/>
          </a:xfrm>
          <a:prstGeom prst="rect">
            <a:avLst/>
          </a:prstGeom>
          <a:solidFill>
            <a:srgbClr val="F4F4F4"/>
          </a:solidFill>
          <a:ln/>
        </p:spPr>
      </p:sp>
      <p:sp>
        <p:nvSpPr>
          <p:cNvPr id="28" name="Shape 26"/>
          <p:cNvSpPr/>
          <p:nvPr/>
        </p:nvSpPr>
        <p:spPr>
          <a:xfrm>
            <a:off x="12220405" y="3937227"/>
            <a:ext cx="2500313" cy="10886"/>
          </a:xfrm>
          <a:prstGeom prst="rect">
            <a:avLst/>
          </a:prstGeom>
          <a:solidFill>
            <a:srgbClr val="0F62FE"/>
          </a:solidFill>
          <a:ln/>
        </p:spPr>
      </p:sp>
      <p:sp>
        <p:nvSpPr>
          <p:cNvPr id="29" name="Text 27"/>
          <p:cNvSpPr/>
          <p:nvPr/>
        </p:nvSpPr>
        <p:spPr>
          <a:xfrm>
            <a:off x="12449005" y="4176713"/>
            <a:ext cx="2119313" cy="518092"/>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New regulations, no panic</a:t>
            </a:r>
            <a:endParaRPr lang="en-US" sz="1350" dirty="0"/>
          </a:p>
        </p:txBody>
      </p:sp>
      <p:sp>
        <p:nvSpPr>
          <p:cNvPr id="30" name="Text 28"/>
          <p:cNvSpPr/>
          <p:nvPr/>
        </p:nvSpPr>
        <p:spPr>
          <a:xfrm>
            <a:off x="12449005" y="4751955"/>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A new privacy or financial rule requires reporting on past data? Build the report. Data is there.</a:t>
            </a:r>
            <a:endParaRPr lang="en-US" sz="1125" dirty="0"/>
          </a:p>
        </p:txBody>
      </p:sp>
      <p:sp>
        <p:nvSpPr>
          <p:cNvPr id="31" name="Shape 29"/>
          <p:cNvSpPr/>
          <p:nvPr/>
        </p:nvSpPr>
        <p:spPr>
          <a:xfrm>
            <a:off x="14873118" y="3937227"/>
            <a:ext cx="2500313" cy="1872003"/>
          </a:xfrm>
          <a:prstGeom prst="rect">
            <a:avLst/>
          </a:prstGeom>
          <a:solidFill>
            <a:srgbClr val="F4F4F4"/>
          </a:solidFill>
          <a:ln/>
        </p:spPr>
      </p:sp>
      <p:sp>
        <p:nvSpPr>
          <p:cNvPr id="32" name="Shape 30"/>
          <p:cNvSpPr/>
          <p:nvPr/>
        </p:nvSpPr>
        <p:spPr>
          <a:xfrm>
            <a:off x="14873118" y="3937227"/>
            <a:ext cx="2500313" cy="10886"/>
          </a:xfrm>
          <a:prstGeom prst="rect">
            <a:avLst/>
          </a:prstGeom>
          <a:solidFill>
            <a:srgbClr val="0F62FE"/>
          </a:solidFill>
          <a:ln/>
        </p:spPr>
      </p:sp>
      <p:sp>
        <p:nvSpPr>
          <p:cNvPr id="33" name="Text 31"/>
          <p:cNvSpPr/>
          <p:nvPr/>
        </p:nvSpPr>
        <p:spPr>
          <a:xfrm>
            <a:off x="15101718" y="4176713"/>
            <a:ext cx="2119313" cy="278096"/>
          </a:xfrm>
          <a:prstGeom prst="rect">
            <a:avLst/>
          </a:prstGeom>
          <a:noFill/>
          <a:ln/>
        </p:spPr>
        <p:txBody>
          <a:bodyPr wrap="square" lIns="25400" tIns="25400" rIns="25400" bIns="25400" rtlCol="0" anchor="t">
            <a:normAutofit/>
          </a:bodyPr>
          <a:lstStyle/>
          <a:p>
            <a:pPr algn="l" indent="0" marL="0">
              <a:lnSpc>
                <a:spcPct val="140000"/>
              </a:lnSpc>
              <a:buNone/>
            </a:pPr>
            <a:r>
              <a:rPr lang="en-US" sz="1350" b="1" dirty="0">
                <a:solidFill>
                  <a:srgbClr val="161616"/>
                </a:solidFill>
                <a:latin typeface="Arial" pitchFamily="34" charset="0"/>
                <a:ea typeface="Arial" pitchFamily="34" charset="-122"/>
                <a:cs typeface="Arial" pitchFamily="34" charset="-120"/>
              </a:rPr>
              <a:t>Stronger negotiation</a:t>
            </a:r>
            <a:endParaRPr lang="en-US" sz="1350" dirty="0"/>
          </a:p>
        </p:txBody>
      </p:sp>
      <p:sp>
        <p:nvSpPr>
          <p:cNvPr id="34" name="Text 32"/>
          <p:cNvSpPr/>
          <p:nvPr/>
        </p:nvSpPr>
        <p:spPr>
          <a:xfrm>
            <a:off x="15101718" y="4511959"/>
            <a:ext cx="2119313" cy="659606"/>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525252"/>
                </a:solidFill>
                <a:latin typeface="Arial" pitchFamily="34" charset="0"/>
                <a:ea typeface="Arial" pitchFamily="34" charset="-122"/>
                <a:cs typeface="Arial" pitchFamily="34" charset="-120"/>
              </a:rPr>
              <a:t>In disputes with customers, vendors, or regulators — the full history is on our side.</a:t>
            </a:r>
            <a:endParaRPr lang="en-US" sz="1125" dirty="0"/>
          </a:p>
        </p:txBody>
      </p:sp>
      <p:sp>
        <p:nvSpPr>
          <p:cNvPr id="35" name="Shape 33"/>
          <p:cNvSpPr/>
          <p:nvPr/>
        </p:nvSpPr>
        <p:spPr>
          <a:xfrm>
            <a:off x="9567693" y="7453313"/>
            <a:ext cx="7805908" cy="1690688"/>
          </a:xfrm>
          <a:prstGeom prst="rect">
            <a:avLst/>
          </a:prstGeom>
          <a:solidFill>
            <a:srgbClr val="262626"/>
          </a:solidFill>
          <a:ln/>
        </p:spPr>
      </p:sp>
      <p:sp>
        <p:nvSpPr>
          <p:cNvPr id="36" name="Text 34"/>
          <p:cNvSpPr/>
          <p:nvPr/>
        </p:nvSpPr>
        <p:spPr>
          <a:xfrm>
            <a:off x="9872493" y="7720013"/>
            <a:ext cx="741219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CONCRETE EXAMPLE</a:t>
            </a:r>
            <a:endParaRPr lang="en-US" sz="975" dirty="0"/>
          </a:p>
        </p:txBody>
      </p:sp>
      <p:sp>
        <p:nvSpPr>
          <p:cNvPr id="37" name="Text 35"/>
          <p:cNvSpPr/>
          <p:nvPr/>
        </p:nvSpPr>
        <p:spPr>
          <a:xfrm>
            <a:off x="9872493" y="7997598"/>
            <a:ext cx="7412197" cy="917802"/>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F4F4F4"/>
                </a:solidFill>
                <a:latin typeface="Arial" pitchFamily="34" charset="0"/>
                <a:ea typeface="Arial" pitchFamily="34" charset="-122"/>
                <a:cs typeface="Arial" pitchFamily="34" charset="-120"/>
              </a:rPr>
              <a:t>"A new compliance requirement asked for retroactive reporting on customer consent changes. Three years of consent events were already in the log. Competitors spent months retrofitting; we shipped."</a:t>
            </a:r>
            <a:endParaRPr lang="en-US" sz="1650" dirty="0"/>
          </a:p>
        </p:txBody>
      </p:sp>
      <p:sp>
        <p:nvSpPr>
          <p:cNvPr id="38" name="Text 36"/>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39" name="Shape 37"/>
          <p:cNvSpPr/>
          <p:nvPr/>
        </p:nvSpPr>
        <p:spPr>
          <a:xfrm>
            <a:off x="3003947" y="9729107"/>
            <a:ext cx="38100" cy="38100"/>
          </a:xfrm>
          <a:prstGeom prst="ellipse">
            <a:avLst/>
          </a:prstGeom>
          <a:solidFill>
            <a:srgbClr val="6F6F6F"/>
          </a:solidFill>
          <a:ln/>
        </p:spPr>
      </p:sp>
      <p:sp>
        <p:nvSpPr>
          <p:cNvPr id="40" name="Text 38"/>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41" name="Text 39"/>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09 / 13</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03 · CREDIBILITY CHECK</a:t>
            </a:r>
            <a:endParaRPr lang="en-US" sz="975" dirty="0"/>
          </a:p>
        </p:txBody>
      </p:sp>
      <p:sp>
        <p:nvSpPr>
          <p:cNvPr id="4" name="Text 2"/>
          <p:cNvSpPr/>
          <p:nvPr/>
        </p:nvSpPr>
        <p:spPr>
          <a:xfrm>
            <a:off x="914400" y="1268186"/>
            <a:ext cx="16952977"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60" kern="0" dirty="0">
                <a:solidFill>
                  <a:srgbClr val="161616"/>
                </a:solidFill>
                <a:latin typeface="Arial" pitchFamily="34" charset="0"/>
                <a:ea typeface="Arial" pitchFamily="34" charset="-122"/>
                <a:cs typeface="Arial" pitchFamily="34" charset="-120"/>
              </a:rPr>
              <a:t>What this is </a:t>
            </a:r>
            <a:pPr algn="l" indent="0" marL="0">
              <a:lnSpc>
                <a:spcPct val="108000"/>
              </a:lnSpc>
              <a:buNone/>
            </a:pPr>
            <a:r>
              <a:rPr lang="en-US" sz="5400" spc="-60" kern="0" dirty="0">
                <a:solidFill>
                  <a:srgbClr val="0F62FE"/>
                </a:solidFill>
                <a:latin typeface="Arial" pitchFamily="34" charset="0"/>
                <a:ea typeface="Arial" pitchFamily="34" charset="-122"/>
                <a:cs typeface="Arial" pitchFamily="34" charset="-120"/>
              </a:rPr>
              <a:t>not.</a:t>
            </a:r>
            <a:endParaRPr lang="en-US" sz="5400" dirty="0"/>
          </a:p>
        </p:txBody>
      </p:sp>
      <p:sp>
        <p:nvSpPr>
          <p:cNvPr id="5" name="Text 3"/>
          <p:cNvSpPr/>
          <p:nvPr/>
        </p:nvSpPr>
        <p:spPr>
          <a:xfrm>
            <a:off x="914400" y="2199255"/>
            <a:ext cx="16952977" cy="346642"/>
          </a:xfrm>
          <a:prstGeom prst="rect">
            <a:avLst/>
          </a:prstGeom>
          <a:noFill/>
          <a:ln/>
        </p:spPr>
        <p:txBody>
          <a:bodyPr wrap="square" lIns="25400" tIns="25400" rIns="25400" bIns="25400" rtlCol="0" anchor="t">
            <a:normAutofit/>
          </a:bodyPr>
          <a:lstStyle/>
          <a:p>
            <a:pPr algn="l" indent="0" marL="0">
              <a:lnSpc>
                <a:spcPct val="135000"/>
              </a:lnSpc>
              <a:buNone/>
            </a:pPr>
            <a:r>
              <a:rPr lang="en-US" sz="1800" i="1" dirty="0">
                <a:solidFill>
                  <a:srgbClr val="6F6F6F"/>
                </a:solidFill>
                <a:latin typeface="Arial" pitchFamily="34" charset="0"/>
                <a:ea typeface="Arial" pitchFamily="34" charset="-122"/>
                <a:cs typeface="Arial" pitchFamily="34" charset="-120"/>
              </a:rPr>
              <a:t>An honest list of what we are not promising. Everything else loses credibility.</a:t>
            </a:r>
            <a:endParaRPr lang="en-US" sz="1800" dirty="0"/>
          </a:p>
        </p:txBody>
      </p:sp>
      <p:sp>
        <p:nvSpPr>
          <p:cNvPr id="6" name="Shape 4"/>
          <p:cNvSpPr/>
          <p:nvPr/>
        </p:nvSpPr>
        <p:spPr>
          <a:xfrm>
            <a:off x="914400" y="3041197"/>
            <a:ext cx="5334000" cy="2408635"/>
          </a:xfrm>
          <a:prstGeom prst="rect">
            <a:avLst/>
          </a:prstGeom>
          <a:solidFill>
            <a:srgbClr val="FFFFFF"/>
          </a:solidFill>
          <a:ln/>
        </p:spPr>
      </p:sp>
      <p:sp>
        <p:nvSpPr>
          <p:cNvPr id="7" name="Shape 5"/>
          <p:cNvSpPr/>
          <p:nvPr/>
        </p:nvSpPr>
        <p:spPr>
          <a:xfrm>
            <a:off x="914400" y="5438945"/>
            <a:ext cx="5334000" cy="10886"/>
          </a:xfrm>
          <a:prstGeom prst="rect">
            <a:avLst/>
          </a:prstGeom>
          <a:solidFill>
            <a:srgbClr val="E0E0E0"/>
          </a:solidFill>
          <a:ln/>
        </p:spPr>
      </p:sp>
      <p:sp>
        <p:nvSpPr>
          <p:cNvPr id="8" name="Shape 6"/>
          <p:cNvSpPr/>
          <p:nvPr/>
        </p:nvSpPr>
        <p:spPr>
          <a:xfrm>
            <a:off x="914400" y="3041197"/>
            <a:ext cx="5334000" cy="21771"/>
          </a:xfrm>
          <a:prstGeom prst="rect">
            <a:avLst/>
          </a:prstGeom>
          <a:solidFill>
            <a:srgbClr val="393939"/>
          </a:solidFill>
          <a:ln/>
        </p:spPr>
      </p:sp>
      <p:sp>
        <p:nvSpPr>
          <p:cNvPr id="9" name="Shape 7"/>
          <p:cNvSpPr/>
          <p:nvPr/>
        </p:nvSpPr>
        <p:spPr>
          <a:xfrm>
            <a:off x="914400" y="3041197"/>
            <a:ext cx="10886" cy="2408635"/>
          </a:xfrm>
          <a:prstGeom prst="rect">
            <a:avLst/>
          </a:prstGeom>
          <a:solidFill>
            <a:srgbClr val="E0E0E0"/>
          </a:solidFill>
          <a:ln/>
        </p:spPr>
      </p:sp>
      <p:sp>
        <p:nvSpPr>
          <p:cNvPr id="10" name="Shape 8"/>
          <p:cNvSpPr/>
          <p:nvPr/>
        </p:nvSpPr>
        <p:spPr>
          <a:xfrm>
            <a:off x="6237514" y="3041197"/>
            <a:ext cx="10886" cy="2408635"/>
          </a:xfrm>
          <a:prstGeom prst="rect">
            <a:avLst/>
          </a:prstGeom>
          <a:solidFill>
            <a:srgbClr val="E0E0E0"/>
          </a:solidFill>
          <a:ln/>
        </p:spPr>
      </p:sp>
      <p:sp>
        <p:nvSpPr>
          <p:cNvPr id="11" name="Text 9"/>
          <p:cNvSpPr/>
          <p:nvPr/>
        </p:nvSpPr>
        <p:spPr>
          <a:xfrm>
            <a:off x="1268186" y="3367768"/>
            <a:ext cx="4765222" cy="458050"/>
          </a:xfrm>
          <a:prstGeom prst="rect">
            <a:avLst/>
          </a:prstGeom>
          <a:noFill/>
          <a:ln/>
        </p:spPr>
        <p:txBody>
          <a:bodyPr wrap="square" lIns="25400" tIns="25400" rIns="25400" bIns="25400" rtlCol="0" anchor="t">
            <a:normAutofit/>
          </a:bodyPr>
          <a:lstStyle/>
          <a:p>
            <a:pPr algn="l" indent="0" marL="0">
              <a:lnSpc>
                <a:spcPct val="105000"/>
              </a:lnSpc>
              <a:buNone/>
            </a:pPr>
            <a:r>
              <a:rPr lang="en-US" sz="3150" spc="-37" kern="0" dirty="0">
                <a:solidFill>
                  <a:srgbClr val="161616"/>
                </a:solidFill>
                <a:latin typeface="Arial" pitchFamily="34" charset="0"/>
                <a:ea typeface="Arial" pitchFamily="34" charset="-122"/>
                <a:cs typeface="Arial" pitchFamily="34" charset="-120"/>
              </a:rPr>
              <a:t>Not a </a:t>
            </a:r>
            <a:pPr algn="l" indent="0" marL="0">
              <a:lnSpc>
                <a:spcPct val="105000"/>
              </a:lnSpc>
              <a:buNone/>
            </a:pPr>
            <a:r>
              <a:rPr lang="en-US" sz="3150" spc="-37" kern="0" dirty="0">
                <a:solidFill>
                  <a:srgbClr val="0F62FE"/>
                </a:solidFill>
                <a:latin typeface="Arial" pitchFamily="34" charset="0"/>
                <a:ea typeface="Arial" pitchFamily="34" charset="-122"/>
                <a:cs typeface="Arial" pitchFamily="34" charset="-120"/>
              </a:rPr>
              <a:t>rewrite.</a:t>
            </a:r>
            <a:endParaRPr lang="en-US" sz="3150" dirty="0"/>
          </a:p>
        </p:txBody>
      </p:sp>
      <p:sp>
        <p:nvSpPr>
          <p:cNvPr id="12" name="Text 10"/>
          <p:cNvSpPr/>
          <p:nvPr/>
        </p:nvSpPr>
        <p:spPr>
          <a:xfrm>
            <a:off x="1268186" y="3940119"/>
            <a:ext cx="4765222" cy="742270"/>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525252"/>
                </a:solidFill>
                <a:latin typeface="Arial" pitchFamily="34" charset="0"/>
                <a:ea typeface="Arial" pitchFamily="34" charset="-122"/>
                <a:cs typeface="Arial" pitchFamily="34" charset="-120"/>
              </a:rPr>
              <a:t>We do not propose throwing away existing systems. Event sourcing is added </a:t>
            </a:r>
            <a:pPr algn="l" indent="0" marL="0">
              <a:lnSpc>
                <a:spcPct val="145000"/>
              </a:lnSpc>
              <a:buNone/>
            </a:pPr>
            <a:r>
              <a:rPr lang="en-US" sz="1275" b="1" dirty="0">
                <a:solidFill>
                  <a:srgbClr val="525252"/>
                </a:solidFill>
                <a:latin typeface="Arial" pitchFamily="34" charset="0"/>
                <a:ea typeface="Arial" pitchFamily="34" charset="-122"/>
                <a:cs typeface="Arial" pitchFamily="34" charset="-120"/>
              </a:rPr>
              <a:t>one bounded context at a time </a:t>
            </a:r>
            <a:pPr algn="l" indent="0" marL="0">
              <a:lnSpc>
                <a:spcPct val="145000"/>
              </a:lnSpc>
              <a:buNone/>
            </a:pPr>
            <a:r>
              <a:rPr lang="en-US" sz="1275" dirty="0">
                <a:solidFill>
                  <a:srgbClr val="525252"/>
                </a:solidFill>
                <a:latin typeface="Arial" pitchFamily="34" charset="0"/>
                <a:ea typeface="Arial" pitchFamily="34" charset="-122"/>
                <a:cs typeface="Arial" pitchFamily="34" charset="-120"/>
              </a:rPr>
              <a:t>, alongside what already runs.</a:t>
            </a:r>
            <a:endParaRPr lang="en-US" sz="1275" dirty="0"/>
          </a:p>
        </p:txBody>
      </p:sp>
      <p:sp>
        <p:nvSpPr>
          <p:cNvPr id="13" name="Shape 11"/>
          <p:cNvSpPr/>
          <p:nvPr/>
        </p:nvSpPr>
        <p:spPr>
          <a:xfrm>
            <a:off x="1268186" y="4796688"/>
            <a:ext cx="4626429" cy="10886"/>
          </a:xfrm>
          <a:prstGeom prst="rect">
            <a:avLst/>
          </a:prstGeom>
          <a:solidFill>
            <a:srgbClr val="E0E0E0"/>
          </a:solidFill>
          <a:ln/>
        </p:spPr>
      </p:sp>
      <p:sp>
        <p:nvSpPr>
          <p:cNvPr id="14" name="Text 12"/>
          <p:cNvSpPr/>
          <p:nvPr/>
        </p:nvSpPr>
        <p:spPr>
          <a:xfrm>
            <a:off x="1268186" y="4959974"/>
            <a:ext cx="4765222" cy="212271"/>
          </a:xfrm>
          <a:prstGeom prst="rect">
            <a:avLst/>
          </a:prstGeom>
          <a:noFill/>
          <a:ln/>
        </p:spPr>
        <p:txBody>
          <a:bodyPr wrap="square" lIns="25400" tIns="25400" rIns="25400" bIns="25400" rtlCol="0" anchor="t">
            <a:normAutofit/>
          </a:bodyPr>
          <a:lstStyle/>
          <a:p>
            <a:pPr algn="l" indent="0" marL="0">
              <a:buNone/>
            </a:pPr>
            <a:r>
              <a:rPr lang="en-US" sz="1050" i="1" dirty="0">
                <a:solidFill>
                  <a:srgbClr val="6F6F6F"/>
                </a:solidFill>
                <a:latin typeface="Arial" pitchFamily="34" charset="0"/>
                <a:ea typeface="Arial" pitchFamily="34" charset="-122"/>
                <a:cs typeface="Arial" pitchFamily="34" charset="-120"/>
              </a:rPr>
              <a:t>The big-bang rewrite is specifically what this avoids.</a:t>
            </a:r>
            <a:endParaRPr lang="en-US" sz="1050" dirty="0"/>
          </a:p>
        </p:txBody>
      </p:sp>
      <p:sp>
        <p:nvSpPr>
          <p:cNvPr id="15" name="Shape 13"/>
          <p:cNvSpPr/>
          <p:nvPr/>
        </p:nvSpPr>
        <p:spPr>
          <a:xfrm>
            <a:off x="6477000" y="3041197"/>
            <a:ext cx="5334000" cy="2408635"/>
          </a:xfrm>
          <a:prstGeom prst="rect">
            <a:avLst/>
          </a:prstGeom>
          <a:solidFill>
            <a:srgbClr val="FFFFFF"/>
          </a:solidFill>
          <a:ln/>
        </p:spPr>
      </p:sp>
      <p:sp>
        <p:nvSpPr>
          <p:cNvPr id="16" name="Shape 14"/>
          <p:cNvSpPr/>
          <p:nvPr/>
        </p:nvSpPr>
        <p:spPr>
          <a:xfrm>
            <a:off x="6477000" y="5438945"/>
            <a:ext cx="5334000" cy="10886"/>
          </a:xfrm>
          <a:prstGeom prst="rect">
            <a:avLst/>
          </a:prstGeom>
          <a:solidFill>
            <a:srgbClr val="E0E0E0"/>
          </a:solidFill>
          <a:ln/>
        </p:spPr>
      </p:sp>
      <p:sp>
        <p:nvSpPr>
          <p:cNvPr id="17" name="Shape 15"/>
          <p:cNvSpPr/>
          <p:nvPr/>
        </p:nvSpPr>
        <p:spPr>
          <a:xfrm>
            <a:off x="6477000" y="3041197"/>
            <a:ext cx="5334000" cy="21771"/>
          </a:xfrm>
          <a:prstGeom prst="rect">
            <a:avLst/>
          </a:prstGeom>
          <a:solidFill>
            <a:srgbClr val="393939"/>
          </a:solidFill>
          <a:ln/>
        </p:spPr>
      </p:sp>
      <p:sp>
        <p:nvSpPr>
          <p:cNvPr id="18" name="Shape 16"/>
          <p:cNvSpPr/>
          <p:nvPr/>
        </p:nvSpPr>
        <p:spPr>
          <a:xfrm>
            <a:off x="6477000" y="3041197"/>
            <a:ext cx="10886" cy="2408635"/>
          </a:xfrm>
          <a:prstGeom prst="rect">
            <a:avLst/>
          </a:prstGeom>
          <a:solidFill>
            <a:srgbClr val="E0E0E0"/>
          </a:solidFill>
          <a:ln/>
        </p:spPr>
      </p:sp>
      <p:sp>
        <p:nvSpPr>
          <p:cNvPr id="19" name="Shape 17"/>
          <p:cNvSpPr/>
          <p:nvPr/>
        </p:nvSpPr>
        <p:spPr>
          <a:xfrm>
            <a:off x="11800114" y="3041197"/>
            <a:ext cx="10886" cy="2408635"/>
          </a:xfrm>
          <a:prstGeom prst="rect">
            <a:avLst/>
          </a:prstGeom>
          <a:solidFill>
            <a:srgbClr val="E0E0E0"/>
          </a:solidFill>
          <a:ln/>
        </p:spPr>
      </p:sp>
      <p:sp>
        <p:nvSpPr>
          <p:cNvPr id="20" name="Text 18"/>
          <p:cNvSpPr/>
          <p:nvPr/>
        </p:nvSpPr>
        <p:spPr>
          <a:xfrm>
            <a:off x="6830786" y="3367768"/>
            <a:ext cx="4765222" cy="458050"/>
          </a:xfrm>
          <a:prstGeom prst="rect">
            <a:avLst/>
          </a:prstGeom>
          <a:noFill/>
          <a:ln/>
        </p:spPr>
        <p:txBody>
          <a:bodyPr wrap="square" lIns="25400" tIns="25400" rIns="25400" bIns="25400" rtlCol="0" anchor="t">
            <a:normAutofit/>
          </a:bodyPr>
          <a:lstStyle/>
          <a:p>
            <a:pPr algn="l" indent="0" marL="0">
              <a:lnSpc>
                <a:spcPct val="105000"/>
              </a:lnSpc>
              <a:buNone/>
            </a:pPr>
            <a:r>
              <a:rPr lang="en-US" sz="3150" spc="-37" kern="0" dirty="0">
                <a:solidFill>
                  <a:srgbClr val="161616"/>
                </a:solidFill>
                <a:latin typeface="Arial" pitchFamily="34" charset="0"/>
                <a:ea typeface="Arial" pitchFamily="34" charset="-122"/>
                <a:cs typeface="Arial" pitchFamily="34" charset="-120"/>
              </a:rPr>
              <a:t>Not a </a:t>
            </a:r>
            <a:pPr algn="l" indent="0" marL="0">
              <a:lnSpc>
                <a:spcPct val="105000"/>
              </a:lnSpc>
              <a:buNone/>
            </a:pPr>
            <a:r>
              <a:rPr lang="en-US" sz="3150" spc="-37" kern="0" dirty="0">
                <a:solidFill>
                  <a:srgbClr val="0F62FE"/>
                </a:solidFill>
                <a:latin typeface="Arial" pitchFamily="34" charset="0"/>
                <a:ea typeface="Arial" pitchFamily="34" charset="-122"/>
                <a:cs typeface="Arial" pitchFamily="34" charset="-120"/>
              </a:rPr>
              <a:t>two-year project.</a:t>
            </a:r>
            <a:endParaRPr lang="en-US" sz="3150" dirty="0"/>
          </a:p>
        </p:txBody>
      </p:sp>
      <p:sp>
        <p:nvSpPr>
          <p:cNvPr id="21" name="Text 19"/>
          <p:cNvSpPr/>
          <p:nvPr/>
        </p:nvSpPr>
        <p:spPr>
          <a:xfrm>
            <a:off x="6830786" y="3940119"/>
            <a:ext cx="4765222" cy="742270"/>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525252"/>
                </a:solidFill>
                <a:latin typeface="Arial" pitchFamily="34" charset="0"/>
                <a:ea typeface="Arial" pitchFamily="34" charset="-122"/>
                <a:cs typeface="Arial" pitchFamily="34" charset="-120"/>
              </a:rPr>
              <a:t>First production deployment in 6 months. Broader adoption over 12–18 months. </a:t>
            </a:r>
            <a:pPr algn="l" indent="0" marL="0">
              <a:lnSpc>
                <a:spcPct val="145000"/>
              </a:lnSpc>
              <a:buNone/>
            </a:pPr>
            <a:r>
              <a:rPr lang="en-US" sz="1275" b="1" dirty="0">
                <a:solidFill>
                  <a:srgbClr val="525252"/>
                </a:solidFill>
                <a:latin typeface="Arial" pitchFamily="34" charset="0"/>
                <a:ea typeface="Arial" pitchFamily="34" charset="-122"/>
                <a:cs typeface="Arial" pitchFamily="34" charset="-120"/>
              </a:rPr>
              <a:t>Each step delivers value; </a:t>
            </a:r>
            <a:pPr algn="l" indent="0" marL="0">
              <a:lnSpc>
                <a:spcPct val="145000"/>
              </a:lnSpc>
              <a:buNone/>
            </a:pPr>
            <a:r>
              <a:rPr lang="en-US" sz="1275" dirty="0">
                <a:solidFill>
                  <a:srgbClr val="525252"/>
                </a:solidFill>
                <a:latin typeface="Arial" pitchFamily="34" charset="0"/>
                <a:ea typeface="Arial" pitchFamily="34" charset="-122"/>
                <a:cs typeface="Arial" pitchFamily="34" charset="-120"/>
              </a:rPr>
              <a:t>nothing waits for a final step.</a:t>
            </a:r>
            <a:endParaRPr lang="en-US" sz="1275" dirty="0"/>
          </a:p>
        </p:txBody>
      </p:sp>
      <p:sp>
        <p:nvSpPr>
          <p:cNvPr id="22" name="Shape 20"/>
          <p:cNvSpPr/>
          <p:nvPr/>
        </p:nvSpPr>
        <p:spPr>
          <a:xfrm>
            <a:off x="6830786" y="4796688"/>
            <a:ext cx="4626429" cy="10886"/>
          </a:xfrm>
          <a:prstGeom prst="rect">
            <a:avLst/>
          </a:prstGeom>
          <a:solidFill>
            <a:srgbClr val="E0E0E0"/>
          </a:solidFill>
          <a:ln/>
        </p:spPr>
      </p:sp>
      <p:sp>
        <p:nvSpPr>
          <p:cNvPr id="23" name="Text 21"/>
          <p:cNvSpPr/>
          <p:nvPr/>
        </p:nvSpPr>
        <p:spPr>
          <a:xfrm>
            <a:off x="6830786" y="4959974"/>
            <a:ext cx="4765222" cy="212271"/>
          </a:xfrm>
          <a:prstGeom prst="rect">
            <a:avLst/>
          </a:prstGeom>
          <a:noFill/>
          <a:ln/>
        </p:spPr>
        <p:txBody>
          <a:bodyPr wrap="square" lIns="25400" tIns="25400" rIns="25400" bIns="25400" rtlCol="0" anchor="t">
            <a:normAutofit/>
          </a:bodyPr>
          <a:lstStyle/>
          <a:p>
            <a:pPr algn="l" indent="0" marL="0">
              <a:buNone/>
            </a:pPr>
            <a:r>
              <a:rPr lang="en-US" sz="1050" i="1" dirty="0">
                <a:solidFill>
                  <a:srgbClr val="6F6F6F"/>
                </a:solidFill>
                <a:latin typeface="Arial" pitchFamily="34" charset="0"/>
                <a:ea typeface="Arial" pitchFamily="34" charset="-122"/>
                <a:cs typeface="Arial" pitchFamily="34" charset="-120"/>
              </a:rPr>
              <a:t>No "trust us, the value arrives at the end."</a:t>
            </a:r>
            <a:endParaRPr lang="en-US" sz="1050" dirty="0"/>
          </a:p>
        </p:txBody>
      </p:sp>
      <p:sp>
        <p:nvSpPr>
          <p:cNvPr id="24" name="Shape 22"/>
          <p:cNvSpPr/>
          <p:nvPr/>
        </p:nvSpPr>
        <p:spPr>
          <a:xfrm>
            <a:off x="12039600" y="3041197"/>
            <a:ext cx="5334000" cy="2408635"/>
          </a:xfrm>
          <a:prstGeom prst="rect">
            <a:avLst/>
          </a:prstGeom>
          <a:solidFill>
            <a:srgbClr val="FFFFFF"/>
          </a:solidFill>
          <a:ln/>
        </p:spPr>
      </p:sp>
      <p:sp>
        <p:nvSpPr>
          <p:cNvPr id="25" name="Shape 23"/>
          <p:cNvSpPr/>
          <p:nvPr/>
        </p:nvSpPr>
        <p:spPr>
          <a:xfrm>
            <a:off x="12039600" y="5438945"/>
            <a:ext cx="5334000" cy="10886"/>
          </a:xfrm>
          <a:prstGeom prst="rect">
            <a:avLst/>
          </a:prstGeom>
          <a:solidFill>
            <a:srgbClr val="E0E0E0"/>
          </a:solidFill>
          <a:ln/>
        </p:spPr>
      </p:sp>
      <p:sp>
        <p:nvSpPr>
          <p:cNvPr id="26" name="Shape 24"/>
          <p:cNvSpPr/>
          <p:nvPr/>
        </p:nvSpPr>
        <p:spPr>
          <a:xfrm>
            <a:off x="12039600" y="3041197"/>
            <a:ext cx="5334000" cy="21771"/>
          </a:xfrm>
          <a:prstGeom prst="rect">
            <a:avLst/>
          </a:prstGeom>
          <a:solidFill>
            <a:srgbClr val="393939"/>
          </a:solidFill>
          <a:ln/>
        </p:spPr>
      </p:sp>
      <p:sp>
        <p:nvSpPr>
          <p:cNvPr id="27" name="Shape 25"/>
          <p:cNvSpPr/>
          <p:nvPr/>
        </p:nvSpPr>
        <p:spPr>
          <a:xfrm>
            <a:off x="12039600" y="3041197"/>
            <a:ext cx="10886" cy="2408635"/>
          </a:xfrm>
          <a:prstGeom prst="rect">
            <a:avLst/>
          </a:prstGeom>
          <a:solidFill>
            <a:srgbClr val="E0E0E0"/>
          </a:solidFill>
          <a:ln/>
        </p:spPr>
      </p:sp>
      <p:sp>
        <p:nvSpPr>
          <p:cNvPr id="28" name="Shape 26"/>
          <p:cNvSpPr/>
          <p:nvPr/>
        </p:nvSpPr>
        <p:spPr>
          <a:xfrm>
            <a:off x="17362714" y="3041197"/>
            <a:ext cx="10886" cy="2408635"/>
          </a:xfrm>
          <a:prstGeom prst="rect">
            <a:avLst/>
          </a:prstGeom>
          <a:solidFill>
            <a:srgbClr val="E0E0E0"/>
          </a:solidFill>
          <a:ln/>
        </p:spPr>
      </p:sp>
      <p:sp>
        <p:nvSpPr>
          <p:cNvPr id="29" name="Text 27"/>
          <p:cNvSpPr/>
          <p:nvPr/>
        </p:nvSpPr>
        <p:spPr>
          <a:xfrm>
            <a:off x="12393387" y="3367768"/>
            <a:ext cx="4765222" cy="458050"/>
          </a:xfrm>
          <a:prstGeom prst="rect">
            <a:avLst/>
          </a:prstGeom>
          <a:noFill/>
          <a:ln/>
        </p:spPr>
        <p:txBody>
          <a:bodyPr wrap="square" lIns="25400" tIns="25400" rIns="25400" bIns="25400" rtlCol="0" anchor="t">
            <a:normAutofit/>
          </a:bodyPr>
          <a:lstStyle/>
          <a:p>
            <a:pPr algn="l" indent="0" marL="0">
              <a:lnSpc>
                <a:spcPct val="105000"/>
              </a:lnSpc>
              <a:buNone/>
            </a:pPr>
            <a:r>
              <a:rPr lang="en-US" sz="3150" spc="-37" kern="0" dirty="0">
                <a:solidFill>
                  <a:srgbClr val="161616"/>
                </a:solidFill>
                <a:latin typeface="Arial" pitchFamily="34" charset="0"/>
                <a:ea typeface="Arial" pitchFamily="34" charset="-122"/>
                <a:cs typeface="Arial" pitchFamily="34" charset="-120"/>
              </a:rPr>
              <a:t>Not </a:t>
            </a:r>
            <a:pPr algn="l" indent="0" marL="0">
              <a:lnSpc>
                <a:spcPct val="105000"/>
              </a:lnSpc>
              <a:buNone/>
            </a:pPr>
            <a:r>
              <a:rPr lang="en-US" sz="3150" spc="-37" kern="0" dirty="0">
                <a:solidFill>
                  <a:srgbClr val="0F62FE"/>
                </a:solidFill>
                <a:latin typeface="Arial" pitchFamily="34" charset="0"/>
                <a:ea typeface="Arial" pitchFamily="34" charset="-122"/>
                <a:cs typeface="Arial" pitchFamily="34" charset="-120"/>
              </a:rPr>
              <a:t>for every system.</a:t>
            </a:r>
            <a:endParaRPr lang="en-US" sz="3150" dirty="0"/>
          </a:p>
        </p:txBody>
      </p:sp>
      <p:sp>
        <p:nvSpPr>
          <p:cNvPr id="30" name="Text 28"/>
          <p:cNvSpPr/>
          <p:nvPr/>
        </p:nvSpPr>
        <p:spPr>
          <a:xfrm>
            <a:off x="12393387" y="3940119"/>
            <a:ext cx="4765222" cy="507546"/>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525252"/>
                </a:solidFill>
                <a:latin typeface="Arial" pitchFamily="34" charset="0"/>
                <a:ea typeface="Arial" pitchFamily="34" charset="-122"/>
                <a:cs typeface="Arial" pitchFamily="34" charset="-120"/>
              </a:rPr>
              <a:t>CRUD-by-nature systems should stay CRUD. Prototypes should stay simple. </a:t>
            </a:r>
            <a:pPr algn="l" indent="0" marL="0">
              <a:lnSpc>
                <a:spcPct val="145000"/>
              </a:lnSpc>
              <a:buNone/>
            </a:pPr>
            <a:r>
              <a:rPr lang="en-US" sz="1275" b="1" dirty="0">
                <a:solidFill>
                  <a:srgbClr val="525252"/>
                </a:solidFill>
                <a:latin typeface="Arial" pitchFamily="34" charset="0"/>
                <a:ea typeface="Arial" pitchFamily="34" charset="-122"/>
                <a:cs typeface="Arial" pitchFamily="34" charset="-120"/>
              </a:rPr>
              <a:t>Not every problem benefits from this.</a:t>
            </a:r>
            <a:endParaRPr lang="en-US" sz="1275" dirty="0"/>
          </a:p>
        </p:txBody>
      </p:sp>
      <p:sp>
        <p:nvSpPr>
          <p:cNvPr id="31" name="Shape 29"/>
          <p:cNvSpPr/>
          <p:nvPr/>
        </p:nvSpPr>
        <p:spPr>
          <a:xfrm>
            <a:off x="12393387" y="4622517"/>
            <a:ext cx="4626429" cy="10886"/>
          </a:xfrm>
          <a:prstGeom prst="rect">
            <a:avLst/>
          </a:prstGeom>
          <a:solidFill>
            <a:srgbClr val="E0E0E0"/>
          </a:solidFill>
          <a:ln/>
        </p:spPr>
      </p:sp>
      <p:sp>
        <p:nvSpPr>
          <p:cNvPr id="32" name="Text 30"/>
          <p:cNvSpPr/>
          <p:nvPr/>
        </p:nvSpPr>
        <p:spPr>
          <a:xfrm>
            <a:off x="12393387" y="4785802"/>
            <a:ext cx="4765222" cy="386443"/>
          </a:xfrm>
          <a:prstGeom prst="rect">
            <a:avLst/>
          </a:prstGeom>
          <a:noFill/>
          <a:ln/>
        </p:spPr>
        <p:txBody>
          <a:bodyPr wrap="square" lIns="25400" tIns="25400" rIns="25400" bIns="25400" rtlCol="0" anchor="t">
            <a:normAutofit/>
          </a:bodyPr>
          <a:lstStyle/>
          <a:p>
            <a:pPr algn="l" indent="0" marL="0">
              <a:buNone/>
            </a:pPr>
            <a:r>
              <a:rPr lang="en-US" sz="1050" i="1" dirty="0">
                <a:solidFill>
                  <a:srgbClr val="6F6F6F"/>
                </a:solidFill>
                <a:latin typeface="Arial" pitchFamily="34" charset="0"/>
                <a:ea typeface="Arial" pitchFamily="34" charset="-122"/>
                <a:cs typeface="Arial" pitchFamily="34" charset="-120"/>
              </a:rPr>
              <a:t>We will name specifically which systems should adopt — and which should not.</a:t>
            </a:r>
            <a:endParaRPr lang="en-US" sz="1050" dirty="0"/>
          </a:p>
        </p:txBody>
      </p:sp>
      <p:sp>
        <p:nvSpPr>
          <p:cNvPr id="33" name="Shape 31"/>
          <p:cNvSpPr/>
          <p:nvPr/>
        </p:nvSpPr>
        <p:spPr>
          <a:xfrm>
            <a:off x="914400" y="5830831"/>
            <a:ext cx="16459201" cy="1589314"/>
          </a:xfrm>
          <a:prstGeom prst="rect">
            <a:avLst/>
          </a:prstGeom>
          <a:solidFill>
            <a:srgbClr val="F4F4F4"/>
          </a:solidFill>
          <a:ln/>
        </p:spPr>
      </p:sp>
      <p:sp>
        <p:nvSpPr>
          <p:cNvPr id="34" name="Text 32"/>
          <p:cNvSpPr/>
          <p:nvPr/>
        </p:nvSpPr>
        <p:spPr>
          <a:xfrm>
            <a:off x="1257300" y="6097531"/>
            <a:ext cx="16246603"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525252"/>
                </a:solidFill>
                <a:latin typeface="Arial" pitchFamily="34" charset="0"/>
                <a:ea typeface="Arial" pitchFamily="34" charset="-122"/>
                <a:cs typeface="Arial" pitchFamily="34" charset="-120"/>
              </a:rPr>
              <a:t>SYSTEMS WHERE WE WILL NOT USE EVENT SOURCING</a:t>
            </a:r>
            <a:endParaRPr lang="en-US" sz="975" dirty="0"/>
          </a:p>
        </p:txBody>
      </p:sp>
      <p:sp>
        <p:nvSpPr>
          <p:cNvPr id="35" name="Text 33"/>
          <p:cNvSpPr/>
          <p:nvPr/>
        </p:nvSpPr>
        <p:spPr>
          <a:xfrm>
            <a:off x="1447800" y="6413217"/>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Internal tools where history is uninteresting — brochure managers, simple admin panels</a:t>
            </a:r>
            <a:endParaRPr lang="en-US" sz="1200" dirty="0"/>
          </a:p>
        </p:txBody>
      </p:sp>
      <p:sp>
        <p:nvSpPr>
          <p:cNvPr id="36" name="Text 34"/>
          <p:cNvSpPr/>
          <p:nvPr/>
        </p:nvSpPr>
        <p:spPr>
          <a:xfrm>
            <a:off x="9525001" y="6413217"/>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Throwaway prototypes — rapid CRUD iteration is faster for unknown requirements</a:t>
            </a:r>
            <a:endParaRPr lang="en-US" sz="1200" dirty="0"/>
          </a:p>
        </p:txBody>
      </p:sp>
      <p:sp>
        <p:nvSpPr>
          <p:cNvPr id="37" name="Text 35"/>
          <p:cNvSpPr/>
          <p:nvPr/>
        </p:nvSpPr>
        <p:spPr>
          <a:xfrm>
            <a:off x="1447800" y="6685360"/>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Pure data pipelines — ETL, stream processing; purpose-built tools serve better</a:t>
            </a:r>
            <a:endParaRPr lang="en-US" sz="1200" dirty="0"/>
          </a:p>
        </p:txBody>
      </p:sp>
      <p:sp>
        <p:nvSpPr>
          <p:cNvPr id="38" name="Text 36"/>
          <p:cNvSpPr/>
          <p:nvPr/>
        </p:nvSpPr>
        <p:spPr>
          <a:xfrm>
            <a:off x="9525001" y="6685360"/>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Systems with a single dominant query — search indexes, recommendation engines</a:t>
            </a:r>
            <a:endParaRPr lang="en-US" sz="1200" dirty="0"/>
          </a:p>
        </p:txBody>
      </p:sp>
      <p:sp>
        <p:nvSpPr>
          <p:cNvPr id="39" name="Text 37"/>
          <p:cNvSpPr/>
          <p:nvPr/>
        </p:nvSpPr>
        <p:spPr>
          <a:xfrm>
            <a:off x="1447800" y="6957503"/>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Compliance environments that require provable, auditable data </a:t>
            </a:r>
            <a:pPr algn="l" indent="0" marL="0">
              <a:buNone/>
            </a:pPr>
            <a:r>
              <a:rPr lang="en-US" sz="1200" i="1" dirty="0">
                <a:solidFill>
                  <a:srgbClr val="0F62FE"/>
                </a:solidFill>
                <a:latin typeface="Arial" pitchFamily="34" charset="0"/>
                <a:ea typeface="Arial" pitchFamily="34" charset="-122"/>
                <a:cs typeface="Arial" pitchFamily="34" charset="-120"/>
              </a:rPr>
              <a:t>deletion</a:t>
            </a:r>
            <a:endParaRPr lang="en-US" sz="1200" dirty="0"/>
          </a:p>
        </p:txBody>
      </p:sp>
      <p:sp>
        <p:nvSpPr>
          <p:cNvPr id="40" name="Text 38"/>
          <p:cNvSpPr/>
          <p:nvPr/>
        </p:nvSpPr>
        <p:spPr>
          <a:xfrm>
            <a:off x="9525001" y="6957503"/>
            <a:ext cx="7736587" cy="234043"/>
          </a:xfrm>
          <a:prstGeom prst="rect">
            <a:avLst/>
          </a:prstGeom>
          <a:noFill/>
          <a:ln/>
        </p:spPr>
        <p:txBody>
          <a:bodyPr wrap="square" lIns="25400" tIns="25400" rIns="25400" bIns="25400" rtlCol="0" anchor="t">
            <a:normAutofit/>
          </a:bodyPr>
          <a:lstStyle/>
          <a:p>
            <a:pPr algn="l" indent="0" marL="0">
              <a:buNone/>
            </a:pPr>
            <a:r>
              <a:rPr lang="en-US" sz="1200" dirty="0">
                <a:solidFill>
                  <a:srgbClr val="393939"/>
                </a:solidFill>
                <a:latin typeface="Arial" pitchFamily="34" charset="0"/>
                <a:ea typeface="Arial" pitchFamily="34" charset="-122"/>
                <a:cs typeface="Arial" pitchFamily="34" charset="-120"/>
              </a:rPr>
              <a:t>Anything a lightweight solution already serves well enough</a:t>
            </a:r>
            <a:endParaRPr lang="en-US" sz="1200" dirty="0"/>
          </a:p>
        </p:txBody>
      </p:sp>
      <p:sp>
        <p:nvSpPr>
          <p:cNvPr id="41" name="Text 39"/>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42" name="Shape 40"/>
          <p:cNvSpPr/>
          <p:nvPr/>
        </p:nvSpPr>
        <p:spPr>
          <a:xfrm>
            <a:off x="3003947" y="9729107"/>
            <a:ext cx="38100" cy="38100"/>
          </a:xfrm>
          <a:prstGeom prst="ellipse">
            <a:avLst/>
          </a:prstGeom>
          <a:solidFill>
            <a:srgbClr val="6F6F6F"/>
          </a:solidFill>
          <a:ln/>
        </p:spPr>
      </p:sp>
      <p:sp>
        <p:nvSpPr>
          <p:cNvPr id="43" name="Text 41"/>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44" name="Text 42"/>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10 / 13</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04 · THE BUDGETING CONVERSATION</a:t>
            </a:r>
            <a:endParaRPr lang="en-US" sz="975" dirty="0"/>
          </a:p>
        </p:txBody>
      </p:sp>
      <p:sp>
        <p:nvSpPr>
          <p:cNvPr id="4" name="Text 2"/>
          <p:cNvSpPr/>
          <p:nvPr/>
        </p:nvSpPr>
        <p:spPr>
          <a:xfrm>
            <a:off x="914400" y="1268186"/>
            <a:ext cx="16952977"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60" kern="0" dirty="0">
                <a:solidFill>
                  <a:srgbClr val="161616"/>
                </a:solidFill>
                <a:latin typeface="Arial" pitchFamily="34" charset="0"/>
                <a:ea typeface="Arial" pitchFamily="34" charset="-122"/>
                <a:cs typeface="Arial" pitchFamily="34" charset="-120"/>
              </a:rPr>
              <a:t>What it costs.</a:t>
            </a:r>
            <a:endParaRPr lang="en-US" sz="5400" dirty="0"/>
          </a:p>
        </p:txBody>
      </p:sp>
      <p:sp>
        <p:nvSpPr>
          <p:cNvPr id="5" name="Text 3"/>
          <p:cNvSpPr/>
          <p:nvPr/>
        </p:nvSpPr>
        <p:spPr>
          <a:xfrm>
            <a:off x="914400" y="2199255"/>
            <a:ext cx="16952977" cy="346642"/>
          </a:xfrm>
          <a:prstGeom prst="rect">
            <a:avLst/>
          </a:prstGeom>
          <a:noFill/>
          <a:ln/>
        </p:spPr>
        <p:txBody>
          <a:bodyPr wrap="square" lIns="25400" tIns="25400" rIns="25400" bIns="25400" rtlCol="0" anchor="t">
            <a:normAutofit/>
          </a:bodyPr>
          <a:lstStyle/>
          <a:p>
            <a:pPr algn="l" indent="0" marL="0">
              <a:lnSpc>
                <a:spcPct val="135000"/>
              </a:lnSpc>
              <a:buNone/>
            </a:pPr>
            <a:r>
              <a:rPr lang="en-US" sz="1800" i="1" dirty="0">
                <a:solidFill>
                  <a:srgbClr val="6F6F6F"/>
                </a:solidFill>
                <a:latin typeface="Arial" pitchFamily="34" charset="0"/>
                <a:ea typeface="Arial" pitchFamily="34" charset="-122"/>
                <a:cs typeface="Arial" pitchFamily="34" charset="-120"/>
              </a:rPr>
              <a:t>Do this arithmetic before you present. Vague reassurance loses the room.</a:t>
            </a:r>
            <a:endParaRPr lang="en-US" sz="1800" dirty="0"/>
          </a:p>
        </p:txBody>
      </p:sp>
      <p:sp>
        <p:nvSpPr>
          <p:cNvPr id="6" name="Shape 4"/>
          <p:cNvSpPr/>
          <p:nvPr/>
        </p:nvSpPr>
        <p:spPr>
          <a:xfrm>
            <a:off x="914400" y="3041197"/>
            <a:ext cx="16459201" cy="5086350"/>
          </a:xfrm>
          <a:prstGeom prst="rect">
            <a:avLst/>
          </a:prstGeom>
          <a:solidFill>
            <a:srgbClr val="FFFFFF"/>
          </a:solidFill>
          <a:ln w="10886">
            <a:solidFill>
              <a:srgbClr val="E0E0E0"/>
            </a:solidFill>
            <a:prstDash val="solid"/>
          </a:ln>
        </p:spPr>
      </p:sp>
      <p:sp>
        <p:nvSpPr>
          <p:cNvPr id="7" name="Shape 5"/>
          <p:cNvSpPr/>
          <p:nvPr/>
        </p:nvSpPr>
        <p:spPr>
          <a:xfrm>
            <a:off x="925286" y="3052082"/>
            <a:ext cx="16437429" cy="555171"/>
          </a:xfrm>
          <a:prstGeom prst="rect">
            <a:avLst/>
          </a:prstGeom>
          <a:solidFill>
            <a:srgbClr val="F4F4F4"/>
          </a:solidFill>
          <a:ln/>
        </p:spPr>
      </p:sp>
      <p:sp>
        <p:nvSpPr>
          <p:cNvPr id="8" name="Shape 6"/>
          <p:cNvSpPr/>
          <p:nvPr/>
        </p:nvSpPr>
        <p:spPr>
          <a:xfrm>
            <a:off x="925286" y="3596368"/>
            <a:ext cx="16437429" cy="10886"/>
          </a:xfrm>
          <a:prstGeom prst="rect">
            <a:avLst/>
          </a:prstGeom>
          <a:solidFill>
            <a:srgbClr val="E0E0E0"/>
          </a:solidFill>
          <a:ln/>
        </p:spPr>
      </p:sp>
      <p:sp>
        <p:nvSpPr>
          <p:cNvPr id="9" name="Text 7"/>
          <p:cNvSpPr/>
          <p:nvPr/>
        </p:nvSpPr>
        <p:spPr>
          <a:xfrm>
            <a:off x="1306286" y="3242582"/>
            <a:ext cx="7680416"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525252"/>
                </a:solidFill>
                <a:latin typeface="Arial" pitchFamily="34" charset="0"/>
                <a:ea typeface="Arial" pitchFamily="34" charset="-122"/>
                <a:cs typeface="Arial" pitchFamily="34" charset="-120"/>
              </a:rPr>
              <a:t>COST CATEGORY</a:t>
            </a:r>
            <a:endParaRPr lang="en-US" sz="975" dirty="0"/>
          </a:p>
        </p:txBody>
      </p:sp>
      <p:sp>
        <p:nvSpPr>
          <p:cNvPr id="10" name="Text 8"/>
          <p:cNvSpPr/>
          <p:nvPr/>
        </p:nvSpPr>
        <p:spPr>
          <a:xfrm>
            <a:off x="9144001" y="3242582"/>
            <a:ext cx="4608250"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525252"/>
                </a:solidFill>
                <a:latin typeface="Arial" pitchFamily="34" charset="0"/>
                <a:ea typeface="Arial" pitchFamily="34" charset="-122"/>
                <a:cs typeface="Arial" pitchFamily="34" charset="-120"/>
              </a:rPr>
              <a:t>ESTIMATE</a:t>
            </a:r>
            <a:endParaRPr lang="en-US" sz="975" dirty="0"/>
          </a:p>
        </p:txBody>
      </p:sp>
      <p:sp>
        <p:nvSpPr>
          <p:cNvPr id="11" name="Text 9"/>
          <p:cNvSpPr/>
          <p:nvPr/>
        </p:nvSpPr>
        <p:spPr>
          <a:xfrm>
            <a:off x="13999029" y="3242582"/>
            <a:ext cx="307216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525252"/>
                </a:solidFill>
                <a:latin typeface="Arial" pitchFamily="34" charset="0"/>
                <a:ea typeface="Arial" pitchFamily="34" charset="-122"/>
                <a:cs typeface="Arial" pitchFamily="34" charset="-120"/>
              </a:rPr>
              <a:t>WHEN</a:t>
            </a:r>
            <a:endParaRPr lang="en-US" sz="975" dirty="0"/>
          </a:p>
        </p:txBody>
      </p:sp>
      <p:sp>
        <p:nvSpPr>
          <p:cNvPr id="12" name="Shape 10"/>
          <p:cNvSpPr/>
          <p:nvPr/>
        </p:nvSpPr>
        <p:spPr>
          <a:xfrm>
            <a:off x="925286" y="4726441"/>
            <a:ext cx="16437429" cy="10886"/>
          </a:xfrm>
          <a:prstGeom prst="rect">
            <a:avLst/>
          </a:prstGeom>
          <a:solidFill>
            <a:srgbClr val="E0E0E0"/>
          </a:solidFill>
          <a:ln/>
        </p:spPr>
      </p:sp>
      <p:sp>
        <p:nvSpPr>
          <p:cNvPr id="13" name="Text 11"/>
          <p:cNvSpPr/>
          <p:nvPr/>
        </p:nvSpPr>
        <p:spPr>
          <a:xfrm>
            <a:off x="1306286" y="3873954"/>
            <a:ext cx="768041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161616"/>
                </a:solidFill>
                <a:latin typeface="Arial" pitchFamily="34" charset="0"/>
                <a:ea typeface="Arial" pitchFamily="34" charset="-122"/>
                <a:cs typeface="Arial" pitchFamily="34" charset="-120"/>
              </a:rPr>
              <a:t>Team ramp-up time</a:t>
            </a:r>
            <a:endParaRPr lang="en-US" sz="1650" dirty="0"/>
          </a:p>
        </p:txBody>
      </p:sp>
      <p:sp>
        <p:nvSpPr>
          <p:cNvPr id="14" name="Text 12"/>
          <p:cNvSpPr/>
          <p:nvPr/>
        </p:nvSpPr>
        <p:spPr>
          <a:xfrm>
            <a:off x="1306286" y="4245429"/>
            <a:ext cx="768041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F6F6F"/>
                </a:solidFill>
                <a:latin typeface="Arial" pitchFamily="34" charset="0"/>
                <a:ea typeface="Arial" pitchFamily="34" charset="-122"/>
                <a:cs typeface="Arial" pitchFamily="34" charset="-120"/>
              </a:rPr>
              <a:t>Two to six weeks to productivity per engineer.</a:t>
            </a:r>
            <a:endParaRPr lang="en-US" sz="1125" dirty="0"/>
          </a:p>
        </p:txBody>
      </p:sp>
      <p:sp>
        <p:nvSpPr>
          <p:cNvPr id="15" name="Text 13"/>
          <p:cNvSpPr/>
          <p:nvPr/>
        </p:nvSpPr>
        <p:spPr>
          <a:xfrm>
            <a:off x="9144001" y="4030776"/>
            <a:ext cx="4608250" cy="310243"/>
          </a:xfrm>
          <a:prstGeom prst="rect">
            <a:avLst/>
          </a:prstGeom>
          <a:noFill/>
          <a:ln/>
        </p:spPr>
        <p:txBody>
          <a:bodyPr wrap="square" lIns="25400" tIns="25400" rIns="25400" bIns="25400" rtlCol="0" anchor="t">
            <a:normAutofit/>
          </a:bodyPr>
          <a:lstStyle/>
          <a:p>
            <a:pPr algn="l" indent="0" marL="0">
              <a:buNone/>
            </a:pPr>
            <a:r>
              <a:rPr lang="en-US" sz="1650" dirty="0">
                <a:solidFill>
                  <a:srgbClr val="161616"/>
                </a:solidFill>
                <a:latin typeface="Arial" pitchFamily="34" charset="0"/>
                <a:ea typeface="Arial" pitchFamily="34" charset="-122"/>
                <a:cs typeface="Arial" pitchFamily="34" charset="-120"/>
              </a:rPr>
              <a:t>Team size × 2–6 weeks</a:t>
            </a:r>
            <a:endParaRPr lang="en-US" sz="1650" dirty="0"/>
          </a:p>
        </p:txBody>
      </p:sp>
      <p:sp>
        <p:nvSpPr>
          <p:cNvPr id="16" name="Text 14"/>
          <p:cNvSpPr/>
          <p:nvPr/>
        </p:nvSpPr>
        <p:spPr>
          <a:xfrm>
            <a:off x="13999029" y="4079762"/>
            <a:ext cx="3072167" cy="212271"/>
          </a:xfrm>
          <a:prstGeom prst="rect">
            <a:avLst/>
          </a:prstGeom>
          <a:noFill/>
          <a:ln/>
        </p:spPr>
        <p:txBody>
          <a:bodyPr wrap="square" lIns="25400" tIns="25400" rIns="25400" bIns="25400" rtlCol="0" anchor="t">
            <a:normAutofit/>
          </a:bodyPr>
          <a:lstStyle/>
          <a:p>
            <a:pPr algn="l" indent="0" marL="0">
              <a:buNone/>
            </a:pPr>
            <a:r>
              <a:rPr lang="en-US" sz="1050" spc="24" kern="0" dirty="0">
                <a:solidFill>
                  <a:srgbClr val="525252"/>
                </a:solidFill>
                <a:latin typeface="Arial" pitchFamily="34" charset="0"/>
                <a:ea typeface="Arial" pitchFamily="34" charset="-122"/>
                <a:cs typeface="Arial" pitchFamily="34" charset="-120"/>
              </a:rPr>
              <a:t>Q1 ONLY</a:t>
            </a:r>
            <a:endParaRPr lang="en-US" sz="1050" dirty="0"/>
          </a:p>
        </p:txBody>
      </p:sp>
      <p:sp>
        <p:nvSpPr>
          <p:cNvPr id="17" name="Shape 15"/>
          <p:cNvSpPr/>
          <p:nvPr/>
        </p:nvSpPr>
        <p:spPr>
          <a:xfrm>
            <a:off x="925286" y="5856515"/>
            <a:ext cx="16437429" cy="10886"/>
          </a:xfrm>
          <a:prstGeom prst="rect">
            <a:avLst/>
          </a:prstGeom>
          <a:solidFill>
            <a:srgbClr val="E0E0E0"/>
          </a:solidFill>
          <a:ln/>
        </p:spPr>
      </p:sp>
      <p:sp>
        <p:nvSpPr>
          <p:cNvPr id="18" name="Text 16"/>
          <p:cNvSpPr/>
          <p:nvPr/>
        </p:nvSpPr>
        <p:spPr>
          <a:xfrm>
            <a:off x="1306286" y="5004027"/>
            <a:ext cx="768041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161616"/>
                </a:solidFill>
                <a:latin typeface="Arial" pitchFamily="34" charset="0"/>
                <a:ea typeface="Arial" pitchFamily="34" charset="-122"/>
                <a:cs typeface="Arial" pitchFamily="34" charset="-120"/>
              </a:rPr>
              <a:t>Contractor / specialist</a:t>
            </a:r>
            <a:endParaRPr lang="en-US" sz="1650" dirty="0"/>
          </a:p>
        </p:txBody>
      </p:sp>
      <p:sp>
        <p:nvSpPr>
          <p:cNvPr id="19" name="Text 17"/>
          <p:cNvSpPr/>
          <p:nvPr/>
        </p:nvSpPr>
        <p:spPr>
          <a:xfrm>
            <a:off x="1306286" y="5375502"/>
            <a:ext cx="768041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F6F6F"/>
                </a:solidFill>
                <a:latin typeface="Arial" pitchFamily="34" charset="0"/>
                <a:ea typeface="Arial" pitchFamily="34" charset="-122"/>
                <a:cs typeface="Arial" pitchFamily="34" charset="-120"/>
              </a:rPr>
              <a:t>External event-sourcing expertise while the team ramps.</a:t>
            </a:r>
            <a:endParaRPr lang="en-US" sz="1125" dirty="0"/>
          </a:p>
        </p:txBody>
      </p:sp>
      <p:sp>
        <p:nvSpPr>
          <p:cNvPr id="20" name="Text 18"/>
          <p:cNvSpPr/>
          <p:nvPr/>
        </p:nvSpPr>
        <p:spPr>
          <a:xfrm>
            <a:off x="9144001" y="5160850"/>
            <a:ext cx="4608250" cy="310243"/>
          </a:xfrm>
          <a:prstGeom prst="rect">
            <a:avLst/>
          </a:prstGeom>
          <a:noFill/>
          <a:ln/>
        </p:spPr>
        <p:txBody>
          <a:bodyPr wrap="square" lIns="25400" tIns="25400" rIns="25400" bIns="25400" rtlCol="0" anchor="t">
            <a:normAutofit/>
          </a:bodyPr>
          <a:lstStyle/>
          <a:p>
            <a:pPr algn="l" indent="0" marL="0">
              <a:buNone/>
            </a:pPr>
            <a:r>
              <a:rPr lang="en-US" sz="1650" dirty="0">
                <a:solidFill>
                  <a:srgbClr val="161616"/>
                </a:solidFill>
                <a:latin typeface="Arial" pitchFamily="34" charset="0"/>
                <a:ea typeface="Arial" pitchFamily="34" charset="-122"/>
                <a:cs typeface="Arial" pitchFamily="34" charset="-120"/>
              </a:rPr>
              <a:t>One to two quarters at market rate</a:t>
            </a:r>
            <a:endParaRPr lang="en-US" sz="1650" dirty="0"/>
          </a:p>
        </p:txBody>
      </p:sp>
      <p:sp>
        <p:nvSpPr>
          <p:cNvPr id="21" name="Text 19"/>
          <p:cNvSpPr/>
          <p:nvPr/>
        </p:nvSpPr>
        <p:spPr>
          <a:xfrm>
            <a:off x="13999029" y="5209835"/>
            <a:ext cx="3072167" cy="212271"/>
          </a:xfrm>
          <a:prstGeom prst="rect">
            <a:avLst/>
          </a:prstGeom>
          <a:noFill/>
          <a:ln/>
        </p:spPr>
        <p:txBody>
          <a:bodyPr wrap="square" lIns="25400" tIns="25400" rIns="25400" bIns="25400" rtlCol="0" anchor="t">
            <a:normAutofit/>
          </a:bodyPr>
          <a:lstStyle/>
          <a:p>
            <a:pPr algn="l" indent="0" marL="0">
              <a:buNone/>
            </a:pPr>
            <a:r>
              <a:rPr lang="en-US" sz="1050" spc="24" kern="0" dirty="0">
                <a:solidFill>
                  <a:srgbClr val="525252"/>
                </a:solidFill>
                <a:latin typeface="Arial" pitchFamily="34" charset="0"/>
                <a:ea typeface="Arial" pitchFamily="34" charset="-122"/>
                <a:cs typeface="Arial" pitchFamily="34" charset="-120"/>
              </a:rPr>
              <a:t>Q1–Q2</a:t>
            </a:r>
            <a:endParaRPr lang="en-US" sz="1050" dirty="0"/>
          </a:p>
        </p:txBody>
      </p:sp>
      <p:sp>
        <p:nvSpPr>
          <p:cNvPr id="22" name="Shape 20"/>
          <p:cNvSpPr/>
          <p:nvPr/>
        </p:nvSpPr>
        <p:spPr>
          <a:xfrm>
            <a:off x="925286" y="6986588"/>
            <a:ext cx="16437429" cy="10886"/>
          </a:xfrm>
          <a:prstGeom prst="rect">
            <a:avLst/>
          </a:prstGeom>
          <a:solidFill>
            <a:srgbClr val="E0E0E0"/>
          </a:solidFill>
          <a:ln/>
        </p:spPr>
      </p:sp>
      <p:sp>
        <p:nvSpPr>
          <p:cNvPr id="23" name="Text 21"/>
          <p:cNvSpPr/>
          <p:nvPr/>
        </p:nvSpPr>
        <p:spPr>
          <a:xfrm>
            <a:off x="1306286" y="6134100"/>
            <a:ext cx="768041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161616"/>
                </a:solidFill>
                <a:latin typeface="Arial" pitchFamily="34" charset="0"/>
                <a:ea typeface="Arial" pitchFamily="34" charset="-122"/>
                <a:cs typeface="Arial" pitchFamily="34" charset="-120"/>
              </a:rPr>
              <a:t>Storage</a:t>
            </a:r>
            <a:endParaRPr lang="en-US" sz="1650" dirty="0"/>
          </a:p>
        </p:txBody>
      </p:sp>
      <p:sp>
        <p:nvSpPr>
          <p:cNvPr id="24" name="Text 22"/>
          <p:cNvSpPr/>
          <p:nvPr/>
        </p:nvSpPr>
        <p:spPr>
          <a:xfrm>
            <a:off x="1306286" y="6505576"/>
            <a:ext cx="768041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F6F6F"/>
                </a:solidFill>
                <a:latin typeface="Arial" pitchFamily="34" charset="0"/>
                <a:ea typeface="Arial" pitchFamily="34" charset="-122"/>
                <a:cs typeface="Arial" pitchFamily="34" charset="-120"/>
              </a:rPr>
              <a:t>Event log and projections at your own event volume.</a:t>
            </a:r>
            <a:endParaRPr lang="en-US" sz="1125" dirty="0"/>
          </a:p>
        </p:txBody>
      </p:sp>
      <p:sp>
        <p:nvSpPr>
          <p:cNvPr id="25" name="Text 23"/>
          <p:cNvSpPr/>
          <p:nvPr/>
        </p:nvSpPr>
        <p:spPr>
          <a:xfrm>
            <a:off x="9144001" y="6290922"/>
            <a:ext cx="4608250" cy="310243"/>
          </a:xfrm>
          <a:prstGeom prst="rect">
            <a:avLst/>
          </a:prstGeom>
          <a:noFill/>
          <a:ln/>
        </p:spPr>
        <p:txBody>
          <a:bodyPr wrap="square" lIns="25400" tIns="25400" rIns="25400" bIns="25400" rtlCol="0" anchor="t">
            <a:normAutofit/>
          </a:bodyPr>
          <a:lstStyle/>
          <a:p>
            <a:pPr algn="l" indent="0" marL="0">
              <a:buNone/>
            </a:pPr>
            <a:r>
              <a:rPr lang="en-US" sz="1650" dirty="0">
                <a:solidFill>
                  <a:srgbClr val="161616"/>
                </a:solidFill>
                <a:latin typeface="Arial" pitchFamily="34" charset="0"/>
                <a:ea typeface="Arial" pitchFamily="34" charset="-122"/>
                <a:cs typeface="Arial" pitchFamily="34" charset="-120"/>
              </a:rPr>
              <a:t>Negligible at any volume</a:t>
            </a:r>
            <a:endParaRPr lang="en-US" sz="1650" dirty="0"/>
          </a:p>
        </p:txBody>
      </p:sp>
      <p:sp>
        <p:nvSpPr>
          <p:cNvPr id="26" name="Text 24"/>
          <p:cNvSpPr/>
          <p:nvPr/>
        </p:nvSpPr>
        <p:spPr>
          <a:xfrm>
            <a:off x="13999029" y="6339908"/>
            <a:ext cx="3072167" cy="212271"/>
          </a:xfrm>
          <a:prstGeom prst="rect">
            <a:avLst/>
          </a:prstGeom>
          <a:noFill/>
          <a:ln/>
        </p:spPr>
        <p:txBody>
          <a:bodyPr wrap="square" lIns="25400" tIns="25400" rIns="25400" bIns="25400" rtlCol="0" anchor="t">
            <a:normAutofit/>
          </a:bodyPr>
          <a:lstStyle/>
          <a:p>
            <a:pPr algn="l" indent="0" marL="0">
              <a:buNone/>
            </a:pPr>
            <a:r>
              <a:rPr lang="en-US" sz="1050" spc="24" kern="0" dirty="0">
                <a:solidFill>
                  <a:srgbClr val="525252"/>
                </a:solidFill>
                <a:latin typeface="Arial" pitchFamily="34" charset="0"/>
                <a:ea typeface="Arial" pitchFamily="34" charset="-122"/>
                <a:cs typeface="Arial" pitchFamily="34" charset="-120"/>
              </a:rPr>
              <a:t>ONGOING</a:t>
            </a:r>
            <a:endParaRPr lang="en-US" sz="1050" dirty="0"/>
          </a:p>
        </p:txBody>
      </p:sp>
      <p:sp>
        <p:nvSpPr>
          <p:cNvPr id="27" name="Text 25"/>
          <p:cNvSpPr/>
          <p:nvPr/>
        </p:nvSpPr>
        <p:spPr>
          <a:xfrm>
            <a:off x="1306286" y="7264173"/>
            <a:ext cx="768041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161616"/>
                </a:solidFill>
                <a:latin typeface="Arial" pitchFamily="34" charset="0"/>
                <a:ea typeface="Arial" pitchFamily="34" charset="-122"/>
                <a:cs typeface="Arial" pitchFamily="34" charset="-120"/>
              </a:rPr>
              <a:t>On-call expansion</a:t>
            </a:r>
            <a:endParaRPr lang="en-US" sz="1650" dirty="0"/>
          </a:p>
        </p:txBody>
      </p:sp>
      <p:sp>
        <p:nvSpPr>
          <p:cNvPr id="28" name="Text 26"/>
          <p:cNvSpPr/>
          <p:nvPr/>
        </p:nvSpPr>
        <p:spPr>
          <a:xfrm>
            <a:off x="1306286" y="7635648"/>
            <a:ext cx="768041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6F6F6F"/>
                </a:solidFill>
                <a:latin typeface="Arial" pitchFamily="34" charset="0"/>
                <a:ea typeface="Arial" pitchFamily="34" charset="-122"/>
                <a:cs typeface="Arial" pitchFamily="34" charset="-120"/>
              </a:rPr>
              <a:t>Additional infrastructure to monitor — event store and projections.</a:t>
            </a:r>
            <a:endParaRPr lang="en-US" sz="1125" dirty="0"/>
          </a:p>
        </p:txBody>
      </p:sp>
      <p:sp>
        <p:nvSpPr>
          <p:cNvPr id="29" name="Text 27"/>
          <p:cNvSpPr/>
          <p:nvPr/>
        </p:nvSpPr>
        <p:spPr>
          <a:xfrm>
            <a:off x="9144001" y="7420996"/>
            <a:ext cx="4608250" cy="310243"/>
          </a:xfrm>
          <a:prstGeom prst="rect">
            <a:avLst/>
          </a:prstGeom>
          <a:noFill/>
          <a:ln/>
        </p:spPr>
        <p:txBody>
          <a:bodyPr wrap="square" lIns="25400" tIns="25400" rIns="25400" bIns="25400" rtlCol="0" anchor="t">
            <a:normAutofit/>
          </a:bodyPr>
          <a:lstStyle/>
          <a:p>
            <a:pPr algn="l" indent="0" marL="0">
              <a:buNone/>
            </a:pPr>
            <a:r>
              <a:rPr lang="en-US" sz="1650" dirty="0">
                <a:solidFill>
                  <a:srgbClr val="161616"/>
                </a:solidFill>
                <a:latin typeface="Arial" pitchFamily="34" charset="0"/>
                <a:ea typeface="Arial" pitchFamily="34" charset="-122"/>
                <a:cs typeface="Arial" pitchFamily="34" charset="-120"/>
              </a:rPr>
              <a:t>Modest</a:t>
            </a:r>
            <a:endParaRPr lang="en-US" sz="1650" dirty="0"/>
          </a:p>
        </p:txBody>
      </p:sp>
      <p:sp>
        <p:nvSpPr>
          <p:cNvPr id="30" name="Text 28"/>
          <p:cNvSpPr/>
          <p:nvPr/>
        </p:nvSpPr>
        <p:spPr>
          <a:xfrm>
            <a:off x="13999029" y="7469982"/>
            <a:ext cx="3072167" cy="212271"/>
          </a:xfrm>
          <a:prstGeom prst="rect">
            <a:avLst/>
          </a:prstGeom>
          <a:noFill/>
          <a:ln/>
        </p:spPr>
        <p:txBody>
          <a:bodyPr wrap="square" lIns="25400" tIns="25400" rIns="25400" bIns="25400" rtlCol="0" anchor="t">
            <a:normAutofit/>
          </a:bodyPr>
          <a:lstStyle/>
          <a:p>
            <a:pPr algn="l" indent="0" marL="0">
              <a:buNone/>
            </a:pPr>
            <a:r>
              <a:rPr lang="en-US" sz="1050" spc="24" kern="0" dirty="0">
                <a:solidFill>
                  <a:srgbClr val="525252"/>
                </a:solidFill>
                <a:latin typeface="Arial" pitchFamily="34" charset="0"/>
                <a:ea typeface="Arial" pitchFamily="34" charset="-122"/>
                <a:cs typeface="Arial" pitchFamily="34" charset="-120"/>
              </a:rPr>
              <a:t>ONGOING</a:t>
            </a:r>
            <a:endParaRPr lang="en-US" sz="1050" dirty="0"/>
          </a:p>
        </p:txBody>
      </p:sp>
      <p:sp>
        <p:nvSpPr>
          <p:cNvPr id="31" name="Shape 29"/>
          <p:cNvSpPr/>
          <p:nvPr/>
        </p:nvSpPr>
        <p:spPr>
          <a:xfrm>
            <a:off x="914400" y="8432347"/>
            <a:ext cx="16459201" cy="1291318"/>
          </a:xfrm>
          <a:prstGeom prst="rect">
            <a:avLst/>
          </a:prstGeom>
          <a:solidFill>
            <a:srgbClr val="161616"/>
          </a:solidFill>
          <a:ln/>
        </p:spPr>
      </p:sp>
      <p:sp>
        <p:nvSpPr>
          <p:cNvPr id="32" name="Text 30"/>
          <p:cNvSpPr/>
          <p:nvPr/>
        </p:nvSpPr>
        <p:spPr>
          <a:xfrm>
            <a:off x="1371600" y="8797018"/>
            <a:ext cx="1740524"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78A9FF"/>
                </a:solidFill>
                <a:latin typeface="Arial" pitchFamily="34" charset="0"/>
                <a:ea typeface="Arial" pitchFamily="34" charset="-122"/>
                <a:cs typeface="Arial" pitchFamily="34" charset="-120"/>
              </a:rPr>
              <a:t>TOTAL FIRST-YEAR COST</a:t>
            </a:r>
            <a:endParaRPr lang="en-US" sz="975" dirty="0"/>
          </a:p>
        </p:txBody>
      </p:sp>
      <p:sp>
        <p:nvSpPr>
          <p:cNvPr id="33" name="Text 31"/>
          <p:cNvSpPr/>
          <p:nvPr/>
        </p:nvSpPr>
        <p:spPr>
          <a:xfrm>
            <a:off x="1371600" y="9009290"/>
            <a:ext cx="3442172"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FFFFFF"/>
                </a:solidFill>
                <a:latin typeface="Arial" pitchFamily="34" charset="0"/>
                <a:ea typeface="Arial" pitchFamily="34" charset="-122"/>
                <a:cs typeface="Arial" pitchFamily="34" charset="-120"/>
              </a:rPr>
              <a:t>Typically under one engineer-year.</a:t>
            </a:r>
            <a:endParaRPr lang="en-US" sz="2250" dirty="0"/>
          </a:p>
        </p:txBody>
      </p:sp>
      <p:sp>
        <p:nvSpPr>
          <p:cNvPr id="34" name="Text 32"/>
          <p:cNvSpPr/>
          <p:nvPr/>
        </p:nvSpPr>
        <p:spPr>
          <a:xfrm>
            <a:off x="4739858" y="8860292"/>
            <a:ext cx="12176543" cy="473529"/>
          </a:xfrm>
          <a:prstGeom prst="rect">
            <a:avLst/>
          </a:prstGeom>
          <a:noFill/>
          <a:ln/>
        </p:spPr>
        <p:txBody>
          <a:bodyPr wrap="square" lIns="25400" tIns="25400" rIns="25400" bIns="25400" rtlCol="0" anchor="t">
            <a:normAutofit/>
          </a:bodyPr>
          <a:lstStyle/>
          <a:p>
            <a:pPr algn="r" indent="0" marL="0">
              <a:buNone/>
            </a:pPr>
            <a:r>
              <a:rPr lang="en-US" sz="1350" i="1" dirty="0">
                <a:solidFill>
                  <a:srgbClr val="C6C6C6"/>
                </a:solidFill>
                <a:latin typeface="Arial" pitchFamily="34" charset="0"/>
                <a:ea typeface="Arial" pitchFamily="34" charset="-122"/>
                <a:cs typeface="Arial" pitchFamily="34" charset="-120"/>
              </a:rPr>
              <a:t>A "version 2.0" rewrite costs </a:t>
            </a:r>
            <a:pPr algn="r" indent="0" marL="0">
              <a:buNone/>
            </a:pPr>
            <a:r>
              <a:rPr lang="en-US" sz="1350" b="1" dirty="0">
                <a:solidFill>
                  <a:srgbClr val="78A9FF"/>
                </a:solidFill>
                <a:latin typeface="Arial" pitchFamily="34" charset="0"/>
                <a:ea typeface="Arial" pitchFamily="34" charset="-122"/>
                <a:cs typeface="Arial" pitchFamily="34" charset="-120"/>
              </a:rPr>
              <a:t>5–10× </a:t>
            </a:r>
            <a:pPr algn="r" indent="0" marL="0">
              <a:buNone/>
            </a:pPr>
            <a:r>
              <a:rPr lang="en-US" sz="1350" i="1" dirty="0">
                <a:solidFill>
                  <a:srgbClr val="C6C6C6"/>
                </a:solidFill>
                <a:latin typeface="Arial" pitchFamily="34" charset="0"/>
                <a:ea typeface="Arial" pitchFamily="34" charset="-122"/>
                <a:cs typeface="Arial" pitchFamily="34" charset="-120"/>
              </a:rPr>
              <a:t>this — and ships nothing until the end.</a:t>
            </a:r>
            <a:endParaRPr lang="en-US" sz="1350" dirty="0"/>
          </a:p>
        </p:txBody>
      </p:sp>
      <p:sp>
        <p:nvSpPr>
          <p:cNvPr id="35" name="Text 33"/>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36" name="Shape 34"/>
          <p:cNvSpPr/>
          <p:nvPr/>
        </p:nvSpPr>
        <p:spPr>
          <a:xfrm>
            <a:off x="3003947" y="9729107"/>
            <a:ext cx="38100" cy="38100"/>
          </a:xfrm>
          <a:prstGeom prst="ellipse">
            <a:avLst/>
          </a:prstGeom>
          <a:solidFill>
            <a:srgbClr val="6F6F6F"/>
          </a:solidFill>
          <a:ln/>
        </p:spPr>
      </p:sp>
      <p:sp>
        <p:nvSpPr>
          <p:cNvPr id="37" name="Text 35"/>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38" name="Text 36"/>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11 / 13</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05 · THE PLAN</a:t>
            </a:r>
            <a:endParaRPr lang="en-US" sz="975" dirty="0"/>
          </a:p>
        </p:txBody>
      </p:sp>
      <p:sp>
        <p:nvSpPr>
          <p:cNvPr id="4" name="Text 2"/>
          <p:cNvSpPr/>
          <p:nvPr/>
        </p:nvSpPr>
        <p:spPr>
          <a:xfrm>
            <a:off x="914400" y="1268186"/>
            <a:ext cx="16952977"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60" kern="0" dirty="0">
                <a:solidFill>
                  <a:srgbClr val="161616"/>
                </a:solidFill>
                <a:latin typeface="Arial" pitchFamily="34" charset="0"/>
                <a:ea typeface="Arial" pitchFamily="34" charset="-122"/>
                <a:cs typeface="Arial" pitchFamily="34" charset="-120"/>
              </a:rPr>
              <a:t>How we would do it.</a:t>
            </a:r>
            <a:endParaRPr lang="en-US" sz="5400" dirty="0"/>
          </a:p>
        </p:txBody>
      </p:sp>
      <p:sp>
        <p:nvSpPr>
          <p:cNvPr id="5" name="Text 3"/>
          <p:cNvSpPr/>
          <p:nvPr/>
        </p:nvSpPr>
        <p:spPr>
          <a:xfrm>
            <a:off x="914400" y="2199255"/>
            <a:ext cx="16952977" cy="346642"/>
          </a:xfrm>
          <a:prstGeom prst="rect">
            <a:avLst/>
          </a:prstGeom>
          <a:noFill/>
          <a:ln/>
        </p:spPr>
        <p:txBody>
          <a:bodyPr wrap="square" lIns="25400" tIns="25400" rIns="25400" bIns="25400" rtlCol="0" anchor="t">
            <a:normAutofit/>
          </a:bodyPr>
          <a:lstStyle/>
          <a:p>
            <a:pPr algn="l" indent="0" marL="0">
              <a:lnSpc>
                <a:spcPct val="135000"/>
              </a:lnSpc>
              <a:buNone/>
            </a:pPr>
            <a:r>
              <a:rPr lang="en-US" sz="1800" i="1" dirty="0">
                <a:solidFill>
                  <a:srgbClr val="6F6F6F"/>
                </a:solidFill>
                <a:latin typeface="Arial" pitchFamily="34" charset="0"/>
                <a:ea typeface="Arial" pitchFamily="34" charset="-122"/>
                <a:cs typeface="Arial" pitchFamily="34" charset="-120"/>
              </a:rPr>
              <a:t>One bounded context first. Strangler pattern. Each step delivers value on its own.</a:t>
            </a:r>
            <a:endParaRPr lang="en-US" sz="1800" dirty="0"/>
          </a:p>
        </p:txBody>
      </p:sp>
      <p:sp>
        <p:nvSpPr>
          <p:cNvPr id="6" name="Shape 4"/>
          <p:cNvSpPr/>
          <p:nvPr/>
        </p:nvSpPr>
        <p:spPr>
          <a:xfrm>
            <a:off x="1485900" y="3593647"/>
            <a:ext cx="15316201" cy="19050"/>
          </a:xfrm>
          <a:prstGeom prst="rect">
            <a:avLst/>
          </a:prstGeom>
          <a:solidFill>
            <a:srgbClr val="C6C6C6"/>
          </a:solidFill>
          <a:ln/>
        </p:spPr>
      </p:sp>
      <p:sp>
        <p:nvSpPr>
          <p:cNvPr id="7" name="Shape 5"/>
          <p:cNvSpPr/>
          <p:nvPr/>
        </p:nvSpPr>
        <p:spPr>
          <a:xfrm>
            <a:off x="1485900" y="3593647"/>
            <a:ext cx="7658101" cy="19050"/>
          </a:xfrm>
          <a:prstGeom prst="rect">
            <a:avLst/>
          </a:prstGeom>
          <a:solidFill>
            <a:srgbClr val="0F62FE"/>
          </a:solidFill>
          <a:ln/>
        </p:spPr>
      </p:sp>
      <p:sp>
        <p:nvSpPr>
          <p:cNvPr id="8" name="Text 6"/>
          <p:cNvSpPr/>
          <p:nvPr/>
        </p:nvSpPr>
        <p:spPr>
          <a:xfrm>
            <a:off x="2557973" y="3269797"/>
            <a:ext cx="789554"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F62FE"/>
                </a:solidFill>
                <a:latin typeface="Arial" pitchFamily="34" charset="0"/>
                <a:ea typeface="Arial" pitchFamily="34" charset="-122"/>
                <a:cs typeface="Arial" pitchFamily="34" charset="-120"/>
              </a:rPr>
              <a:t>MONTH 1–3</a:t>
            </a:r>
            <a:endParaRPr lang="en-US" sz="975" dirty="0"/>
          </a:p>
        </p:txBody>
      </p:sp>
      <p:sp>
        <p:nvSpPr>
          <p:cNvPr id="9" name="Shape 7"/>
          <p:cNvSpPr/>
          <p:nvPr/>
        </p:nvSpPr>
        <p:spPr>
          <a:xfrm>
            <a:off x="2786743" y="3566432"/>
            <a:ext cx="255814" cy="255814"/>
          </a:xfrm>
          <a:prstGeom prst="ellipse">
            <a:avLst/>
          </a:prstGeom>
          <a:solidFill>
            <a:srgbClr val="0F62FE"/>
          </a:solidFill>
          <a:ln w="32657">
            <a:solidFill>
              <a:srgbClr val="FFFFFF"/>
            </a:solidFill>
            <a:prstDash val="solid"/>
          </a:ln>
          <a:effectLst>
            <a:outerShdw sx="100000" sy="100000" kx="0" ky="0" algn="bl" rotWithShape="0" blurRad="101600" dist="50800" dir="16200000">
              <a:srgbClr val="0F62FE">
                <a:alpha val="100000"/>
              </a:srgbClr>
            </a:outerShdw>
          </a:effectLst>
        </p:spPr>
      </p:sp>
      <p:sp>
        <p:nvSpPr>
          <p:cNvPr id="10" name="Shape 8"/>
          <p:cNvSpPr/>
          <p:nvPr/>
        </p:nvSpPr>
        <p:spPr>
          <a:xfrm>
            <a:off x="914400" y="4088947"/>
            <a:ext cx="4000500" cy="1892413"/>
          </a:xfrm>
          <a:prstGeom prst="rect">
            <a:avLst/>
          </a:prstGeom>
          <a:solidFill>
            <a:srgbClr val="FFFFFF"/>
          </a:solidFill>
          <a:ln/>
        </p:spPr>
      </p:sp>
      <p:sp>
        <p:nvSpPr>
          <p:cNvPr id="11" name="Shape 9"/>
          <p:cNvSpPr/>
          <p:nvPr/>
        </p:nvSpPr>
        <p:spPr>
          <a:xfrm>
            <a:off x="914400" y="5970474"/>
            <a:ext cx="4000500" cy="10886"/>
          </a:xfrm>
          <a:prstGeom prst="rect">
            <a:avLst/>
          </a:prstGeom>
          <a:solidFill>
            <a:srgbClr val="E0E0E0"/>
          </a:solidFill>
          <a:ln/>
        </p:spPr>
      </p:sp>
      <p:sp>
        <p:nvSpPr>
          <p:cNvPr id="12" name="Shape 10"/>
          <p:cNvSpPr/>
          <p:nvPr/>
        </p:nvSpPr>
        <p:spPr>
          <a:xfrm>
            <a:off x="914400" y="4088947"/>
            <a:ext cx="4000500" cy="21771"/>
          </a:xfrm>
          <a:prstGeom prst="rect">
            <a:avLst/>
          </a:prstGeom>
          <a:solidFill>
            <a:srgbClr val="0F62FE"/>
          </a:solidFill>
          <a:ln/>
        </p:spPr>
      </p:sp>
      <p:sp>
        <p:nvSpPr>
          <p:cNvPr id="13" name="Shape 11"/>
          <p:cNvSpPr/>
          <p:nvPr/>
        </p:nvSpPr>
        <p:spPr>
          <a:xfrm>
            <a:off x="914400" y="4088947"/>
            <a:ext cx="10886" cy="1892413"/>
          </a:xfrm>
          <a:prstGeom prst="rect">
            <a:avLst/>
          </a:prstGeom>
          <a:solidFill>
            <a:srgbClr val="E0E0E0"/>
          </a:solidFill>
          <a:ln/>
        </p:spPr>
      </p:sp>
      <p:sp>
        <p:nvSpPr>
          <p:cNvPr id="14" name="Shape 12"/>
          <p:cNvSpPr/>
          <p:nvPr/>
        </p:nvSpPr>
        <p:spPr>
          <a:xfrm>
            <a:off x="4904015" y="4088947"/>
            <a:ext cx="10886" cy="1892413"/>
          </a:xfrm>
          <a:prstGeom prst="rect">
            <a:avLst/>
          </a:prstGeom>
          <a:solidFill>
            <a:srgbClr val="E0E0E0"/>
          </a:solidFill>
          <a:ln/>
        </p:spPr>
      </p:sp>
      <p:sp>
        <p:nvSpPr>
          <p:cNvPr id="15" name="Text 13"/>
          <p:cNvSpPr/>
          <p:nvPr/>
        </p:nvSpPr>
        <p:spPr>
          <a:xfrm>
            <a:off x="1191986" y="4377418"/>
            <a:ext cx="3548689" cy="316706"/>
          </a:xfrm>
          <a:prstGeom prst="rect">
            <a:avLst/>
          </a:prstGeom>
          <a:noFill/>
          <a:ln/>
        </p:spPr>
        <p:txBody>
          <a:bodyPr wrap="square" lIns="25400" tIns="25400" rIns="25400" bIns="25400" rtlCol="0" anchor="t">
            <a:normAutofit/>
          </a:bodyPr>
          <a:lstStyle/>
          <a:p>
            <a:pPr algn="l" indent="0" marL="0">
              <a:lnSpc>
                <a:spcPct val="133000"/>
              </a:lnSpc>
              <a:buNone/>
            </a:pPr>
            <a:r>
              <a:rPr lang="en-US" sz="1650" b="1" dirty="0">
                <a:solidFill>
                  <a:srgbClr val="161616"/>
                </a:solidFill>
                <a:latin typeface="Arial" pitchFamily="34" charset="0"/>
                <a:ea typeface="Arial" pitchFamily="34" charset="-122"/>
                <a:cs typeface="Arial" pitchFamily="34" charset="-120"/>
              </a:rPr>
              <a:t>Discovery</a:t>
            </a:r>
            <a:endParaRPr lang="en-US" sz="1650" dirty="0"/>
          </a:p>
        </p:txBody>
      </p:sp>
      <p:sp>
        <p:nvSpPr>
          <p:cNvPr id="16" name="Text 14"/>
          <p:cNvSpPr/>
          <p:nvPr/>
        </p:nvSpPr>
        <p:spPr>
          <a:xfrm>
            <a:off x="1090386" y="4789374"/>
            <a:ext cx="3623129" cy="952500"/>
          </a:xfrm>
          <a:prstGeom prst="rect">
            <a:avLst/>
          </a:prstGeom>
          <a:noFill/>
          <a:ln/>
        </p:spPr>
        <p:txBody>
          <a:bodyPr wrap="square" lIns="25400" tIns="25400" rIns="25400" bIns="25400" rtlCol="0" anchor="t">
            <a:normAutofit/>
          </a:bodyPr>
          <a:lstStyle/>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Event-storm one bounded context (suggest: billing or audit)</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Select first pilot context</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Engineer training</a:t>
            </a:r>
            <a:endParaRPr lang="en-US" sz="1125" dirty="0"/>
          </a:p>
        </p:txBody>
      </p:sp>
      <p:sp>
        <p:nvSpPr>
          <p:cNvPr id="17" name="Text 15"/>
          <p:cNvSpPr/>
          <p:nvPr/>
        </p:nvSpPr>
        <p:spPr>
          <a:xfrm>
            <a:off x="6710873" y="3269797"/>
            <a:ext cx="789554"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F62FE"/>
                </a:solidFill>
                <a:latin typeface="Arial" pitchFamily="34" charset="0"/>
                <a:ea typeface="Arial" pitchFamily="34" charset="-122"/>
                <a:cs typeface="Arial" pitchFamily="34" charset="-120"/>
              </a:rPr>
              <a:t>MONTH 4–6</a:t>
            </a:r>
            <a:endParaRPr lang="en-US" sz="975" dirty="0"/>
          </a:p>
        </p:txBody>
      </p:sp>
      <p:sp>
        <p:nvSpPr>
          <p:cNvPr id="18" name="Shape 16"/>
          <p:cNvSpPr/>
          <p:nvPr/>
        </p:nvSpPr>
        <p:spPr>
          <a:xfrm>
            <a:off x="6939643" y="3566432"/>
            <a:ext cx="255814" cy="255814"/>
          </a:xfrm>
          <a:prstGeom prst="ellipse">
            <a:avLst/>
          </a:prstGeom>
          <a:solidFill>
            <a:srgbClr val="0F62FE"/>
          </a:solidFill>
          <a:ln w="32657">
            <a:solidFill>
              <a:srgbClr val="FFFFFF"/>
            </a:solidFill>
            <a:prstDash val="solid"/>
          </a:ln>
          <a:effectLst>
            <a:outerShdw sx="100000" sy="100000" kx="0" ky="0" algn="bl" rotWithShape="0" blurRad="101600" dist="50800" dir="16200000">
              <a:srgbClr val="0F62FE">
                <a:alpha val="100000"/>
              </a:srgbClr>
            </a:outerShdw>
          </a:effectLst>
        </p:spPr>
      </p:sp>
      <p:sp>
        <p:nvSpPr>
          <p:cNvPr id="19" name="Shape 17"/>
          <p:cNvSpPr/>
          <p:nvPr/>
        </p:nvSpPr>
        <p:spPr>
          <a:xfrm>
            <a:off x="5067300" y="4088947"/>
            <a:ext cx="4000500" cy="1692388"/>
          </a:xfrm>
          <a:prstGeom prst="rect">
            <a:avLst/>
          </a:prstGeom>
          <a:solidFill>
            <a:srgbClr val="FFFFFF"/>
          </a:solidFill>
          <a:ln/>
        </p:spPr>
      </p:sp>
      <p:sp>
        <p:nvSpPr>
          <p:cNvPr id="20" name="Shape 18"/>
          <p:cNvSpPr/>
          <p:nvPr/>
        </p:nvSpPr>
        <p:spPr>
          <a:xfrm>
            <a:off x="5067300" y="5770449"/>
            <a:ext cx="4000500" cy="10886"/>
          </a:xfrm>
          <a:prstGeom prst="rect">
            <a:avLst/>
          </a:prstGeom>
          <a:solidFill>
            <a:srgbClr val="E0E0E0"/>
          </a:solidFill>
          <a:ln/>
        </p:spPr>
      </p:sp>
      <p:sp>
        <p:nvSpPr>
          <p:cNvPr id="21" name="Shape 19"/>
          <p:cNvSpPr/>
          <p:nvPr/>
        </p:nvSpPr>
        <p:spPr>
          <a:xfrm>
            <a:off x="5067300" y="4088947"/>
            <a:ext cx="4000500" cy="21771"/>
          </a:xfrm>
          <a:prstGeom prst="rect">
            <a:avLst/>
          </a:prstGeom>
          <a:solidFill>
            <a:srgbClr val="0F62FE"/>
          </a:solidFill>
          <a:ln/>
        </p:spPr>
      </p:sp>
      <p:sp>
        <p:nvSpPr>
          <p:cNvPr id="22" name="Shape 20"/>
          <p:cNvSpPr/>
          <p:nvPr/>
        </p:nvSpPr>
        <p:spPr>
          <a:xfrm>
            <a:off x="5067300" y="4088947"/>
            <a:ext cx="10886" cy="1692388"/>
          </a:xfrm>
          <a:prstGeom prst="rect">
            <a:avLst/>
          </a:prstGeom>
          <a:solidFill>
            <a:srgbClr val="E0E0E0"/>
          </a:solidFill>
          <a:ln/>
        </p:spPr>
      </p:sp>
      <p:sp>
        <p:nvSpPr>
          <p:cNvPr id="23" name="Shape 21"/>
          <p:cNvSpPr/>
          <p:nvPr/>
        </p:nvSpPr>
        <p:spPr>
          <a:xfrm>
            <a:off x="9056915" y="4088947"/>
            <a:ext cx="10886" cy="1692388"/>
          </a:xfrm>
          <a:prstGeom prst="rect">
            <a:avLst/>
          </a:prstGeom>
          <a:solidFill>
            <a:srgbClr val="E0E0E0"/>
          </a:solidFill>
          <a:ln/>
        </p:spPr>
      </p:sp>
      <p:sp>
        <p:nvSpPr>
          <p:cNvPr id="24" name="Text 22"/>
          <p:cNvSpPr/>
          <p:nvPr/>
        </p:nvSpPr>
        <p:spPr>
          <a:xfrm>
            <a:off x="5344886" y="4377418"/>
            <a:ext cx="3548689" cy="316706"/>
          </a:xfrm>
          <a:prstGeom prst="rect">
            <a:avLst/>
          </a:prstGeom>
          <a:noFill/>
          <a:ln/>
        </p:spPr>
        <p:txBody>
          <a:bodyPr wrap="square" lIns="25400" tIns="25400" rIns="25400" bIns="25400" rtlCol="0" anchor="t">
            <a:normAutofit/>
          </a:bodyPr>
          <a:lstStyle/>
          <a:p>
            <a:pPr algn="l" indent="0" marL="0">
              <a:lnSpc>
                <a:spcPct val="133000"/>
              </a:lnSpc>
              <a:buNone/>
            </a:pPr>
            <a:r>
              <a:rPr lang="en-US" sz="1650" b="1" dirty="0">
                <a:solidFill>
                  <a:srgbClr val="161616"/>
                </a:solidFill>
                <a:latin typeface="Arial" pitchFamily="34" charset="0"/>
                <a:ea typeface="Arial" pitchFamily="34" charset="-122"/>
                <a:cs typeface="Arial" pitchFamily="34" charset="-120"/>
              </a:rPr>
              <a:t>First Production</a:t>
            </a:r>
            <a:endParaRPr lang="en-US" sz="1650" dirty="0"/>
          </a:p>
        </p:txBody>
      </p:sp>
      <p:sp>
        <p:nvSpPr>
          <p:cNvPr id="25" name="Text 23"/>
          <p:cNvSpPr/>
          <p:nvPr/>
        </p:nvSpPr>
        <p:spPr>
          <a:xfrm>
            <a:off x="5243286" y="4789374"/>
            <a:ext cx="3623129" cy="752475"/>
          </a:xfrm>
          <a:prstGeom prst="rect">
            <a:avLst/>
          </a:prstGeom>
          <a:noFill/>
          <a:ln/>
        </p:spPr>
        <p:txBody>
          <a:bodyPr wrap="square" lIns="25400" tIns="25400" rIns="25400" bIns="25400" rtlCol="0" anchor="t">
            <a:normAutofit/>
          </a:bodyPr>
          <a:lstStyle/>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Build the chosen bounded context</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Ship to production</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Run alongside existing systems</a:t>
            </a:r>
            <a:endParaRPr lang="en-US" sz="1125" dirty="0"/>
          </a:p>
        </p:txBody>
      </p:sp>
      <p:sp>
        <p:nvSpPr>
          <p:cNvPr id="26" name="Text 24"/>
          <p:cNvSpPr/>
          <p:nvPr/>
        </p:nvSpPr>
        <p:spPr>
          <a:xfrm>
            <a:off x="10824143" y="3269797"/>
            <a:ext cx="868816"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MONTH 7–12</a:t>
            </a:r>
            <a:endParaRPr lang="en-US" sz="975" dirty="0"/>
          </a:p>
        </p:txBody>
      </p:sp>
      <p:sp>
        <p:nvSpPr>
          <p:cNvPr id="27" name="Shape 25"/>
          <p:cNvSpPr/>
          <p:nvPr/>
        </p:nvSpPr>
        <p:spPr>
          <a:xfrm>
            <a:off x="11092544" y="3566432"/>
            <a:ext cx="255814" cy="255814"/>
          </a:xfrm>
          <a:prstGeom prst="ellipse">
            <a:avLst/>
          </a:prstGeom>
          <a:solidFill>
            <a:srgbClr val="FFFFFF"/>
          </a:solidFill>
          <a:ln w="32657">
            <a:solidFill>
              <a:srgbClr val="FFFFFF"/>
            </a:solidFill>
            <a:prstDash val="solid"/>
          </a:ln>
          <a:effectLst>
            <a:outerShdw sx="100000" sy="100000" kx="0" ky="0" algn="bl" rotWithShape="0" blurRad="101600" dist="50800" dir="16200000">
              <a:srgbClr val="C6C6C6">
                <a:alpha val="100000"/>
              </a:srgbClr>
            </a:outerShdw>
          </a:effectLst>
        </p:spPr>
      </p:sp>
      <p:sp>
        <p:nvSpPr>
          <p:cNvPr id="28" name="Shape 26"/>
          <p:cNvSpPr/>
          <p:nvPr/>
        </p:nvSpPr>
        <p:spPr>
          <a:xfrm>
            <a:off x="9220201" y="4088947"/>
            <a:ext cx="4000500" cy="1692388"/>
          </a:xfrm>
          <a:prstGeom prst="rect">
            <a:avLst/>
          </a:prstGeom>
          <a:solidFill>
            <a:srgbClr val="F4F4F4"/>
          </a:solidFill>
          <a:ln/>
        </p:spPr>
      </p:sp>
      <p:sp>
        <p:nvSpPr>
          <p:cNvPr id="29" name="Shape 27"/>
          <p:cNvSpPr/>
          <p:nvPr/>
        </p:nvSpPr>
        <p:spPr>
          <a:xfrm>
            <a:off x="9220201" y="5770449"/>
            <a:ext cx="4000500" cy="10886"/>
          </a:xfrm>
          <a:prstGeom prst="rect">
            <a:avLst/>
          </a:prstGeom>
          <a:solidFill>
            <a:srgbClr val="E0E0E0"/>
          </a:solidFill>
          <a:ln/>
        </p:spPr>
      </p:sp>
      <p:sp>
        <p:nvSpPr>
          <p:cNvPr id="30" name="Shape 28"/>
          <p:cNvSpPr/>
          <p:nvPr/>
        </p:nvSpPr>
        <p:spPr>
          <a:xfrm>
            <a:off x="9220201" y="4088947"/>
            <a:ext cx="4000500" cy="21771"/>
          </a:xfrm>
          <a:prstGeom prst="rect">
            <a:avLst/>
          </a:prstGeom>
          <a:solidFill>
            <a:srgbClr val="6F6F6F"/>
          </a:solidFill>
          <a:ln/>
        </p:spPr>
      </p:sp>
      <p:sp>
        <p:nvSpPr>
          <p:cNvPr id="31" name="Shape 29"/>
          <p:cNvSpPr/>
          <p:nvPr/>
        </p:nvSpPr>
        <p:spPr>
          <a:xfrm>
            <a:off x="9220201" y="4088947"/>
            <a:ext cx="10886" cy="1692388"/>
          </a:xfrm>
          <a:prstGeom prst="rect">
            <a:avLst/>
          </a:prstGeom>
          <a:solidFill>
            <a:srgbClr val="E0E0E0"/>
          </a:solidFill>
          <a:ln/>
        </p:spPr>
      </p:sp>
      <p:sp>
        <p:nvSpPr>
          <p:cNvPr id="32" name="Shape 30"/>
          <p:cNvSpPr/>
          <p:nvPr/>
        </p:nvSpPr>
        <p:spPr>
          <a:xfrm>
            <a:off x="13209815" y="4088947"/>
            <a:ext cx="10886" cy="1692388"/>
          </a:xfrm>
          <a:prstGeom prst="rect">
            <a:avLst/>
          </a:prstGeom>
          <a:solidFill>
            <a:srgbClr val="E0E0E0"/>
          </a:solidFill>
          <a:ln/>
        </p:spPr>
      </p:sp>
      <p:sp>
        <p:nvSpPr>
          <p:cNvPr id="33" name="Text 31"/>
          <p:cNvSpPr/>
          <p:nvPr/>
        </p:nvSpPr>
        <p:spPr>
          <a:xfrm>
            <a:off x="9497786" y="4377418"/>
            <a:ext cx="3548689" cy="316706"/>
          </a:xfrm>
          <a:prstGeom prst="rect">
            <a:avLst/>
          </a:prstGeom>
          <a:noFill/>
          <a:ln/>
        </p:spPr>
        <p:txBody>
          <a:bodyPr wrap="square" lIns="25400" tIns="25400" rIns="25400" bIns="25400" rtlCol="0" anchor="t">
            <a:normAutofit/>
          </a:bodyPr>
          <a:lstStyle/>
          <a:p>
            <a:pPr algn="l" indent="0" marL="0">
              <a:lnSpc>
                <a:spcPct val="133000"/>
              </a:lnSpc>
              <a:buNone/>
            </a:pPr>
            <a:r>
              <a:rPr lang="en-US" sz="1650" b="1" dirty="0">
                <a:solidFill>
                  <a:srgbClr val="161616"/>
                </a:solidFill>
                <a:latin typeface="Arial" pitchFamily="34" charset="0"/>
                <a:ea typeface="Arial" pitchFamily="34" charset="-122"/>
                <a:cs typeface="Arial" pitchFamily="34" charset="-120"/>
              </a:rPr>
              <a:t>Evaluate &amp; Expand</a:t>
            </a:r>
            <a:endParaRPr lang="en-US" sz="1650" dirty="0"/>
          </a:p>
        </p:txBody>
      </p:sp>
      <p:sp>
        <p:nvSpPr>
          <p:cNvPr id="34" name="Text 32"/>
          <p:cNvSpPr/>
          <p:nvPr/>
        </p:nvSpPr>
        <p:spPr>
          <a:xfrm>
            <a:off x="9396186" y="4789374"/>
            <a:ext cx="3623129" cy="752475"/>
          </a:xfrm>
          <a:prstGeom prst="rect">
            <a:avLst/>
          </a:prstGeom>
          <a:noFill/>
          <a:ln/>
        </p:spPr>
        <p:txBody>
          <a:bodyPr wrap="square" lIns="25400" tIns="25400" rIns="25400" bIns="25400" rtlCol="0" anchor="t">
            <a:normAutofit/>
          </a:bodyPr>
          <a:lstStyle/>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Measure value vs. cost, honestly</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Decide: expand or stop?</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Add a second context if value is proven</a:t>
            </a:r>
            <a:endParaRPr lang="en-US" sz="1125" dirty="0"/>
          </a:p>
        </p:txBody>
      </p:sp>
      <p:sp>
        <p:nvSpPr>
          <p:cNvPr id="35" name="Text 33"/>
          <p:cNvSpPr/>
          <p:nvPr/>
        </p:nvSpPr>
        <p:spPr>
          <a:xfrm>
            <a:off x="15016673" y="3269797"/>
            <a:ext cx="789554"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MONTH 13+</a:t>
            </a:r>
            <a:endParaRPr lang="en-US" sz="975" dirty="0"/>
          </a:p>
        </p:txBody>
      </p:sp>
      <p:sp>
        <p:nvSpPr>
          <p:cNvPr id="36" name="Shape 34"/>
          <p:cNvSpPr/>
          <p:nvPr/>
        </p:nvSpPr>
        <p:spPr>
          <a:xfrm>
            <a:off x="15245444" y="3566432"/>
            <a:ext cx="255814" cy="255814"/>
          </a:xfrm>
          <a:prstGeom prst="ellipse">
            <a:avLst/>
          </a:prstGeom>
          <a:solidFill>
            <a:srgbClr val="FFFFFF"/>
          </a:solidFill>
          <a:ln w="32657">
            <a:solidFill>
              <a:srgbClr val="FFFFFF"/>
            </a:solidFill>
            <a:prstDash val="solid"/>
          </a:ln>
          <a:effectLst>
            <a:outerShdw sx="100000" sy="100000" kx="0" ky="0" algn="bl" rotWithShape="0" blurRad="101600" dist="50800" dir="16200000">
              <a:srgbClr val="C6C6C6">
                <a:alpha val="100000"/>
              </a:srgbClr>
            </a:outerShdw>
          </a:effectLst>
        </p:spPr>
      </p:sp>
      <p:sp>
        <p:nvSpPr>
          <p:cNvPr id="37" name="Shape 35"/>
          <p:cNvSpPr/>
          <p:nvPr/>
        </p:nvSpPr>
        <p:spPr>
          <a:xfrm>
            <a:off x="13373101" y="4088947"/>
            <a:ext cx="4000500" cy="1692388"/>
          </a:xfrm>
          <a:prstGeom prst="rect">
            <a:avLst/>
          </a:prstGeom>
          <a:solidFill>
            <a:srgbClr val="F4F4F4"/>
          </a:solidFill>
          <a:ln/>
        </p:spPr>
      </p:sp>
      <p:sp>
        <p:nvSpPr>
          <p:cNvPr id="38" name="Shape 36"/>
          <p:cNvSpPr/>
          <p:nvPr/>
        </p:nvSpPr>
        <p:spPr>
          <a:xfrm>
            <a:off x="13373101" y="5770449"/>
            <a:ext cx="4000500" cy="10886"/>
          </a:xfrm>
          <a:prstGeom prst="rect">
            <a:avLst/>
          </a:prstGeom>
          <a:solidFill>
            <a:srgbClr val="E0E0E0"/>
          </a:solidFill>
          <a:ln/>
        </p:spPr>
      </p:sp>
      <p:sp>
        <p:nvSpPr>
          <p:cNvPr id="39" name="Shape 37"/>
          <p:cNvSpPr/>
          <p:nvPr/>
        </p:nvSpPr>
        <p:spPr>
          <a:xfrm>
            <a:off x="13373101" y="4088947"/>
            <a:ext cx="4000500" cy="21771"/>
          </a:xfrm>
          <a:prstGeom prst="rect">
            <a:avLst/>
          </a:prstGeom>
          <a:solidFill>
            <a:srgbClr val="6F6F6F"/>
          </a:solidFill>
          <a:ln/>
        </p:spPr>
      </p:sp>
      <p:sp>
        <p:nvSpPr>
          <p:cNvPr id="40" name="Shape 38"/>
          <p:cNvSpPr/>
          <p:nvPr/>
        </p:nvSpPr>
        <p:spPr>
          <a:xfrm>
            <a:off x="13373101" y="4088947"/>
            <a:ext cx="10886" cy="1692388"/>
          </a:xfrm>
          <a:prstGeom prst="rect">
            <a:avLst/>
          </a:prstGeom>
          <a:solidFill>
            <a:srgbClr val="E0E0E0"/>
          </a:solidFill>
          <a:ln/>
        </p:spPr>
      </p:sp>
      <p:sp>
        <p:nvSpPr>
          <p:cNvPr id="41" name="Shape 39"/>
          <p:cNvSpPr/>
          <p:nvPr/>
        </p:nvSpPr>
        <p:spPr>
          <a:xfrm>
            <a:off x="17362716" y="4088947"/>
            <a:ext cx="10886" cy="1692388"/>
          </a:xfrm>
          <a:prstGeom prst="rect">
            <a:avLst/>
          </a:prstGeom>
          <a:solidFill>
            <a:srgbClr val="E0E0E0"/>
          </a:solidFill>
          <a:ln/>
        </p:spPr>
      </p:sp>
      <p:sp>
        <p:nvSpPr>
          <p:cNvPr id="42" name="Text 40"/>
          <p:cNvSpPr/>
          <p:nvPr/>
        </p:nvSpPr>
        <p:spPr>
          <a:xfrm>
            <a:off x="13650687" y="4377418"/>
            <a:ext cx="3548689" cy="316706"/>
          </a:xfrm>
          <a:prstGeom prst="rect">
            <a:avLst/>
          </a:prstGeom>
          <a:noFill/>
          <a:ln/>
        </p:spPr>
        <p:txBody>
          <a:bodyPr wrap="square" lIns="25400" tIns="25400" rIns="25400" bIns="25400" rtlCol="0" anchor="t">
            <a:normAutofit/>
          </a:bodyPr>
          <a:lstStyle/>
          <a:p>
            <a:pPr algn="l" indent="0" marL="0">
              <a:lnSpc>
                <a:spcPct val="133000"/>
              </a:lnSpc>
              <a:buNone/>
            </a:pPr>
            <a:r>
              <a:rPr lang="en-US" sz="1650" b="1" dirty="0">
                <a:solidFill>
                  <a:srgbClr val="161616"/>
                </a:solidFill>
                <a:latin typeface="Arial" pitchFamily="34" charset="0"/>
                <a:ea typeface="Arial" pitchFamily="34" charset="-122"/>
                <a:cs typeface="Arial" pitchFamily="34" charset="-120"/>
              </a:rPr>
              <a:t>Steady Adoption</a:t>
            </a:r>
            <a:endParaRPr lang="en-US" sz="1650" dirty="0"/>
          </a:p>
        </p:txBody>
      </p:sp>
      <p:sp>
        <p:nvSpPr>
          <p:cNvPr id="43" name="Text 41"/>
          <p:cNvSpPr/>
          <p:nvPr/>
        </p:nvSpPr>
        <p:spPr>
          <a:xfrm>
            <a:off x="13549087" y="4789374"/>
            <a:ext cx="3623129" cy="752475"/>
          </a:xfrm>
          <a:prstGeom prst="rect">
            <a:avLst/>
          </a:prstGeom>
          <a:noFill/>
          <a:ln/>
        </p:spPr>
        <p:txBody>
          <a:bodyPr wrap="square" lIns="25400" tIns="25400" rIns="25400" bIns="25400" rtlCol="0" anchor="t">
            <a:normAutofit/>
          </a:bodyPr>
          <a:lstStyle/>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One context per quarter</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Old systems shrink naturally</a:t>
            </a:r>
            <a:endParaRPr lang="en-US" sz="1125" dirty="0"/>
          </a:p>
          <a:p>
            <a:pPr algn="l" indent="0" marL="0">
              <a:lnSpc>
                <a:spcPct val="140000"/>
              </a:lnSpc>
              <a:buNone/>
            </a:pPr>
            <a:r>
              <a:rPr lang="en-US" sz="1125" dirty="0">
                <a:solidFill>
                  <a:srgbClr val="393939"/>
                </a:solidFill>
                <a:latin typeface="Arial" pitchFamily="34" charset="0"/>
                <a:ea typeface="Arial" pitchFamily="34" charset="-122"/>
                <a:cs typeface="Arial" pitchFamily="34" charset="-120"/>
              </a:rPr>
              <a:t>No "switchover day"</a:t>
            </a:r>
            <a:endParaRPr lang="en-US" sz="1125" dirty="0"/>
          </a:p>
        </p:txBody>
      </p:sp>
      <p:sp>
        <p:nvSpPr>
          <p:cNvPr id="44" name="Shape 42"/>
          <p:cNvSpPr/>
          <p:nvPr/>
        </p:nvSpPr>
        <p:spPr>
          <a:xfrm>
            <a:off x="914400" y="6514760"/>
            <a:ext cx="16459201" cy="1306286"/>
          </a:xfrm>
          <a:prstGeom prst="rect">
            <a:avLst/>
          </a:prstGeom>
          <a:solidFill>
            <a:srgbClr val="F4F4F4"/>
          </a:solidFill>
          <a:ln/>
        </p:spPr>
      </p:sp>
      <p:sp>
        <p:nvSpPr>
          <p:cNvPr id="45" name="Shape 43"/>
          <p:cNvSpPr/>
          <p:nvPr/>
        </p:nvSpPr>
        <p:spPr>
          <a:xfrm>
            <a:off x="914400" y="6514760"/>
            <a:ext cx="21771" cy="1306286"/>
          </a:xfrm>
          <a:prstGeom prst="rect">
            <a:avLst/>
          </a:prstGeom>
          <a:solidFill>
            <a:srgbClr val="0F62FE"/>
          </a:solidFill>
          <a:ln/>
        </p:spPr>
      </p:sp>
      <p:sp>
        <p:nvSpPr>
          <p:cNvPr id="46" name="Text 44"/>
          <p:cNvSpPr/>
          <p:nvPr/>
        </p:nvSpPr>
        <p:spPr>
          <a:xfrm>
            <a:off x="1279071" y="6781460"/>
            <a:ext cx="16224178"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0043CE"/>
                </a:solidFill>
                <a:latin typeface="Arial" pitchFamily="34" charset="0"/>
                <a:ea typeface="Arial" pitchFamily="34" charset="-122"/>
                <a:cs typeface="Arial" pitchFamily="34" charset="-120"/>
              </a:rPr>
              <a:t>EXIT RAMPS BUILT IN</a:t>
            </a:r>
            <a:endParaRPr lang="en-US" sz="975" dirty="0"/>
          </a:p>
        </p:txBody>
      </p:sp>
      <p:sp>
        <p:nvSpPr>
          <p:cNvPr id="47" name="Text 45"/>
          <p:cNvSpPr/>
          <p:nvPr/>
        </p:nvSpPr>
        <p:spPr>
          <a:xfrm>
            <a:off x="1279071" y="7039996"/>
            <a:ext cx="16224178"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393939"/>
                </a:solidFill>
                <a:latin typeface="Arial" pitchFamily="34" charset="0"/>
                <a:ea typeface="Arial" pitchFamily="34" charset="-122"/>
                <a:cs typeface="Arial" pitchFamily="34" charset="-120"/>
              </a:rPr>
              <a:t>After Month 6, we evaluate: did the first bounded context deliver the promised value? If yes, expand. If no, we stop with one new system and the lessons learned. </a:t>
            </a:r>
            <a:pPr algn="l" indent="0" marL="0">
              <a:lnSpc>
                <a:spcPct val="150000"/>
              </a:lnSpc>
              <a:buNone/>
            </a:pPr>
            <a:r>
              <a:rPr lang="en-US" sz="1350" b="1" dirty="0">
                <a:solidFill>
                  <a:srgbClr val="161616"/>
                </a:solidFill>
                <a:latin typeface="Arial" pitchFamily="34" charset="0"/>
                <a:ea typeface="Arial" pitchFamily="34" charset="-122"/>
                <a:cs typeface="Arial" pitchFamily="34" charset="-120"/>
              </a:rPr>
              <a:t>No commitment to the full migration is being asked for today.</a:t>
            </a:r>
            <a:endParaRPr lang="en-US" sz="1350" dirty="0"/>
          </a:p>
        </p:txBody>
      </p:sp>
      <p:sp>
        <p:nvSpPr>
          <p:cNvPr id="48" name="Text 46"/>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49" name="Shape 47"/>
          <p:cNvSpPr/>
          <p:nvPr/>
        </p:nvSpPr>
        <p:spPr>
          <a:xfrm>
            <a:off x="3003947" y="9729107"/>
            <a:ext cx="38100" cy="38100"/>
          </a:xfrm>
          <a:prstGeom prst="ellipse">
            <a:avLst/>
          </a:prstGeom>
          <a:solidFill>
            <a:srgbClr val="6F6F6F"/>
          </a:solidFill>
          <a:ln/>
        </p:spPr>
      </p:sp>
      <p:sp>
        <p:nvSpPr>
          <p:cNvPr id="50" name="Text 48"/>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51" name="Text 49"/>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12 / 13</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1" cy="57150"/>
          </a:xfrm>
          <a:prstGeom prst="rect">
            <a:avLst/>
          </a:prstGeom>
          <a:solidFill>
            <a:srgbClr val="0F62FE"/>
          </a:solidFill>
          <a:ln/>
        </p:spPr>
      </p:sp>
      <p:sp>
        <p:nvSpPr>
          <p:cNvPr id="3" name="Text 1"/>
          <p:cNvSpPr/>
          <p:nvPr/>
        </p:nvSpPr>
        <p:spPr>
          <a:xfrm>
            <a:off x="914400" y="914400"/>
            <a:ext cx="16952977" cy="201386"/>
          </a:xfrm>
          <a:prstGeom prst="rect">
            <a:avLst/>
          </a:prstGeom>
          <a:noFill/>
          <a:ln/>
        </p:spPr>
        <p:txBody>
          <a:bodyPr wrap="square" lIns="25400" tIns="25400" rIns="25400" bIns="25400" rtlCol="0" anchor="t">
            <a:normAutofit/>
          </a:bodyPr>
          <a:lstStyle/>
          <a:p>
            <a:pPr algn="l" indent="0" marL="0">
              <a:buNone/>
            </a:pPr>
            <a:r>
              <a:rPr lang="en-US" sz="975" spc="24" kern="0" dirty="0">
                <a:solidFill>
                  <a:srgbClr val="6F6F6F"/>
                </a:solidFill>
                <a:latin typeface="Arial" pitchFamily="34" charset="0"/>
                <a:ea typeface="Arial" pitchFamily="34" charset="-122"/>
                <a:cs typeface="Arial" pitchFamily="34" charset="-120"/>
              </a:rPr>
              <a:t>§ 06 · THE ASK</a:t>
            </a:r>
            <a:endParaRPr lang="en-US" sz="975" dirty="0"/>
          </a:p>
        </p:txBody>
      </p:sp>
      <p:sp>
        <p:nvSpPr>
          <p:cNvPr id="4" name="Text 2"/>
          <p:cNvSpPr/>
          <p:nvPr/>
        </p:nvSpPr>
        <p:spPr>
          <a:xfrm>
            <a:off x="914400" y="1268186"/>
            <a:ext cx="16952977" cy="778669"/>
          </a:xfrm>
          <a:prstGeom prst="rect">
            <a:avLst/>
          </a:prstGeom>
          <a:noFill/>
          <a:ln/>
        </p:spPr>
        <p:txBody>
          <a:bodyPr wrap="square" lIns="25400" tIns="25400" rIns="25400" bIns="25400" rtlCol="0" anchor="t">
            <a:normAutofit/>
          </a:bodyPr>
          <a:lstStyle/>
          <a:p>
            <a:pPr algn="l" indent="0" marL="0">
              <a:lnSpc>
                <a:spcPct val="108000"/>
              </a:lnSpc>
              <a:buNone/>
            </a:pPr>
            <a:r>
              <a:rPr lang="en-US" sz="5400" spc="-60" kern="0" dirty="0">
                <a:solidFill>
                  <a:srgbClr val="161616"/>
                </a:solidFill>
                <a:latin typeface="Arial" pitchFamily="34" charset="0"/>
                <a:ea typeface="Arial" pitchFamily="34" charset="-122"/>
                <a:cs typeface="Arial" pitchFamily="34" charset="-120"/>
              </a:rPr>
              <a:t>The decision.</a:t>
            </a:r>
            <a:endParaRPr lang="en-US" sz="5400" dirty="0"/>
          </a:p>
        </p:txBody>
      </p:sp>
      <p:sp>
        <p:nvSpPr>
          <p:cNvPr id="5" name="Text 3"/>
          <p:cNvSpPr/>
          <p:nvPr/>
        </p:nvSpPr>
        <p:spPr>
          <a:xfrm>
            <a:off x="914400" y="2199255"/>
            <a:ext cx="16952977" cy="346642"/>
          </a:xfrm>
          <a:prstGeom prst="rect">
            <a:avLst/>
          </a:prstGeom>
          <a:noFill/>
          <a:ln/>
        </p:spPr>
        <p:txBody>
          <a:bodyPr wrap="square" lIns="25400" tIns="25400" rIns="25400" bIns="25400" rtlCol="0" anchor="t">
            <a:normAutofit/>
          </a:bodyPr>
          <a:lstStyle/>
          <a:p>
            <a:pPr algn="l" indent="0" marL="0">
              <a:lnSpc>
                <a:spcPct val="135000"/>
              </a:lnSpc>
              <a:buNone/>
            </a:pPr>
            <a:r>
              <a:rPr lang="en-US" sz="1800" i="1" dirty="0">
                <a:solidFill>
                  <a:srgbClr val="6F6F6F"/>
                </a:solidFill>
                <a:latin typeface="Arial" pitchFamily="34" charset="0"/>
                <a:ea typeface="Arial" pitchFamily="34" charset="-122"/>
                <a:cs typeface="Arial" pitchFamily="34" charset="-120"/>
              </a:rPr>
              <a:t xml:space="preserve">Name the smallest approval that unblocks the next step. </a:t>
            </a:r>
            <a:pPr algn="l" indent="0" marL="0">
              <a:lnSpc>
                <a:spcPct val="135000"/>
              </a:lnSpc>
              <a:buNone/>
            </a:pPr>
            <a:r>
              <a:rPr lang="en-US" sz="1800" b="1" dirty="0">
                <a:solidFill>
                  <a:srgbClr val="0F62FE"/>
                </a:solidFill>
                <a:latin typeface="Arial" pitchFamily="34" charset="0"/>
                <a:ea typeface="Arial" pitchFamily="34" charset="-122"/>
                <a:cs typeface="Arial" pitchFamily="34" charset="-120"/>
              </a:rPr>
              <a:t>Do not ask for the migration.</a:t>
            </a:r>
            <a:pPr algn="l" indent="0" marL="0">
              <a:lnSpc>
                <a:spcPct val="135000"/>
              </a:lnSpc>
              <a:buNone/>
            </a:pPr>
            <a:r>
              <a:rPr lang="en-US" sz="1800" i="1" dirty="0">
                <a:solidFill>
                  <a:srgbClr val="6F6F6F"/>
                </a:solidFill>
                <a:latin typeface="Arial" pitchFamily="34" charset="0"/>
                <a:ea typeface="Arial" pitchFamily="34" charset="-122"/>
                <a:cs typeface="Arial" pitchFamily="34" charset="-120"/>
              </a:rPr>
              <a:t/>
            </a:r>
            <a:endParaRPr lang="en-US" sz="1800" dirty="0"/>
          </a:p>
        </p:txBody>
      </p:sp>
      <p:sp>
        <p:nvSpPr>
          <p:cNvPr id="6" name="Shape 4"/>
          <p:cNvSpPr/>
          <p:nvPr/>
        </p:nvSpPr>
        <p:spPr>
          <a:xfrm>
            <a:off x="914400" y="3041197"/>
            <a:ext cx="16459201" cy="1274989"/>
          </a:xfrm>
          <a:prstGeom prst="rect">
            <a:avLst/>
          </a:prstGeom>
          <a:solidFill>
            <a:srgbClr val="FFFFFF"/>
          </a:solidFill>
          <a:ln w="10886">
            <a:solidFill>
              <a:srgbClr val="E0E0E0"/>
            </a:solidFill>
            <a:prstDash val="solid"/>
          </a:ln>
        </p:spPr>
      </p:sp>
      <p:sp>
        <p:nvSpPr>
          <p:cNvPr id="7" name="Shape 5"/>
          <p:cNvSpPr/>
          <p:nvPr/>
        </p:nvSpPr>
        <p:spPr>
          <a:xfrm>
            <a:off x="1306286" y="3401105"/>
            <a:ext cx="555171" cy="555171"/>
          </a:xfrm>
          <a:prstGeom prst="rect">
            <a:avLst/>
          </a:prstGeom>
          <a:solidFill>
            <a:srgbClr val="FFFFFF"/>
          </a:solidFill>
          <a:ln w="10886">
            <a:solidFill>
              <a:srgbClr val="0F62FE"/>
            </a:solidFill>
            <a:prstDash val="solid"/>
          </a:ln>
        </p:spPr>
      </p:sp>
      <p:sp>
        <p:nvSpPr>
          <p:cNvPr id="8" name="Text 6"/>
          <p:cNvSpPr/>
          <p:nvPr/>
        </p:nvSpPr>
        <p:spPr>
          <a:xfrm>
            <a:off x="2373086" y="3356882"/>
            <a:ext cx="13508527" cy="367393"/>
          </a:xfrm>
          <a:prstGeom prst="rect">
            <a:avLst/>
          </a:prstGeom>
          <a:noFill/>
          <a:ln/>
        </p:spPr>
        <p:txBody>
          <a:bodyPr wrap="square" lIns="25400" tIns="25400" rIns="25400" bIns="25400" rtlCol="0" anchor="t">
            <a:normAutofit/>
          </a:bodyPr>
          <a:lstStyle/>
          <a:p>
            <a:pPr algn="l" indent="0" marL="0">
              <a:lnSpc>
                <a:spcPct val="133000"/>
              </a:lnSpc>
              <a:buNone/>
            </a:pPr>
            <a:r>
              <a:rPr lang="en-US" sz="1950" b="1" dirty="0">
                <a:solidFill>
                  <a:srgbClr val="161616"/>
                </a:solidFill>
                <a:latin typeface="Arial" pitchFamily="34" charset="0"/>
                <a:ea typeface="Arial" pitchFamily="34" charset="-122"/>
                <a:cs typeface="Arial" pitchFamily="34" charset="-120"/>
              </a:rPr>
              <a:t>Approve the discovery quarter</a:t>
            </a:r>
            <a:endParaRPr lang="en-US" sz="1950" dirty="0"/>
          </a:p>
        </p:txBody>
      </p:sp>
      <p:sp>
        <p:nvSpPr>
          <p:cNvPr id="9" name="Text 7"/>
          <p:cNvSpPr/>
          <p:nvPr/>
        </p:nvSpPr>
        <p:spPr>
          <a:xfrm>
            <a:off x="2373086" y="3743325"/>
            <a:ext cx="1350852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25252"/>
                </a:solidFill>
                <a:latin typeface="Arial" pitchFamily="34" charset="0"/>
                <a:ea typeface="Arial" pitchFamily="34" charset="-122"/>
                <a:cs typeface="Arial" pitchFamily="34" charset="-120"/>
              </a:rPr>
              <a:t>One bounded context, event-stormed, with a named pilot team. The cheapest thing that produces real evidence.</a:t>
            </a:r>
            <a:endParaRPr lang="en-US" sz="1350" dirty="0"/>
          </a:p>
        </p:txBody>
      </p:sp>
      <p:sp>
        <p:nvSpPr>
          <p:cNvPr id="10" name="Text 8"/>
          <p:cNvSpPr/>
          <p:nvPr/>
        </p:nvSpPr>
        <p:spPr>
          <a:xfrm>
            <a:off x="15716760" y="3597048"/>
            <a:ext cx="1264954" cy="201386"/>
          </a:xfrm>
          <a:prstGeom prst="rect">
            <a:avLst/>
          </a:prstGeom>
          <a:noFill/>
          <a:ln/>
        </p:spPr>
        <p:txBody>
          <a:bodyPr wrap="square" lIns="25400" tIns="25400" rIns="25400" bIns="25400" rtlCol="0" anchor="t">
            <a:normAutofit/>
          </a:bodyPr>
          <a:lstStyle/>
          <a:p>
            <a:pPr algn="r" indent="0" marL="0">
              <a:buNone/>
            </a:pPr>
            <a:r>
              <a:rPr lang="en-US" sz="975" spc="24" kern="0" dirty="0">
                <a:solidFill>
                  <a:srgbClr val="6F6F6F"/>
                </a:solidFill>
                <a:latin typeface="Arial" pitchFamily="34" charset="0"/>
                <a:ea typeface="Arial" pitchFamily="34" charset="-122"/>
                <a:cs typeface="Arial" pitchFamily="34" charset="-120"/>
              </a:rPr>
              <a:t>APPROVAL 1 OF 3</a:t>
            </a:r>
            <a:endParaRPr lang="en-US" sz="975" dirty="0"/>
          </a:p>
        </p:txBody>
      </p:sp>
      <p:sp>
        <p:nvSpPr>
          <p:cNvPr id="11" name="Shape 9"/>
          <p:cNvSpPr/>
          <p:nvPr/>
        </p:nvSpPr>
        <p:spPr>
          <a:xfrm>
            <a:off x="914400" y="4506686"/>
            <a:ext cx="16459201" cy="1274989"/>
          </a:xfrm>
          <a:prstGeom prst="rect">
            <a:avLst/>
          </a:prstGeom>
          <a:solidFill>
            <a:srgbClr val="FFFFFF"/>
          </a:solidFill>
          <a:ln w="10886">
            <a:solidFill>
              <a:srgbClr val="E0E0E0"/>
            </a:solidFill>
            <a:prstDash val="solid"/>
          </a:ln>
        </p:spPr>
      </p:sp>
      <p:sp>
        <p:nvSpPr>
          <p:cNvPr id="12" name="Shape 10"/>
          <p:cNvSpPr/>
          <p:nvPr/>
        </p:nvSpPr>
        <p:spPr>
          <a:xfrm>
            <a:off x="1306286" y="4866595"/>
            <a:ext cx="555171" cy="555171"/>
          </a:xfrm>
          <a:prstGeom prst="rect">
            <a:avLst/>
          </a:prstGeom>
          <a:solidFill>
            <a:srgbClr val="FFFFFF"/>
          </a:solidFill>
          <a:ln w="10886">
            <a:solidFill>
              <a:srgbClr val="0F62FE"/>
            </a:solidFill>
            <a:prstDash val="solid"/>
          </a:ln>
        </p:spPr>
      </p:sp>
      <p:sp>
        <p:nvSpPr>
          <p:cNvPr id="13" name="Text 11"/>
          <p:cNvSpPr/>
          <p:nvPr/>
        </p:nvSpPr>
        <p:spPr>
          <a:xfrm>
            <a:off x="2373086" y="4822372"/>
            <a:ext cx="13508527" cy="367393"/>
          </a:xfrm>
          <a:prstGeom prst="rect">
            <a:avLst/>
          </a:prstGeom>
          <a:noFill/>
          <a:ln/>
        </p:spPr>
        <p:txBody>
          <a:bodyPr wrap="square" lIns="25400" tIns="25400" rIns="25400" bIns="25400" rtlCol="0" anchor="t">
            <a:normAutofit/>
          </a:bodyPr>
          <a:lstStyle/>
          <a:p>
            <a:pPr algn="l" indent="0" marL="0">
              <a:lnSpc>
                <a:spcPct val="133000"/>
              </a:lnSpc>
              <a:buNone/>
            </a:pPr>
            <a:r>
              <a:rPr lang="en-US" sz="1950" b="1" dirty="0">
                <a:solidFill>
                  <a:srgbClr val="161616"/>
                </a:solidFill>
                <a:latin typeface="Arial" pitchFamily="34" charset="0"/>
                <a:ea typeface="Arial" pitchFamily="34" charset="-122"/>
                <a:cs typeface="Arial" pitchFamily="34" charset="-120"/>
              </a:rPr>
              <a:t>Fund the training</a:t>
            </a:r>
            <a:endParaRPr lang="en-US" sz="1950" dirty="0"/>
          </a:p>
        </p:txBody>
      </p:sp>
      <p:sp>
        <p:nvSpPr>
          <p:cNvPr id="14" name="Text 12"/>
          <p:cNvSpPr/>
          <p:nvPr/>
        </p:nvSpPr>
        <p:spPr>
          <a:xfrm>
            <a:off x="2373086" y="5208815"/>
            <a:ext cx="1350852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25252"/>
                </a:solidFill>
                <a:latin typeface="Arial" pitchFamily="34" charset="0"/>
                <a:ea typeface="Arial" pitchFamily="34" charset="-122"/>
                <a:cs typeface="Arial" pitchFamily="34" charset="-120"/>
              </a:rPr>
              <a:t>Engineers who have not built an event-sourced system need it. This is the line that gets cut first and costs the most when it is.</a:t>
            </a:r>
            <a:endParaRPr lang="en-US" sz="1350" dirty="0"/>
          </a:p>
        </p:txBody>
      </p:sp>
      <p:sp>
        <p:nvSpPr>
          <p:cNvPr id="15" name="Text 13"/>
          <p:cNvSpPr/>
          <p:nvPr/>
        </p:nvSpPr>
        <p:spPr>
          <a:xfrm>
            <a:off x="15716760" y="5062538"/>
            <a:ext cx="1264954" cy="201386"/>
          </a:xfrm>
          <a:prstGeom prst="rect">
            <a:avLst/>
          </a:prstGeom>
          <a:noFill/>
          <a:ln/>
        </p:spPr>
        <p:txBody>
          <a:bodyPr wrap="square" lIns="25400" tIns="25400" rIns="25400" bIns="25400" rtlCol="0" anchor="t">
            <a:normAutofit/>
          </a:bodyPr>
          <a:lstStyle/>
          <a:p>
            <a:pPr algn="r" indent="0" marL="0">
              <a:buNone/>
            </a:pPr>
            <a:r>
              <a:rPr lang="en-US" sz="975" spc="24" kern="0" dirty="0">
                <a:solidFill>
                  <a:srgbClr val="6F6F6F"/>
                </a:solidFill>
                <a:latin typeface="Arial" pitchFamily="34" charset="0"/>
                <a:ea typeface="Arial" pitchFamily="34" charset="-122"/>
                <a:cs typeface="Arial" pitchFamily="34" charset="-120"/>
              </a:rPr>
              <a:t>APPROVAL 2 OF 3</a:t>
            </a:r>
            <a:endParaRPr lang="en-US" sz="975" dirty="0"/>
          </a:p>
        </p:txBody>
      </p:sp>
      <p:sp>
        <p:nvSpPr>
          <p:cNvPr id="16" name="Shape 14"/>
          <p:cNvSpPr/>
          <p:nvPr/>
        </p:nvSpPr>
        <p:spPr>
          <a:xfrm>
            <a:off x="914400" y="5972175"/>
            <a:ext cx="16459201" cy="1274989"/>
          </a:xfrm>
          <a:prstGeom prst="rect">
            <a:avLst/>
          </a:prstGeom>
          <a:solidFill>
            <a:srgbClr val="FFFFFF"/>
          </a:solidFill>
          <a:ln w="10886">
            <a:solidFill>
              <a:srgbClr val="E0E0E0"/>
            </a:solidFill>
            <a:prstDash val="solid"/>
          </a:ln>
        </p:spPr>
      </p:sp>
      <p:sp>
        <p:nvSpPr>
          <p:cNvPr id="17" name="Shape 15"/>
          <p:cNvSpPr/>
          <p:nvPr/>
        </p:nvSpPr>
        <p:spPr>
          <a:xfrm>
            <a:off x="1306286" y="6332084"/>
            <a:ext cx="555171" cy="555171"/>
          </a:xfrm>
          <a:prstGeom prst="rect">
            <a:avLst/>
          </a:prstGeom>
          <a:solidFill>
            <a:srgbClr val="FFFFFF"/>
          </a:solidFill>
          <a:ln w="10886">
            <a:solidFill>
              <a:srgbClr val="0F62FE"/>
            </a:solidFill>
            <a:prstDash val="solid"/>
          </a:ln>
        </p:spPr>
      </p:sp>
      <p:sp>
        <p:nvSpPr>
          <p:cNvPr id="18" name="Text 16"/>
          <p:cNvSpPr/>
          <p:nvPr/>
        </p:nvSpPr>
        <p:spPr>
          <a:xfrm>
            <a:off x="2373086" y="6287861"/>
            <a:ext cx="13508527" cy="367393"/>
          </a:xfrm>
          <a:prstGeom prst="rect">
            <a:avLst/>
          </a:prstGeom>
          <a:noFill/>
          <a:ln/>
        </p:spPr>
        <p:txBody>
          <a:bodyPr wrap="square" lIns="25400" tIns="25400" rIns="25400" bIns="25400" rtlCol="0" anchor="t">
            <a:normAutofit/>
          </a:bodyPr>
          <a:lstStyle/>
          <a:p>
            <a:pPr algn="l" indent="0" marL="0">
              <a:lnSpc>
                <a:spcPct val="133000"/>
              </a:lnSpc>
              <a:buNone/>
            </a:pPr>
            <a:r>
              <a:rPr lang="en-US" sz="1950" b="1" dirty="0">
                <a:solidFill>
                  <a:srgbClr val="161616"/>
                </a:solidFill>
                <a:latin typeface="Arial" pitchFamily="34" charset="0"/>
                <a:ea typeface="Arial" pitchFamily="34" charset="-122"/>
                <a:cs typeface="Arial" pitchFamily="34" charset="-120"/>
              </a:rPr>
              <a:t>Name the pilot context</a:t>
            </a:r>
            <a:endParaRPr lang="en-US" sz="1950" dirty="0"/>
          </a:p>
        </p:txBody>
      </p:sp>
      <p:sp>
        <p:nvSpPr>
          <p:cNvPr id="19" name="Text 17"/>
          <p:cNvSpPr/>
          <p:nvPr/>
        </p:nvSpPr>
        <p:spPr>
          <a:xfrm>
            <a:off x="2373086" y="6674304"/>
            <a:ext cx="1350852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525252"/>
                </a:solidFill>
                <a:latin typeface="Arial" pitchFamily="34" charset="0"/>
                <a:ea typeface="Arial" pitchFamily="34" charset="-122"/>
                <a:cs typeface="Arial" pitchFamily="34" charset="-120"/>
              </a:rPr>
              <a:t>Usually: </a:t>
            </a:r>
            <a:pPr algn="l" indent="0" marL="0">
              <a:lnSpc>
                <a:spcPct val="150000"/>
              </a:lnSpc>
              <a:buNone/>
            </a:pPr>
            <a:r>
              <a:rPr lang="en-US" sz="1350" b="1" dirty="0">
                <a:solidFill>
                  <a:srgbClr val="525252"/>
                </a:solidFill>
                <a:latin typeface="Arial" pitchFamily="34" charset="0"/>
                <a:ea typeface="Arial" pitchFamily="34" charset="-122"/>
                <a:cs typeface="Arial" pitchFamily="34" charset="-120"/>
              </a:rPr>
              <a:t>billing </a:t>
            </a:r>
            <a:pPr algn="l" indent="0" marL="0">
              <a:lnSpc>
                <a:spcPct val="150000"/>
              </a:lnSpc>
              <a:buNone/>
            </a:pPr>
            <a:r>
              <a:rPr lang="en-US" sz="1350" dirty="0">
                <a:solidFill>
                  <a:srgbClr val="525252"/>
                </a:solidFill>
                <a:latin typeface="Arial" pitchFamily="34" charset="0"/>
                <a:ea typeface="Arial" pitchFamily="34" charset="-122"/>
                <a:cs typeface="Arial" pitchFamily="34" charset="-120"/>
              </a:rPr>
              <a:t>or </a:t>
            </a:r>
            <a:pPr algn="l" indent="0" marL="0">
              <a:lnSpc>
                <a:spcPct val="150000"/>
              </a:lnSpc>
              <a:buNone/>
            </a:pPr>
            <a:r>
              <a:rPr lang="en-US" sz="1350" b="1" dirty="0">
                <a:solidFill>
                  <a:srgbClr val="525252"/>
                </a:solidFill>
                <a:latin typeface="Arial" pitchFamily="34" charset="0"/>
                <a:ea typeface="Arial" pitchFamily="34" charset="-122"/>
                <a:cs typeface="Arial" pitchFamily="34" charset="-120"/>
              </a:rPr>
              <a:t>audit. </a:t>
            </a:r>
            <a:pPr algn="l" indent="0" marL="0">
              <a:lnSpc>
                <a:spcPct val="150000"/>
              </a:lnSpc>
              <a:buNone/>
            </a:pPr>
            <a:r>
              <a:rPr lang="en-US" sz="1350" dirty="0">
                <a:solidFill>
                  <a:srgbClr val="525252"/>
                </a:solidFill>
                <a:latin typeface="Arial" pitchFamily="34" charset="0"/>
                <a:ea typeface="Arial" pitchFamily="34" charset="-122"/>
                <a:cs typeface="Arial" pitchFamily="34" charset="-120"/>
              </a:rPr>
              <a:t>Both carry a compliance argument that pays for itself even if you stop after one.</a:t>
            </a:r>
            <a:endParaRPr lang="en-US" sz="1350" dirty="0"/>
          </a:p>
        </p:txBody>
      </p:sp>
      <p:sp>
        <p:nvSpPr>
          <p:cNvPr id="20" name="Text 18"/>
          <p:cNvSpPr/>
          <p:nvPr/>
        </p:nvSpPr>
        <p:spPr>
          <a:xfrm>
            <a:off x="15716760" y="6528027"/>
            <a:ext cx="1264954" cy="201386"/>
          </a:xfrm>
          <a:prstGeom prst="rect">
            <a:avLst/>
          </a:prstGeom>
          <a:noFill/>
          <a:ln/>
        </p:spPr>
        <p:txBody>
          <a:bodyPr wrap="square" lIns="25400" tIns="25400" rIns="25400" bIns="25400" rtlCol="0" anchor="t">
            <a:normAutofit/>
          </a:bodyPr>
          <a:lstStyle/>
          <a:p>
            <a:pPr algn="r" indent="0" marL="0">
              <a:buNone/>
            </a:pPr>
            <a:r>
              <a:rPr lang="en-US" sz="975" spc="24" kern="0" dirty="0">
                <a:solidFill>
                  <a:srgbClr val="6F6F6F"/>
                </a:solidFill>
                <a:latin typeface="Arial" pitchFamily="34" charset="0"/>
                <a:ea typeface="Arial" pitchFamily="34" charset="-122"/>
                <a:cs typeface="Arial" pitchFamily="34" charset="-120"/>
              </a:rPr>
              <a:t>APPROVAL 3 OF 3</a:t>
            </a:r>
            <a:endParaRPr lang="en-US" sz="975" dirty="0"/>
          </a:p>
        </p:txBody>
      </p:sp>
      <p:sp>
        <p:nvSpPr>
          <p:cNvPr id="21" name="Shape 19"/>
          <p:cNvSpPr/>
          <p:nvPr/>
        </p:nvSpPr>
        <p:spPr>
          <a:xfrm>
            <a:off x="914400" y="7628165"/>
            <a:ext cx="16459201" cy="1508352"/>
          </a:xfrm>
          <a:prstGeom prst="rect">
            <a:avLst/>
          </a:prstGeom>
          <a:solidFill>
            <a:srgbClr val="161616"/>
          </a:solidFill>
          <a:ln/>
        </p:spPr>
      </p:sp>
      <p:sp>
        <p:nvSpPr>
          <p:cNvPr id="22" name="Text 20"/>
          <p:cNvSpPr/>
          <p:nvPr/>
        </p:nvSpPr>
        <p:spPr>
          <a:xfrm>
            <a:off x="1447800" y="8132309"/>
            <a:ext cx="11851386" cy="538163"/>
          </a:xfrm>
          <a:prstGeom prst="rect">
            <a:avLst/>
          </a:prstGeom>
          <a:noFill/>
          <a:ln/>
        </p:spPr>
        <p:txBody>
          <a:bodyPr wrap="square" lIns="25400" tIns="25400" rIns="25400" bIns="25400" rtlCol="0" anchor="t">
            <a:normAutofit/>
          </a:bodyPr>
          <a:lstStyle/>
          <a:p>
            <a:pPr algn="l" indent="0" marL="0">
              <a:lnSpc>
                <a:spcPct val="125000"/>
              </a:lnSpc>
              <a:buNone/>
            </a:pPr>
            <a:r>
              <a:rPr lang="en-US" sz="3150" spc="-30" kern="0" dirty="0">
                <a:solidFill>
                  <a:srgbClr val="FFFFFF"/>
                </a:solidFill>
                <a:latin typeface="Arial" pitchFamily="34" charset="0"/>
                <a:ea typeface="Arial" pitchFamily="34" charset="-122"/>
                <a:cs typeface="Arial" pitchFamily="34" charset="-120"/>
              </a:rPr>
              <a:t xml:space="preserve">Set a decision date </a:t>
            </a:r>
            <a:pPr algn="l" indent="0" marL="0">
              <a:lnSpc>
                <a:spcPct val="125000"/>
              </a:lnSpc>
              <a:buNone/>
            </a:pPr>
            <a:r>
              <a:rPr lang="en-US" sz="3150" b="1" spc="-30" kern="0" dirty="0">
                <a:solidFill>
                  <a:srgbClr val="78A9FF"/>
                </a:solidFill>
                <a:latin typeface="Arial" pitchFamily="34" charset="0"/>
                <a:ea typeface="Arial" pitchFamily="34" charset="-122"/>
                <a:cs typeface="Arial" pitchFamily="34" charset="-120"/>
              </a:rPr>
              <a:t>before you present.</a:t>
            </a:r>
            <a:endParaRPr lang="en-US" sz="3150" dirty="0"/>
          </a:p>
        </p:txBody>
      </p:sp>
      <p:sp>
        <p:nvSpPr>
          <p:cNvPr id="23" name="Text 21"/>
          <p:cNvSpPr/>
          <p:nvPr/>
        </p:nvSpPr>
        <p:spPr>
          <a:xfrm>
            <a:off x="13308331" y="8085365"/>
            <a:ext cx="3531870" cy="632052"/>
          </a:xfrm>
          <a:prstGeom prst="rect">
            <a:avLst/>
          </a:prstGeom>
          <a:noFill/>
          <a:ln/>
        </p:spPr>
        <p:txBody>
          <a:bodyPr wrap="square" lIns="25400" tIns="25400" rIns="25400" bIns="25400" rtlCol="0" anchor="t">
            <a:normAutofit/>
          </a:bodyPr>
          <a:lstStyle/>
          <a:p>
            <a:pPr algn="r" indent="0" marL="0">
              <a:lnSpc>
                <a:spcPct val="160000"/>
              </a:lnSpc>
              <a:buNone/>
            </a:pPr>
            <a:r>
              <a:rPr lang="en-US" sz="975" spc="24" kern="0" dirty="0">
                <a:solidFill>
                  <a:srgbClr val="C6C6C6"/>
                </a:solidFill>
                <a:latin typeface="Arial" pitchFamily="34" charset="0"/>
                <a:ea typeface="Arial" pitchFamily="34" charset="-122"/>
                <a:cs typeface="Arial" pitchFamily="34" charset="-120"/>
              </a:rPr>
              <a:t>AN ASK WITH NO DATE IS A DISCUSSION, AND A DISCUSSION IS HOW THIS GETS DEFERRED. KEEP THE MONTH-6 EXIT RAMP IN FRONT OF THEM.</a:t>
            </a:r>
            <a:endParaRPr lang="en-US" sz="975" dirty="0"/>
          </a:p>
        </p:txBody>
      </p:sp>
      <p:sp>
        <p:nvSpPr>
          <p:cNvPr id="24" name="Text 22"/>
          <p:cNvSpPr/>
          <p:nvPr/>
        </p:nvSpPr>
        <p:spPr>
          <a:xfrm>
            <a:off x="914400" y="9666515"/>
            <a:ext cx="1708547"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Event Sourcing &amp; CQRS</a:t>
            </a:r>
            <a:endParaRPr lang="en-US" sz="975" dirty="0"/>
          </a:p>
        </p:txBody>
      </p:sp>
      <p:sp>
        <p:nvSpPr>
          <p:cNvPr id="25" name="Shape 23"/>
          <p:cNvSpPr/>
          <p:nvPr/>
        </p:nvSpPr>
        <p:spPr>
          <a:xfrm>
            <a:off x="3003947" y="9729107"/>
            <a:ext cx="38100" cy="38100"/>
          </a:xfrm>
          <a:prstGeom prst="ellipse">
            <a:avLst/>
          </a:prstGeom>
          <a:solidFill>
            <a:srgbClr val="6F6F6F"/>
          </a:solidFill>
          <a:ln/>
        </p:spPr>
      </p:sp>
      <p:sp>
        <p:nvSpPr>
          <p:cNvPr id="26" name="Text 24"/>
          <p:cNvSpPr/>
          <p:nvPr/>
        </p:nvSpPr>
        <p:spPr>
          <a:xfrm>
            <a:off x="3499247" y="9666515"/>
            <a:ext cx="2330223"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Executive Briefing</a:t>
            </a:r>
            <a:endParaRPr lang="en-US" sz="975" dirty="0"/>
          </a:p>
        </p:txBody>
      </p:sp>
      <p:sp>
        <p:nvSpPr>
          <p:cNvPr id="27" name="Text 25"/>
          <p:cNvSpPr/>
          <p:nvPr/>
        </p:nvSpPr>
        <p:spPr>
          <a:xfrm>
            <a:off x="16829486" y="9666515"/>
            <a:ext cx="620316" cy="201386"/>
          </a:xfrm>
          <a:prstGeom prst="rect">
            <a:avLst/>
          </a:prstGeom>
          <a:noFill/>
          <a:ln/>
        </p:spPr>
        <p:txBody>
          <a:bodyPr wrap="square" lIns="25400" tIns="25400" rIns="25400" bIns="25400" rtlCol="0" anchor="t">
            <a:normAutofit/>
          </a:bodyPr>
          <a:lstStyle/>
          <a:p>
            <a:pPr algn="l" indent="0" marL="0">
              <a:buNone/>
            </a:pPr>
            <a:r>
              <a:rPr lang="en-US" sz="975" spc="12" kern="0" dirty="0">
                <a:solidFill>
                  <a:srgbClr val="6F6F6F"/>
                </a:solidFill>
                <a:latin typeface="Arial" pitchFamily="34" charset="0"/>
                <a:ea typeface="Arial" pitchFamily="34" charset="-122"/>
                <a:cs typeface="Arial" pitchFamily="34" charset="-120"/>
              </a:rPr>
              <a:t>13 / 13</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2026-04-24T21:14:46Z</dcterms:created>
  <dcterms:modified xsi:type="dcterms:W3CDTF">2026-04-24T21:14:46Z</dcterms:modified>
</cp:coreProperties>
</file>